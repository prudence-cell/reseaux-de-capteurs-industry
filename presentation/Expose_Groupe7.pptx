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Nous sommes le Groupe 7 et nous présentons notre projet de réseau de capteurs : la surveillance d'une ligne de production industrielle. Le système surveille la température des trois machines, compte les pièces à la sortie de chaque poste, détecte les intrusions hors des heures de travail et centralise les alertes. Il repose sur neuf nœuds capteurs, trois de chaque famille, et une passerelle. L'exposé a deux parties : d'abord la solution qu'il faudrait installer dans une vraie usine, puis ce que nous avons réellement réalisé, en simulation et sur un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usine fait 50 mètres sur 30 et compte huit zones. La ligne de production enchaîne trois machines : la découpe M1, la presse M2 et le four M3. Trois risques justifient une surveillance continue. D'abord la surchauffe : une machine qui chauffe trop s'abîme, il faut prévenir avant la casse. Ensuite les pièces perdues : en comptant les pièces à la sortie de chaque poste, on voit tout de suite si des pièces disparaissent entre deux machines. Enfin l'intrusion : la nuit, une présence près des portes doit déclencher une alerte et un buzzer.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cahier des charges exprime quatre besoins. B1 : suivre la température de chaque machine avec son propre seuil ; les exigences EF1 et EF2 demandent une mesure toutes les 30 secondes et une alerte dès le dépassement. B2 : compter les pièces de chaque poste ; EF5 demande que 100 pièces donnent un compteur de 100, même après un redémarrage. B3 : centraliser les données. B4 : détecter les intrusions la nuit ; EF6 demande une alerte en moins de 5 secondes. Parmi les exigences non fonctionnelles, nous en avons retenu trois, que l'on peut vérifier par un test : ENF1, la latence de moins de 10 secondes ; ENF6, l'authentification des messages ; ENF8, la tolérance à la panne d'un nœud.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solution que nous proposons pour une vraie usine. Le capteur est lu par un nœud ESP32, qui envoie toutes les 30 secondes un message JSON par Wi-Fi au point d'accès placé au plafond du hall. Le point d'accès est câblé en Ethernet au Raspberry Pi 4 du local technique. Il héberge Mosquitto, le broker MQTT, Node-RED, qui décide des alertes, InfluxDB pour l'historique et Grafana pour le tableau de bord. Les alertes partent par e-mail et par SMS et s'affichent sur les écrans E1 et E2. La barre du bas répartit les 10 secondes d'ENF1 : 1 seconde jusqu'au broker, 1 jusqu'à la passerelle, 3, 3 et 2 pour la suite. Comme passerelle et serveur sont la même machine, il reste une bonne marge sous la cible de 5 secondes.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plan d'implantation place chaque équipement avec ses coordonnées en mètres. Les trois sondes de température sont sur les machines, et les trois barrières de comptage sont à leur sortie, sur le convoyeur. Les trois détecteurs de présence font face aux trois ouvertures : l'entrée du personnel et les deux quais. Leur buzzer est commandé par le nœud lui-même, il sonne même si le réseau est coupé. Le point d'accès est au centre du plafond : le nœud le plus éloigné, P3, est à 22,7 mètres, sous la portée Wi-Fi de 30 mètres que nous avons retenue. La passerelle est dans le local technique Z3, accessible seulement depuis la salle de contrôle. Ces mêmes positions ont été reprises telles quelles dans la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besoin B1 impose un seuil par machine : 85 degrés pour la découpe, 90 pour la presse et 220 pour le four. Pour M1 et M2, une sonde numérique DS18B20 suffit. Le four dépasse sa limite de 125 degrés : il prend donc un thermocouple de type K, lu par un convertisseur MAX6675. Pour le comptage, une barrière infrarouge FC-51 est placée à la sortie de chaque machine : chaque pièce qui coupe le faisceau est comptée. Pour l'intrusion, un détecteur PIR HC-SR501, qui voit à 7 mètres sur 120 degrés, avec un buzzer. Il n'est armé qu'en dehors des heures de travail, de 18 heures à 8 heures.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nœud publie sur son propre topic MQTT, rangé par famille : machines, production et sécurité. Le message suit le format JSON du cahier des charges ; l'exemple affiché est une vraie ligne produite par notre passerelle simulée. Dans l'usine, le Wi-Fi est pratique : le point d'accès existe et le débit est élevé. Mais la radio Wi-Fi consomme beaucoup, ce qui pose problème pour les sondes alimentées par batterie. Un réseau IEEE 802.15.4 est conçu pour la basse consommation. Son débit de 250 kilobits par seconde suffit largement pour nos messages, mais sa portée d'environ 20 mètres oblige les nœuds à relayer les messages de leurs voisins : c'est le multi-saut. C'est ce réseau multi-saut que nous avons étudié en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 la supervision tient sur un Raspberry Pi 4 placé dans le local technique. Mosquitto reçoit tous les messages des topics factory. Node-RED applique les règles, par exemple « la température dépasse le seuil de la machine », et déclenche l'alerte. InfluxDB garde l'historique pendant 30 jours, et Grafana l'affiche. Les alertes partent par e-mail et par SMS grâce au routeur 4G ou fibre, et le tableau de bord s'affiche dans un simple navigateur sur l'écran du hall et sur le poste de la salle de contrôle. Un onduleur d'au moins 30 minutes d'autonomie garde la passerelle, le switch, le routeur et le point d'accès en marche pendant une coupure de courant.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production, la sécurité et la fiabilité ne sont pas optionnelles. D'abord chiffrer : MQTT doit passer en TLS sur le port 8883, avec un certificat par ESP32, sinon les mots de passe circulent en clair. Ensuite cloisonner : chaque nœud a son propre compte et une liste de droits, l'ACL, qui ne l'autorise à publier que sur ses topics. C'est notre réponse à ENF6. Pour ENF8, le testament MQTT permet au broker d'annoncer lui-même qu'un nœud a disparu. Enfin, rien ne doit se perdre : chaque nœud garde ses messages dans un tampon si le broker est injoignable, et le compteur de pièces est sauvegardé en mémoire flash.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ce que nous avons réalisé. Nous avons avancé en quatre étapes. Le plan d'implantation fixe les positions en mètres, qui sont réutilisées dans tous les fichiers. Ensuite, une simulation complète sous TinyOS dans le simulateur Cooja : dix nœuds et huit scénarios de test automatiques. Puis nous avons traduit la simulation sous Contiki-NG pour comparer deux systèmes d'exploitation. Enfin, le prototype matériel avec trois ESP32 : le code est écrit et compile, le montage est en cours. Nous avons commencé par la simulation parce que Cooja émule les cartes au niveau des instructions : on peut rejouer chaque test à l'identique, sans matériel.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Cooja, nous avons placé dix cartes aux coordonnées exactes du plan : la passerelle, numéro 1, trois nœuds thermiques, trois de comptage et trois d'intrusion. Chaque rôle a son propre programme nesC. La radio est en IEEE 802.15.4 avec une portée de 20 mètres. Les trois détecteurs de présence sont trop loin de la passerelle : leurs messages passent par un voisin. Le protocole CTP de TinyOS construit seul cet arbre : chaque nœud choisit le voisin qui minimise le coût jusqu'à la racine. À droite, après le retrait du nœud T1 qui servait de relais, P1 trouve un autre chemin en passant par P2.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exigence a son test automatique : un script, exécuté par Cooja, injecte l'événement, mesure le délai avec l'horloge de la simulation et écrit un verdict. La période est exactement de 30 secondes. La surchauffe de la presse à 95 degrés déclenche l'alerte en 0,87 seconde, et le four reste à 185 degrés sans fausse alerte. Les 100 pièces donnent un compteur de 100, et le compteur survit à un redémarrage. L'intrusion de nuit est signalée en 0,05 seconde au pire. La latence moyenne est de 30 millisecondes, aucun message n'est perdu, même avec des liens dégradés. Quand on retire le relais T1, les huit autres capteurs continuent, et l'intrus est entièrement rejeté. Les quinze vérifications sont conformes.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chiffres résument la simulation. L'alerte de surchauffe arrive 0,87 seconde après la mise à 95 degrés ; seulement 39 millisecondes séparent la détection sur le nœud de l'alerte, le reste est l'attente de la lecture suivante, faite toutes les 2 secondes. La latence moyenne entre capteur et passerelle est de 30 millisecondes, très loin du budget d'une seconde. Après la panne du relais T1, P1 change de parent en 15 secondes et ses rapports reviennent au bout de 44 secondes, sans en perdre aucun. Le graphique montre la presse qui passe à 95 degrés, le triangle marque l'alerte ; à droite, le four tourne à 185 degrés sans alerte, puis alerte à 225.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avons traduit la simulation sous Contiki-NG : même usine, mêmes nœuds, mêmes tests. Seul le système d'exploitation change, avec du C classique au lieu de nesC, et le routage RPL sur IPv6 au lieu de CTP. Tous les tests passent. La différence la plus nette est la panne : avec RPL, les rapports de P1 reviennent en 15 secondes au lieu de 44, grâce à l'acquittement de bout en bout renvoyé au bout de 3 secondes. En revanche, RPL est plus lent au démarrage : un nœud n'est joignable qu'après un échange avec la racine, ce qui explique le maximum de 4,9 secondes sur le tout premier rapport. La latence moyenne est de 50 millisecondes au lieu de 30. Attention : sous Contiki, nous avons utilisé des Cooja motes, qui n'émulent pas la carte, donc la comparaison n'est pas parfaitement stricte.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prototype matériel reprend un capteur de chaque type : un ESP32 avec un DHT11 pour la température, un avec un capteur infrarouge pour le comptage, et un avec un détecteur PIR et un buzzer pour l'intrusion. Les trois cartes se connectent en Wi-Fi 2,4 GHz et publient, via Internet, sur un broker Mosquitto installé sur un VPS. Le VPS joue le rôle de la passerelle. Il peut aussi renvoyer des commandes aux nœuds, par exemple armer le détecteur ou remettre le compteur à zéro. Le tableau donne le câblage : attention, le capteur infrarouge est alimenté en 3,3 volts, et le PIR en 5 volts. Les trois programmes compilent ; le montage est en cours, et nous ajouterons les photos après les essais.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Avec MQTT, chaque exigence trouve un mécanisme simple. Pour ENF1, les alertes sont publiées dès la détection, sans attendre le rapport périodique. Pour ENF6, chaque nœud a son compte et ses droits sur le broker : avec un mauvais mot de passe, la connexion est refusée et rien n'est publié. Pour ENF8, le testament MQTT : si on débranche une carte, le broker publie lui-même qu'elle est hors ligne, après environ 15 secondes. Le compteur de pièces est sauvegardé en flash, comme en simulation. La colonne de droite décrit les tests que nous allons faire ; nous n'avons pas encore de résultats mesurés sur le matériel.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assumons plusieurs écarts. Le DHT11 du prototype ne mesure que jusqu'à 50 degrés : le seuil de 85 degrés est inatteignable, donc la démonstration utilise un seuil de 30 degrés, qu'on atteint en pinçant le capteur. Le prototype est une étoile Wi-Fi, sans multi-saut. La démo tourne sans TLS, et l'authentification de la simulation est un code de 16 bits pédagogique, sans protection contre le rejeu. Le modèle radio de Cooja est un disque parfait, sans murs ; le test T6b dégrade volontairement les liens pour s'en approcher. Enfin, nos latences ne mesurent que le réseau de capteurs : le trajet de la passerelle jusqu'à la notification n'est pas simulé.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projet nous a appris surtout à vérifier par la mesure. Premier piège : sous TinyOS, la minuterie dite « milliseconde » compte en réalité en 1/1024 de seconde ; nos rapports partaient toutes les 29,3 secondes au lieu de 30. Deuxième piège : écrire en mémoire flash bloque le processeur, et une interruption à ce moment fait planter la carte ; il a fallu masquer les interruptions. Troisième : un protocole de routage ne découvre une panne qu'en essayant d'envoyer, d'où le tampon et le réessai. Enfin, comparer TinyOS et Contiki-NG n'a de sens qu'avec exactement les mêmes tests, c'est pourquoi nous les avons réutilisés tels quels.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 en simulation, le système satisfait les quinze vérifications du cahier des charges, et la traduction sous Contiki-NG passe les mêmes tests. Le prototype est prêt côté logiciel : les trois programmes compilent et le broker est configuré avec un compte et une ACL par nœud. La prochaine étape est de tester le matériel et de mesurer les résultats réels. Ensuite, il faudrait activer TLS, ajouter la chaîne Node-RED, InfluxDB et Grafana, utiliser un modèle radio plus réaliste avec les murs de l'usine, et synchroniser l'heure par NTP avec une protection contre le rejeu.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de votre attention. Nous sommes prêts à répondre à vos questions. Chiffres utiles à garder en tête : 0,87 seconde pour l'alerte de surchauffe, 30 millisecondes de latence moyenne, 100 % de livraison, 44 secondes de rétablissement sous TinyOS et 15 sous Contiki-NG, 10 rapports de l'intrus rejetés. Si l'on nous interroge sur le prototype : le code est prêt et compile, les essais physiques sont en 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XT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1188720" cy="292608"/>
          </a:xfrm>
          <a:prstGeom prst="rect">
            <a:avLst/>
          </a:prstGeom>
          <a:solidFill>
            <a:srgbClr val="DCEEEC"/>
          </a:solidFill>
          <a:ln/>
        </p:spPr>
      </p:sp>
      <p:sp>
        <p:nvSpPr>
          <p:cNvPr id="3" name="Text 1"/>
          <p:cNvSpPr/>
          <p:nvPr/>
        </p:nvSpPr>
        <p:spPr>
          <a:xfrm>
            <a:off x="548640" y="292608"/>
            <a:ext cx="1188720" cy="292608"/>
          </a:xfrm>
          <a:prstGeom prst="rect">
            <a:avLst/>
          </a:prstGeom>
          <a:noFill/>
          <a:ln/>
        </p:spPr>
        <p:txBody>
          <a:bodyPr wrap="square" lIns="0" tIns="0" rIns="0" bIns="0" rtlCol="0" anchor="ctr"/>
          <a:lstStyle/>
          <a:p>
            <a:pPr algn="ctr" indent="0" marL="0">
              <a:buNone/>
            </a:pPr>
            <a:r>
              <a:rPr lang="en-US" sz="1200" b="1" dirty="0">
                <a:solidFill>
                  <a:srgbClr val="0E746D"/>
                </a:solidFill>
              </a:rPr>
              <a:t>Contexte</a:t>
            </a:r>
            <a:endParaRPr lang="en-US" sz="12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indent="0" marL="0">
              <a:buNone/>
            </a:pPr>
            <a:r>
              <a:rPr lang="en-US" sz="1200" dirty="0">
                <a:solidFill>
                  <a:srgbClr val="5B6B7B"/>
                </a:solidFill>
              </a:rPr>
              <a:t>Groupe 7 · Surveillance d'une ligne de production</a:t>
            </a:r>
            <a:endParaRPr lang="en-US" sz="1200" dirty="0"/>
          </a:p>
        </p:txBody>
      </p:sp>
      <p:sp>
        <p:nvSpPr>
          <p:cNvPr id="5" name="Text 3"/>
          <p:cNvSpPr/>
          <p:nvPr>
            <p:ph idx="103" type="title" hasCustomPrompt="1"/>
          </p:nvPr>
        </p:nvSpPr>
        <p:spPr>
          <a:xfrm>
            <a:off x="548640" y="713232"/>
            <a:ext cx="11094415" cy="868680"/>
          </a:xfrm>
          <a:prstGeom prst="rect">
            <a:avLst/>
          </a:prstGeom>
          <a:noFill/>
          <a:ln/>
        </p:spPr>
        <p:txBody>
          <a:bodyPr wrap="square" rtlCol="0"/>
          <a:lstStyle>
            <a:lvl1pPr algn="l" indent="0" marL="0">
              <a:buNone/>
              <a:defRPr lang="en-US" sz="3000" b="1" dirty="0">
                <a:solidFill>
                  <a:srgbClr val="17293B"/>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B6B7B"/>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ARTIE_A">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2331720" cy="292608"/>
          </a:xfrm>
          <a:prstGeom prst="rect">
            <a:avLst/>
          </a:prstGeom>
          <a:solidFill>
            <a:srgbClr val="DCEEEC"/>
          </a:solidFill>
          <a:ln/>
        </p:spPr>
      </p:sp>
      <p:sp>
        <p:nvSpPr>
          <p:cNvPr id="3" name="Text 1"/>
          <p:cNvSpPr/>
          <p:nvPr/>
        </p:nvSpPr>
        <p:spPr>
          <a:xfrm>
            <a:off x="548640" y="292608"/>
            <a:ext cx="2331720" cy="292608"/>
          </a:xfrm>
          <a:prstGeom prst="rect">
            <a:avLst/>
          </a:prstGeom>
          <a:noFill/>
          <a:ln/>
        </p:spPr>
        <p:txBody>
          <a:bodyPr wrap="square" lIns="0" tIns="0" rIns="0" bIns="0" rtlCol="0" anchor="ctr"/>
          <a:lstStyle/>
          <a:p>
            <a:pPr algn="ctr" indent="0" marL="0">
              <a:buNone/>
            </a:pPr>
            <a:r>
              <a:rPr lang="en-US" sz="1200" b="1" dirty="0">
                <a:solidFill>
                  <a:srgbClr val="0E746D"/>
                </a:solidFill>
              </a:rPr>
              <a:t>A · Solution industrielle</a:t>
            </a:r>
            <a:endParaRPr lang="en-US" sz="12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indent="0" marL="0">
              <a:buNone/>
            </a:pPr>
            <a:r>
              <a:rPr lang="en-US" sz="1200" dirty="0">
                <a:solidFill>
                  <a:srgbClr val="5B6B7B"/>
                </a:solidFill>
              </a:rPr>
              <a:t>Groupe 7 · Surveillance d'une ligne de production</a:t>
            </a:r>
            <a:endParaRPr lang="en-US" sz="1200" dirty="0"/>
          </a:p>
        </p:txBody>
      </p:sp>
      <p:sp>
        <p:nvSpPr>
          <p:cNvPr id="5" name="Text 3"/>
          <p:cNvSpPr/>
          <p:nvPr>
            <p:ph idx="103" type="title" hasCustomPrompt="1"/>
          </p:nvPr>
        </p:nvSpPr>
        <p:spPr>
          <a:xfrm>
            <a:off x="548640" y="713232"/>
            <a:ext cx="11094415" cy="868680"/>
          </a:xfrm>
          <a:prstGeom prst="rect">
            <a:avLst/>
          </a:prstGeom>
          <a:noFill/>
          <a:ln/>
        </p:spPr>
        <p:txBody>
          <a:bodyPr wrap="square" rtlCol="0"/>
          <a:lstStyle>
            <a:lvl1pPr algn="l" indent="0" marL="0">
              <a:buNone/>
              <a:defRPr lang="en-US" sz="3000" b="1" dirty="0">
                <a:solidFill>
                  <a:srgbClr val="17293B"/>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B6B7B"/>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ARTIE_B">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1600200" cy="292608"/>
          </a:xfrm>
          <a:prstGeom prst="rect">
            <a:avLst/>
          </a:prstGeom>
          <a:solidFill>
            <a:srgbClr val="DCEEEC"/>
          </a:solidFill>
          <a:ln/>
        </p:spPr>
      </p:sp>
      <p:sp>
        <p:nvSpPr>
          <p:cNvPr id="3" name="Text 1"/>
          <p:cNvSpPr/>
          <p:nvPr/>
        </p:nvSpPr>
        <p:spPr>
          <a:xfrm>
            <a:off x="548640" y="292608"/>
            <a:ext cx="1600200" cy="292608"/>
          </a:xfrm>
          <a:prstGeom prst="rect">
            <a:avLst/>
          </a:prstGeom>
          <a:noFill/>
          <a:ln/>
        </p:spPr>
        <p:txBody>
          <a:bodyPr wrap="square" lIns="0" tIns="0" rIns="0" bIns="0" rtlCol="0" anchor="ctr"/>
          <a:lstStyle/>
          <a:p>
            <a:pPr algn="ctr" indent="0" marL="0">
              <a:buNone/>
            </a:pPr>
            <a:r>
              <a:rPr lang="en-US" sz="1200" b="1" dirty="0">
                <a:solidFill>
                  <a:srgbClr val="0E746D"/>
                </a:solidFill>
              </a:rPr>
              <a:t>B · Réalisation</a:t>
            </a:r>
            <a:endParaRPr lang="en-US" sz="12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indent="0" marL="0">
              <a:buNone/>
            </a:pPr>
            <a:r>
              <a:rPr lang="en-US" sz="1200" dirty="0">
                <a:solidFill>
                  <a:srgbClr val="5B6B7B"/>
                </a:solidFill>
              </a:rPr>
              <a:t>Groupe 7 · Surveillance d'une ligne de production</a:t>
            </a:r>
            <a:endParaRPr lang="en-US" sz="1200" dirty="0"/>
          </a:p>
        </p:txBody>
      </p:sp>
      <p:sp>
        <p:nvSpPr>
          <p:cNvPr id="5" name="Text 3"/>
          <p:cNvSpPr/>
          <p:nvPr>
            <p:ph idx="103" type="title" hasCustomPrompt="1"/>
          </p:nvPr>
        </p:nvSpPr>
        <p:spPr>
          <a:xfrm>
            <a:off x="548640" y="713232"/>
            <a:ext cx="11094415" cy="868680"/>
          </a:xfrm>
          <a:prstGeom prst="rect">
            <a:avLst/>
          </a:prstGeom>
          <a:noFill/>
          <a:ln/>
        </p:spPr>
        <p:txBody>
          <a:bodyPr wrap="square" rtlCol="0"/>
          <a:lstStyle>
            <a:lvl1pPr algn="l" indent="0" marL="0">
              <a:buNone/>
              <a:defRPr lang="en-US" sz="3000" b="1" dirty="0">
                <a:solidFill>
                  <a:srgbClr val="17293B"/>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B6B7B"/>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ILA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914400" cy="292608"/>
          </a:xfrm>
          <a:prstGeom prst="rect">
            <a:avLst/>
          </a:prstGeom>
          <a:solidFill>
            <a:srgbClr val="DCEEEC"/>
          </a:solidFill>
          <a:ln/>
        </p:spPr>
      </p:sp>
      <p:sp>
        <p:nvSpPr>
          <p:cNvPr id="3" name="Text 1"/>
          <p:cNvSpPr/>
          <p:nvPr/>
        </p:nvSpPr>
        <p:spPr>
          <a:xfrm>
            <a:off x="548640" y="292608"/>
            <a:ext cx="914400" cy="292608"/>
          </a:xfrm>
          <a:prstGeom prst="rect">
            <a:avLst/>
          </a:prstGeom>
          <a:noFill/>
          <a:ln/>
        </p:spPr>
        <p:txBody>
          <a:bodyPr wrap="square" lIns="0" tIns="0" rIns="0" bIns="0" rtlCol="0" anchor="ctr"/>
          <a:lstStyle/>
          <a:p>
            <a:pPr algn="ctr" indent="0" marL="0">
              <a:buNone/>
            </a:pPr>
            <a:r>
              <a:rPr lang="en-US" sz="1200" b="1" dirty="0">
                <a:solidFill>
                  <a:srgbClr val="0E746D"/>
                </a:solidFill>
              </a:rPr>
              <a:t>Bilan</a:t>
            </a:r>
            <a:endParaRPr lang="en-US" sz="1200" dirty="0"/>
          </a:p>
        </p:txBody>
      </p:sp>
      <p:sp>
        <p:nvSpPr>
          <p:cNvPr id="4" name="Text 2"/>
          <p:cNvSpPr/>
          <p:nvPr/>
        </p:nvSpPr>
        <p:spPr>
          <a:xfrm>
            <a:off x="548640" y="6382512"/>
            <a:ext cx="7315200" cy="274320"/>
          </a:xfrm>
          <a:prstGeom prst="rect">
            <a:avLst/>
          </a:prstGeom>
          <a:noFill/>
          <a:ln/>
        </p:spPr>
        <p:txBody>
          <a:bodyPr wrap="square" lIns="0" tIns="0" rIns="0" bIns="0" rtlCol="0" anchor="ctr"/>
          <a:lstStyle/>
          <a:p>
            <a:pPr indent="0" marL="0">
              <a:buNone/>
            </a:pPr>
            <a:r>
              <a:rPr lang="en-US" sz="1200" dirty="0">
                <a:solidFill>
                  <a:srgbClr val="5B6B7B"/>
                </a:solidFill>
              </a:rPr>
              <a:t>Groupe 7 · Surveillance d'une ligne de production</a:t>
            </a:r>
            <a:endParaRPr lang="en-US" sz="1200" dirty="0"/>
          </a:p>
        </p:txBody>
      </p:sp>
      <p:sp>
        <p:nvSpPr>
          <p:cNvPr id="5" name="Text 3"/>
          <p:cNvSpPr/>
          <p:nvPr>
            <p:ph idx="103" type="title" hasCustomPrompt="1"/>
          </p:nvPr>
        </p:nvSpPr>
        <p:spPr>
          <a:xfrm>
            <a:off x="548640" y="713232"/>
            <a:ext cx="11094415" cy="868680"/>
          </a:xfrm>
          <a:prstGeom prst="rect">
            <a:avLst/>
          </a:prstGeom>
          <a:noFill/>
          <a:ln/>
        </p:spPr>
        <p:txBody>
          <a:bodyPr wrap="square" rtlCol="0"/>
          <a:lstStyle>
            <a:lvl1pPr algn="l" indent="0" marL="0">
              <a:buNone/>
              <a:defRPr lang="en-US" sz="3000" b="1" dirty="0">
                <a:solidFill>
                  <a:srgbClr val="17293B"/>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B6B7B"/>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R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B6B7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6.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1.jpg"/><Relationship Id="rId3" Type="http://schemas.openxmlformats.org/officeDocument/2006/relationships/image" Target="../media/image-6-3.jp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6.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Ligne de production équipée de boîtiers capteurs sans fil">    </p:cNvPr>
          <p:cNvPicPr>
            <a:picLocks noChangeAspect="1"/>
          </p:cNvPicPr>
          <p:nvPr/>
        </p:nvPicPr>
        <p:blipFill>
          <a:blip r:embed="rId1"/>
          <a:stretch>
            <a:fillRect/>
          </a:stretch>
        </p:blipFill>
        <p:spPr>
          <a:xfrm>
            <a:off x="7070845" y="0"/>
            <a:ext cx="5120850" cy="6858000"/>
          </a:xfrm>
          <a:prstGeom prst="rect">
            <a:avLst/>
          </a:prstGeom>
        </p:spPr>
      </p:pic>
      <p:sp>
        <p:nvSpPr>
          <p:cNvPr id="3" name="Text 0"/>
          <p:cNvSpPr txBox="1"/>
          <p:nvPr/>
        </p:nvSpPr>
        <p:spPr>
          <a:xfrm>
            <a:off x="548640" y="822960"/>
            <a:ext cx="6065005" cy="365760"/>
          </a:xfrm>
          <a:prstGeom prst="rect">
            <a:avLst/>
          </a:prstGeom>
          <a:noFill/>
          <a:ln/>
        </p:spPr>
        <p:txBody>
          <a:bodyPr wrap="square" lIns="0" tIns="0" rIns="0" bIns="0" rtlCol="0" anchor="t"/>
          <a:lstStyle/>
          <a:p>
            <a:pPr indent="0" marL="0">
              <a:buNone/>
            </a:pPr>
            <a:r>
              <a:rPr lang="en-US" sz="1800" b="1" dirty="0">
                <a:solidFill>
                  <a:schemeClr val="accent1"/>
                </a:solidFill>
              </a:rPr>
              <a:t>IFRI · Réseaux de capteurs sans fil &amp; IoT</a:t>
            </a:r>
            <a:endParaRPr lang="en-US" sz="1800" dirty="0"/>
          </a:p>
        </p:txBody>
      </p:sp>
      <p:sp>
        <p:nvSpPr>
          <p:cNvPr id="4" name="Text 1"/>
          <p:cNvSpPr txBox="1"/>
          <p:nvPr/>
        </p:nvSpPr>
        <p:spPr>
          <a:xfrm>
            <a:off x="548640" y="1280160"/>
            <a:ext cx="6065005" cy="1554480"/>
          </a:xfrm>
          <a:prstGeom prst="rect">
            <a:avLst/>
          </a:prstGeom>
          <a:noFill/>
          <a:ln/>
        </p:spPr>
        <p:txBody>
          <a:bodyPr wrap="square" lIns="0" tIns="0" rIns="0" bIns="0" rtlCol="0" anchor="t"/>
          <a:lstStyle/>
          <a:p>
            <a:pPr indent="0" marL="0">
              <a:buNone/>
            </a:pPr>
            <a:r>
              <a:rPr lang="en-US" sz="4000" b="1" dirty="0">
                <a:solidFill>
                  <a:schemeClr val="tx1"/>
                </a:solidFill>
              </a:rPr>
              <a:t>Surveillance d'une ligne de production industrielle</a:t>
            </a:r>
            <a:endParaRPr lang="en-US" sz="4000" dirty="0"/>
          </a:p>
        </p:txBody>
      </p:sp>
      <p:sp>
        <p:nvSpPr>
          <p:cNvPr id="5" name="Text 2"/>
          <p:cNvSpPr txBox="1"/>
          <p:nvPr/>
        </p:nvSpPr>
        <p:spPr>
          <a:xfrm>
            <a:off x="548640" y="2880360"/>
            <a:ext cx="6065005" cy="822960"/>
          </a:xfrm>
          <a:prstGeom prst="rect">
            <a:avLst/>
          </a:prstGeom>
          <a:noFill/>
          <a:ln/>
        </p:spPr>
        <p:txBody>
          <a:bodyPr wrap="square" lIns="0" tIns="0" rIns="0" bIns="0" rtlCol="0" anchor="t"/>
          <a:lstStyle/>
          <a:p>
            <a:pPr indent="0" marL="0">
              <a:buNone/>
            </a:pPr>
            <a:r>
              <a:rPr lang="en-US" sz="2000" dirty="0">
                <a:solidFill>
                  <a:schemeClr val="accent6"/>
                </a:solidFill>
              </a:rPr>
              <a:t>Température des machines, comptage des pièces, détection d'intrusion et alertes centralisées</a:t>
            </a:r>
            <a:endParaRPr lang="en-US" sz="2000" dirty="0"/>
          </a:p>
        </p:txBody>
      </p:sp>
      <p:sp>
        <p:nvSpPr>
          <p:cNvPr id="6" name="Text 3"/>
          <p:cNvSpPr txBox="1"/>
          <p:nvPr/>
        </p:nvSpPr>
        <p:spPr>
          <a:xfrm>
            <a:off x="548640" y="3977640"/>
            <a:ext cx="6065005" cy="365760"/>
          </a:xfrm>
          <a:prstGeom prst="rect">
            <a:avLst/>
          </a:prstGeom>
          <a:noFill/>
          <a:ln/>
        </p:spPr>
        <p:txBody>
          <a:bodyPr wrap="square" lIns="0" tIns="0" rIns="0" bIns="0" rtlCol="0" anchor="t"/>
          <a:lstStyle/>
          <a:p>
            <a:pPr indent="0" marL="0">
              <a:buNone/>
            </a:pPr>
            <a:r>
              <a:rPr lang="en-US" sz="1800" b="1" dirty="0">
                <a:solidFill>
                  <a:schemeClr val="accent1"/>
                </a:solidFill>
              </a:rPr>
              <a:t>Groupe 7</a:t>
            </a:r>
            <a:endParaRPr lang="en-US" sz="1800" dirty="0"/>
          </a:p>
        </p:txBody>
      </p:sp>
      <p:sp>
        <p:nvSpPr>
          <p:cNvPr id="7" name="Text 4"/>
          <p:cNvSpPr txBox="1"/>
          <p:nvPr/>
        </p:nvSpPr>
        <p:spPr>
          <a:xfrm>
            <a:off x="548640" y="4389120"/>
            <a:ext cx="2926080" cy="365760"/>
          </a:xfrm>
          <a:prstGeom prst="rect">
            <a:avLst/>
          </a:prstGeom>
          <a:noFill/>
          <a:ln/>
        </p:spPr>
        <p:txBody>
          <a:bodyPr wrap="square" lIns="0" tIns="0" rIns="0" bIns="0" rtlCol="0" anchor="t"/>
          <a:lstStyle/>
          <a:p>
            <a:pPr indent="0" marL="0">
              <a:buNone/>
            </a:pPr>
            <a:r>
              <a:rPr lang="en-US" sz="1800" dirty="0">
                <a:solidFill>
                  <a:schemeClr val="tx1"/>
                </a:solidFill>
              </a:rPr>
              <a:t>KIDJE Fortunatus</a:t>
            </a:r>
            <a:endParaRPr lang="en-US" sz="1800" dirty="0"/>
          </a:p>
        </p:txBody>
      </p:sp>
      <p:sp>
        <p:nvSpPr>
          <p:cNvPr id="8" name="Text 5"/>
          <p:cNvSpPr txBox="1"/>
          <p:nvPr/>
        </p:nvSpPr>
        <p:spPr>
          <a:xfrm>
            <a:off x="3566160" y="4389120"/>
            <a:ext cx="2926080" cy="365760"/>
          </a:xfrm>
          <a:prstGeom prst="rect">
            <a:avLst/>
          </a:prstGeom>
          <a:noFill/>
          <a:ln/>
        </p:spPr>
        <p:txBody>
          <a:bodyPr wrap="square" lIns="0" tIns="0" rIns="0" bIns="0" rtlCol="0" anchor="t"/>
          <a:lstStyle/>
          <a:p>
            <a:pPr indent="0" marL="0">
              <a:buNone/>
            </a:pPr>
            <a:r>
              <a:rPr lang="en-US" sz="1800" dirty="0">
                <a:solidFill>
                  <a:schemeClr val="tx1"/>
                </a:solidFill>
              </a:rPr>
              <a:t>MOUZOUN Prudence</a:t>
            </a:r>
            <a:endParaRPr lang="en-US" sz="1800" dirty="0"/>
          </a:p>
        </p:txBody>
      </p:sp>
      <p:sp>
        <p:nvSpPr>
          <p:cNvPr id="9" name="Text 6"/>
          <p:cNvSpPr txBox="1"/>
          <p:nvPr/>
        </p:nvSpPr>
        <p:spPr>
          <a:xfrm>
            <a:off x="548640" y="4773168"/>
            <a:ext cx="2926080" cy="365760"/>
          </a:xfrm>
          <a:prstGeom prst="rect">
            <a:avLst/>
          </a:prstGeom>
          <a:noFill/>
          <a:ln/>
        </p:spPr>
        <p:txBody>
          <a:bodyPr wrap="square" lIns="0" tIns="0" rIns="0" bIns="0" rtlCol="0" anchor="t"/>
          <a:lstStyle/>
          <a:p>
            <a:pPr indent="0" marL="0">
              <a:buNone/>
            </a:pPr>
            <a:r>
              <a:rPr lang="en-US" sz="1800" dirty="0">
                <a:solidFill>
                  <a:schemeClr val="tx1"/>
                </a:solidFill>
              </a:rPr>
              <a:t>VOGNITO Laurent</a:t>
            </a:r>
            <a:endParaRPr lang="en-US" sz="1800" dirty="0"/>
          </a:p>
        </p:txBody>
      </p:sp>
      <p:sp>
        <p:nvSpPr>
          <p:cNvPr id="10" name="Text 7"/>
          <p:cNvSpPr txBox="1"/>
          <p:nvPr/>
        </p:nvSpPr>
        <p:spPr>
          <a:xfrm>
            <a:off x="3566160" y="4773168"/>
            <a:ext cx="2926080" cy="365760"/>
          </a:xfrm>
          <a:prstGeom prst="rect">
            <a:avLst/>
          </a:prstGeom>
          <a:noFill/>
          <a:ln/>
        </p:spPr>
        <p:txBody>
          <a:bodyPr wrap="square" lIns="0" tIns="0" rIns="0" bIns="0" rtlCol="0" anchor="t"/>
          <a:lstStyle/>
          <a:p>
            <a:pPr indent="0" marL="0">
              <a:buNone/>
            </a:pPr>
            <a:r>
              <a:rPr lang="en-US" sz="1800" dirty="0">
                <a:solidFill>
                  <a:schemeClr val="tx1"/>
                </a:solidFill>
              </a:rPr>
              <a:t>OGOUNCHI Nelson</a:t>
            </a:r>
            <a:endParaRPr lang="en-US" sz="1800" dirty="0"/>
          </a:p>
        </p:txBody>
      </p:sp>
      <p:sp>
        <p:nvSpPr>
          <p:cNvPr id="11" name="Text 8"/>
          <p:cNvSpPr txBox="1"/>
          <p:nvPr/>
        </p:nvSpPr>
        <p:spPr>
          <a:xfrm>
            <a:off x="548640" y="5349240"/>
            <a:ext cx="6065005" cy="777240"/>
          </a:xfrm>
          <a:prstGeom prst="rect">
            <a:avLst/>
          </a:prstGeom>
          <a:noFill/>
          <a:ln/>
        </p:spPr>
        <p:txBody>
          <a:bodyPr wrap="square" lIns="0" tIns="0" rIns="0" bIns="0" rtlCol="0" anchor="t"/>
          <a:lstStyle/>
          <a:p>
            <a:pPr indent="0" marL="0">
              <a:spcAft>
                <a:spcPts val="400"/>
              </a:spcAft>
              <a:buNone/>
            </a:pPr>
            <a:r>
              <a:rPr lang="en-US" sz="1600" dirty="0">
                <a:solidFill>
                  <a:schemeClr val="accent6"/>
                </a:solidFill>
              </a:rPr>
              <a:t>Enseignante : Dr Ida Tognisse</a:t>
            </a:r>
            <a:endParaRPr lang="en-US" sz="1600" dirty="0"/>
          </a:p>
          <a:p>
            <a:pPr indent="0" marL="0">
              <a:spcAft>
                <a:spcPts val="400"/>
              </a:spcAft>
              <a:buNone/>
            </a:pPr>
            <a:r>
              <a:rPr lang="en-US" sz="1600" dirty="0">
                <a:solidFill>
                  <a:schemeClr val="accent6"/>
                </a:solidFill>
              </a:rPr>
              <a:t>[Date de la soutenance à compléter]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548640" y="713232"/>
            <a:ext cx="11094415" cy="868680"/>
          </a:xfrm>
          <a:prstGeom prst="rect">
            <a:avLst/>
          </a:prstGeom>
          <a:noFill/>
          <a:ln/>
        </p:spPr>
        <p:txBody>
          <a:bodyPr wrap="square" lIns="0" tIns="0" rIns="0" bIns="0" rtlCol="0" anchor="t"/>
          <a:lstStyle/>
          <a:p>
            <a:pPr algn="l" indent="0" marL="0">
              <a:buNone/>
            </a:pPr>
            <a:r>
              <a:rPr lang="en-US" sz="3000" b="1" dirty="0">
                <a:solidFill>
                  <a:srgbClr val="17293B"/>
                </a:solidFill>
              </a:rPr>
              <a:t>Trois risques à surveiller en continu sur la ligne de production</a:t>
            </a:r>
            <a:endParaRPr lang="en-US" sz="3000" dirty="0"/>
          </a:p>
        </p:txBody>
      </p:sp>
      <p:sp>
        <p:nvSpPr>
          <p:cNvPr id="3" name="Text 1"/>
          <p:cNvSpPr txBox="1"/>
          <p:nvPr/>
        </p:nvSpPr>
        <p:spPr>
          <a:xfrm>
            <a:off x="548640" y="1645920"/>
            <a:ext cx="11094415" cy="365760"/>
          </a:xfrm>
          <a:prstGeom prst="rect">
            <a:avLst/>
          </a:prstGeom>
          <a:noFill/>
          <a:ln/>
        </p:spPr>
        <p:txBody>
          <a:bodyPr wrap="square" lIns="0" tIns="0" rIns="0" bIns="0" rtlCol="0" anchor="t"/>
          <a:lstStyle/>
          <a:p>
            <a:pPr indent="0" marL="0">
              <a:buNone/>
            </a:pPr>
            <a:r>
              <a:rPr lang="en-US" sz="1800" dirty="0">
                <a:solidFill>
                  <a:schemeClr val="accent6"/>
                </a:solidFill>
              </a:rPr>
              <a:t>Usine de 50 × 30 m · réception → M1 découpe → M2 presse → M3 four → expédition</a:t>
            </a:r>
            <a:endParaRPr lang="en-US" sz="1800" dirty="0"/>
          </a:p>
        </p:txBody>
      </p:sp>
      <p:sp>
        <p:nvSpPr>
          <p:cNvPr id="4" name="Shape 2"/>
          <p:cNvSpPr/>
          <p:nvPr/>
        </p:nvSpPr>
        <p:spPr>
          <a:xfrm>
            <a:off x="548640" y="2194560"/>
            <a:ext cx="3520440" cy="3977640"/>
          </a:xfrm>
          <a:prstGeom prst="rect">
            <a:avLst/>
          </a:prstGeom>
          <a:solidFill>
            <a:schemeClr val="bg2"/>
          </a:solidFill>
          <a:ln w="12700">
            <a:solidFill>
              <a:schemeClr val="bg2"/>
            </a:solidFill>
            <a:prstDash val="solid"/>
          </a:ln>
        </p:spPr>
      </p:sp>
      <p:pic>
        <p:nvPicPr>
          <p:cNvPr id="5" name="Image 0" descr="Surchauffe">    </p:cNvPr>
          <p:cNvPicPr>
            <a:picLocks noChangeAspect="1"/>
          </p:cNvPicPr>
          <p:nvPr/>
        </p:nvPicPr>
        <p:blipFill>
          <a:blip r:embed="rId1"/>
          <a:stretch>
            <a:fillRect/>
          </a:stretch>
        </p:blipFill>
        <p:spPr>
          <a:xfrm>
            <a:off x="548640" y="2194560"/>
            <a:ext cx="3520440" cy="1980248"/>
          </a:xfrm>
          <a:prstGeom prst="rect">
            <a:avLst/>
          </a:prstGeom>
        </p:spPr>
      </p:pic>
      <p:sp>
        <p:nvSpPr>
          <p:cNvPr id="6" name="Shape 3"/>
          <p:cNvSpPr/>
          <p:nvPr/>
        </p:nvSpPr>
        <p:spPr>
          <a:xfrm>
            <a:off x="822960" y="4449128"/>
            <a:ext cx="274320" cy="274320"/>
          </a:xfrm>
          <a:prstGeom prst="ellipse">
            <a:avLst/>
          </a:prstGeom>
          <a:solidFill>
            <a:srgbClr val="C63F29"/>
          </a:solidFill>
          <a:ln w="12700">
            <a:solidFill>
              <a:srgbClr val="C63F29"/>
            </a:solidFill>
            <a:prstDash val="solid"/>
          </a:ln>
        </p:spPr>
      </p:sp>
      <p:sp>
        <p:nvSpPr>
          <p:cNvPr id="7" name="Text 4"/>
          <p:cNvSpPr txBox="1"/>
          <p:nvPr/>
        </p:nvSpPr>
        <p:spPr>
          <a:xfrm>
            <a:off x="822960" y="4449128"/>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 </a:t>
            </a:r>
            <a:endParaRPr lang="en-US" sz="1100" dirty="0"/>
          </a:p>
        </p:txBody>
      </p:sp>
      <p:sp>
        <p:nvSpPr>
          <p:cNvPr id="8" name="Text 5"/>
          <p:cNvSpPr txBox="1"/>
          <p:nvPr/>
        </p:nvSpPr>
        <p:spPr>
          <a:xfrm>
            <a:off x="1234440" y="4375976"/>
            <a:ext cx="2651760" cy="411480"/>
          </a:xfrm>
          <a:prstGeom prst="rect">
            <a:avLst/>
          </a:prstGeom>
          <a:noFill/>
          <a:ln/>
        </p:spPr>
        <p:txBody>
          <a:bodyPr wrap="square" lIns="0" tIns="0" rIns="0" bIns="0" rtlCol="0" anchor="ctr"/>
          <a:lstStyle/>
          <a:p>
            <a:pPr indent="0" marL="0">
              <a:buNone/>
            </a:pPr>
            <a:r>
              <a:rPr lang="en-US" sz="2000" b="1" dirty="0">
                <a:solidFill>
                  <a:schemeClr val="tx1"/>
                </a:solidFill>
              </a:rPr>
              <a:t>Surchauffe</a:t>
            </a:r>
            <a:endParaRPr lang="en-US" sz="2000" dirty="0"/>
          </a:p>
        </p:txBody>
      </p:sp>
      <p:sp>
        <p:nvSpPr>
          <p:cNvPr id="9" name="Text 6"/>
          <p:cNvSpPr txBox="1"/>
          <p:nvPr/>
        </p:nvSpPr>
        <p:spPr>
          <a:xfrm>
            <a:off x="822960" y="4906328"/>
            <a:ext cx="3017520" cy="1188720"/>
          </a:xfrm>
          <a:prstGeom prst="rect">
            <a:avLst/>
          </a:prstGeom>
          <a:noFill/>
          <a:ln/>
        </p:spPr>
        <p:txBody>
          <a:bodyPr wrap="square" lIns="0" tIns="0" rIns="0" bIns="0" rtlCol="0" anchor="t"/>
          <a:lstStyle/>
          <a:p>
            <a:pPr indent="0" marL="0">
              <a:buNone/>
            </a:pPr>
            <a:r>
              <a:rPr lang="en-US" sz="1800" dirty="0">
                <a:solidFill>
                  <a:schemeClr val="tx1"/>
                </a:solidFill>
              </a:rPr>
              <a:t>Une machine qui chauffe trop s'abîme ou s'arrête : il faut alerter avant la panne.</a:t>
            </a:r>
            <a:endParaRPr lang="en-US" sz="1800" dirty="0"/>
          </a:p>
        </p:txBody>
      </p:sp>
      <p:sp>
        <p:nvSpPr>
          <p:cNvPr id="10" name="Shape 7"/>
          <p:cNvSpPr/>
          <p:nvPr/>
        </p:nvSpPr>
        <p:spPr>
          <a:xfrm>
            <a:off x="4335628" y="2194560"/>
            <a:ext cx="3520440" cy="3977640"/>
          </a:xfrm>
          <a:prstGeom prst="rect">
            <a:avLst/>
          </a:prstGeom>
          <a:solidFill>
            <a:schemeClr val="bg2"/>
          </a:solidFill>
          <a:ln w="12700">
            <a:solidFill>
              <a:schemeClr val="bg2"/>
            </a:solidFill>
            <a:prstDash val="solid"/>
          </a:ln>
        </p:spPr>
      </p:sp>
      <p:pic>
        <p:nvPicPr>
          <p:cNvPr id="11" name="Image 1" descr="Pièces perdues">    </p:cNvPr>
          <p:cNvPicPr>
            <a:picLocks noChangeAspect="1"/>
          </p:cNvPicPr>
          <p:nvPr/>
        </p:nvPicPr>
        <p:blipFill>
          <a:blip r:embed="rId2"/>
          <a:stretch>
            <a:fillRect/>
          </a:stretch>
        </p:blipFill>
        <p:spPr>
          <a:xfrm>
            <a:off x="4335628" y="2194560"/>
            <a:ext cx="3520440" cy="1980248"/>
          </a:xfrm>
          <a:prstGeom prst="rect">
            <a:avLst/>
          </a:prstGeom>
        </p:spPr>
      </p:pic>
      <p:sp>
        <p:nvSpPr>
          <p:cNvPr id="12" name="Shape 8"/>
          <p:cNvSpPr/>
          <p:nvPr/>
        </p:nvSpPr>
        <p:spPr>
          <a:xfrm>
            <a:off x="4609948" y="4449128"/>
            <a:ext cx="274320" cy="274320"/>
          </a:xfrm>
          <a:prstGeom prst="rect">
            <a:avLst/>
          </a:prstGeom>
          <a:solidFill>
            <a:srgbClr val="1F66AE"/>
          </a:solidFill>
          <a:ln w="12700">
            <a:solidFill>
              <a:srgbClr val="1F66AE"/>
            </a:solidFill>
            <a:prstDash val="solid"/>
          </a:ln>
        </p:spPr>
      </p:sp>
      <p:sp>
        <p:nvSpPr>
          <p:cNvPr id="13" name="Text 9"/>
          <p:cNvSpPr txBox="1"/>
          <p:nvPr/>
        </p:nvSpPr>
        <p:spPr>
          <a:xfrm>
            <a:off x="4609948" y="4449128"/>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 </a:t>
            </a:r>
            <a:endParaRPr lang="en-US" sz="1100" dirty="0"/>
          </a:p>
        </p:txBody>
      </p:sp>
      <p:sp>
        <p:nvSpPr>
          <p:cNvPr id="14" name="Text 10"/>
          <p:cNvSpPr txBox="1"/>
          <p:nvPr/>
        </p:nvSpPr>
        <p:spPr>
          <a:xfrm>
            <a:off x="5021428" y="4375976"/>
            <a:ext cx="2651760" cy="411480"/>
          </a:xfrm>
          <a:prstGeom prst="rect">
            <a:avLst/>
          </a:prstGeom>
          <a:noFill/>
          <a:ln/>
        </p:spPr>
        <p:txBody>
          <a:bodyPr wrap="square" lIns="0" tIns="0" rIns="0" bIns="0" rtlCol="0" anchor="ctr"/>
          <a:lstStyle/>
          <a:p>
            <a:pPr indent="0" marL="0">
              <a:buNone/>
            </a:pPr>
            <a:r>
              <a:rPr lang="en-US" sz="2000" b="1" dirty="0">
                <a:solidFill>
                  <a:schemeClr val="tx1"/>
                </a:solidFill>
              </a:rPr>
              <a:t>Pièces perdues</a:t>
            </a:r>
            <a:endParaRPr lang="en-US" sz="2000" dirty="0"/>
          </a:p>
        </p:txBody>
      </p:sp>
      <p:sp>
        <p:nvSpPr>
          <p:cNvPr id="15" name="Text 11"/>
          <p:cNvSpPr txBox="1"/>
          <p:nvPr/>
        </p:nvSpPr>
        <p:spPr>
          <a:xfrm>
            <a:off x="4609948" y="4906328"/>
            <a:ext cx="3017520" cy="1188720"/>
          </a:xfrm>
          <a:prstGeom prst="rect">
            <a:avLst/>
          </a:prstGeom>
          <a:noFill/>
          <a:ln/>
        </p:spPr>
        <p:txBody>
          <a:bodyPr wrap="square" lIns="0" tIns="0" rIns="0" bIns="0" rtlCol="0" anchor="t"/>
          <a:lstStyle/>
          <a:p>
            <a:pPr indent="0" marL="0">
              <a:buNone/>
            </a:pPr>
            <a:r>
              <a:rPr lang="en-US" sz="1800" dirty="0">
                <a:solidFill>
                  <a:schemeClr val="tx1"/>
                </a:solidFill>
              </a:rPr>
              <a:t>Si C1 compte plus que C2, des pièces se perdent ou partent au rebut entre M1 et M2.</a:t>
            </a:r>
            <a:endParaRPr lang="en-US" sz="1800" dirty="0"/>
          </a:p>
        </p:txBody>
      </p:sp>
      <p:sp>
        <p:nvSpPr>
          <p:cNvPr id="16" name="Shape 12"/>
          <p:cNvSpPr/>
          <p:nvPr/>
        </p:nvSpPr>
        <p:spPr>
          <a:xfrm>
            <a:off x="8122615" y="2194560"/>
            <a:ext cx="3520440" cy="3977640"/>
          </a:xfrm>
          <a:prstGeom prst="rect">
            <a:avLst/>
          </a:prstGeom>
          <a:solidFill>
            <a:schemeClr val="bg2"/>
          </a:solidFill>
          <a:ln w="12700">
            <a:solidFill>
              <a:schemeClr val="bg2"/>
            </a:solidFill>
            <a:prstDash val="solid"/>
          </a:ln>
        </p:spPr>
      </p:sp>
      <p:pic>
        <p:nvPicPr>
          <p:cNvPr id="17" name="Image 2" descr="Intrusion de nuit">    </p:cNvPr>
          <p:cNvPicPr>
            <a:picLocks noChangeAspect="1"/>
          </p:cNvPicPr>
          <p:nvPr/>
        </p:nvPicPr>
        <p:blipFill>
          <a:blip r:embed="rId3"/>
          <a:stretch>
            <a:fillRect/>
          </a:stretch>
        </p:blipFill>
        <p:spPr>
          <a:xfrm>
            <a:off x="8122615" y="2194560"/>
            <a:ext cx="3520440" cy="1980248"/>
          </a:xfrm>
          <a:prstGeom prst="rect">
            <a:avLst/>
          </a:prstGeom>
        </p:spPr>
      </p:pic>
      <p:sp>
        <p:nvSpPr>
          <p:cNvPr id="18" name="Shape 13"/>
          <p:cNvSpPr/>
          <p:nvPr/>
        </p:nvSpPr>
        <p:spPr>
          <a:xfrm>
            <a:off x="8396935" y="4449128"/>
            <a:ext cx="274320" cy="274320"/>
          </a:xfrm>
          <a:prstGeom prst="diamond">
            <a:avLst/>
          </a:prstGeom>
          <a:solidFill>
            <a:srgbClr val="7B3FAF"/>
          </a:solidFill>
          <a:ln w="12700">
            <a:solidFill>
              <a:srgbClr val="7B3FAF"/>
            </a:solidFill>
            <a:prstDash val="solid"/>
          </a:ln>
        </p:spPr>
      </p:sp>
      <p:sp>
        <p:nvSpPr>
          <p:cNvPr id="19" name="Text 14"/>
          <p:cNvSpPr txBox="1"/>
          <p:nvPr/>
        </p:nvSpPr>
        <p:spPr>
          <a:xfrm>
            <a:off x="8396935" y="4449128"/>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 </a:t>
            </a:r>
            <a:endParaRPr lang="en-US" sz="1100" dirty="0"/>
          </a:p>
        </p:txBody>
      </p:sp>
      <p:sp>
        <p:nvSpPr>
          <p:cNvPr id="20" name="Text 15"/>
          <p:cNvSpPr txBox="1"/>
          <p:nvPr/>
        </p:nvSpPr>
        <p:spPr>
          <a:xfrm>
            <a:off x="8808415" y="4375976"/>
            <a:ext cx="2651760" cy="411480"/>
          </a:xfrm>
          <a:prstGeom prst="rect">
            <a:avLst/>
          </a:prstGeom>
          <a:noFill/>
          <a:ln/>
        </p:spPr>
        <p:txBody>
          <a:bodyPr wrap="square" lIns="0" tIns="0" rIns="0" bIns="0" rtlCol="0" anchor="ctr"/>
          <a:lstStyle/>
          <a:p>
            <a:pPr indent="0" marL="0">
              <a:buNone/>
            </a:pPr>
            <a:r>
              <a:rPr lang="en-US" sz="2000" b="1" dirty="0">
                <a:solidFill>
                  <a:schemeClr val="tx1"/>
                </a:solidFill>
              </a:rPr>
              <a:t>Intrusion de nuit</a:t>
            </a:r>
            <a:endParaRPr lang="en-US" sz="2000" dirty="0"/>
          </a:p>
        </p:txBody>
      </p:sp>
      <p:sp>
        <p:nvSpPr>
          <p:cNvPr id="21" name="Text 16"/>
          <p:cNvSpPr txBox="1"/>
          <p:nvPr/>
        </p:nvSpPr>
        <p:spPr>
          <a:xfrm>
            <a:off x="8396935" y="4906328"/>
            <a:ext cx="3017520" cy="1188720"/>
          </a:xfrm>
          <a:prstGeom prst="rect">
            <a:avLst/>
          </a:prstGeom>
          <a:noFill/>
          <a:ln/>
        </p:spPr>
        <p:txBody>
          <a:bodyPr wrap="square" lIns="0" tIns="0" rIns="0" bIns="0" rtlCol="0" anchor="t"/>
          <a:lstStyle/>
          <a:p>
            <a:pPr indent="0" marL="0">
              <a:buNone/>
            </a:pPr>
            <a:r>
              <a:rPr lang="en-US" sz="1800" dirty="0">
                <a:solidFill>
                  <a:schemeClr val="tx1"/>
                </a:solidFill>
              </a:rPr>
              <a:t>Hors des heures de travail, une présence près d'une porte doit déclencher une alerte et un buzzer.</a:t>
            </a:r>
            <a:endParaRPr lang="en-US" sz="18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B6B7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548640" y="713232"/>
            <a:ext cx="11094415" cy="868680"/>
          </a:xfrm>
          <a:prstGeom prst="rect">
            <a:avLst/>
          </a:prstGeom>
          <a:noFill/>
          <a:ln/>
        </p:spPr>
        <p:txBody>
          <a:bodyPr wrap="square" lIns="0" tIns="0" rIns="0" bIns="0" rtlCol="0" anchor="t"/>
          <a:lstStyle/>
          <a:p>
            <a:pPr algn="l" indent="0" marL="0">
              <a:buNone/>
            </a:pPr>
            <a:r>
              <a:rPr lang="en-US" sz="3000" b="1" dirty="0">
                <a:solidFill>
                  <a:srgbClr val="17293B"/>
                </a:solidFill>
              </a:rPr>
              <a:t>4 besoins à couvrir et 3 exigences non fonctionnelles retenues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6812280" cy="914400"/>
        </p:xfrm>
        <a:graphic>
          <a:graphicData uri="http://schemas.openxmlformats.org/drawingml/2006/table">
            <a:tbl>
              <a:tblPr/>
              <a:tblGrid>
                <a:gridCol w="2834640"/>
                <a:gridCol w="3977640"/>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Besoin</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0E746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Exigences fonctionnelles vérifiées</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0E746D"/>
                    </a:solidFill>
                  </a:tcPr>
                </a:tc>
              </a:tr>
              <a:tr h="1051560">
                <a:tc>
                  <a:txBody>
                    <a:bodyPr/>
                    <a:lstStyle/>
                    <a:p>
                      <a:pPr indent="0" marL="0">
                        <a:buNone/>
                      </a:pPr>
                      <a:r>
                        <a:rPr lang="en-US" sz="1600" b="1" dirty="0">
                          <a:solidFill>
                            <a:srgbClr val="17293B"/>
                          </a:solidFill>
                          <a:latin typeface="Calibri" pitchFamily="34" charset="0"/>
                          <a:ea typeface="Calibri" pitchFamily="34" charset="-122"/>
                          <a:cs typeface="Calibri" pitchFamily="34" charset="-120"/>
                        </a:rPr>
                        <a:t>B1 · Température de chaque machine, seuil propre</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EF1 : une mesure toutes les 30 s ± 2 s, précision ± 1 °C</a:t>
                      </a:r>
                      <a:endParaRPr lang="en-US" sz="1600" dirty="0">
                        <a:latin typeface="Calibri" charset="0"/>
                        <a:ea typeface="Calibri" charset="0"/>
                        <a:cs typeface="Calibri" charset="0"/>
                      </a:endParaRPr>
                    </a:p>
                    <a:p>
                      <a:pPr indent="0" marL="0">
                        <a:buNone/>
                      </a:pPr>
                      <a:r>
                        <a:rPr lang="en-US" sz="1600" dirty="0">
                          <a:solidFill>
                            <a:srgbClr val="17293B"/>
                          </a:solidFill>
                          <a:latin typeface="Calibri" pitchFamily="34" charset="0"/>
                          <a:ea typeface="Calibri" pitchFamily="34" charset="-122"/>
                          <a:cs typeface="Calibri" pitchFamily="34" charset="-120"/>
                        </a:rPr>
                        <a:t>EF2 : alerte dès que le seuil est dépassé</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r>
              <a:tr h="868680">
                <a:tc>
                  <a:txBody>
                    <a:bodyPr/>
                    <a:lstStyle/>
                    <a:p>
                      <a:pPr indent="0" marL="0">
                        <a:buNone/>
                      </a:pPr>
                      <a:r>
                        <a:rPr lang="en-US" sz="1600" b="1" dirty="0">
                          <a:solidFill>
                            <a:srgbClr val="17293B"/>
                          </a:solidFill>
                          <a:latin typeface="Calibri" pitchFamily="34" charset="0"/>
                          <a:ea typeface="Calibri" pitchFamily="34" charset="-122"/>
                          <a:cs typeface="Calibri" pitchFamily="34" charset="-120"/>
                        </a:rPr>
                        <a:t>B2 · Comptage des pièces par poste</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EF5 : 100 pièces → compteur = 100, conservé après un redémarrage</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r>
              <a:tr h="868680">
                <a:tc>
                  <a:txBody>
                    <a:bodyPr/>
                    <a:lstStyle/>
                    <a:p>
                      <a:pPr indent="0" marL="0">
                        <a:buNone/>
                      </a:pPr>
                      <a:r>
                        <a:rPr lang="en-US" sz="1600" b="1" dirty="0">
                          <a:solidFill>
                            <a:srgbClr val="17293B"/>
                          </a:solidFill>
                          <a:latin typeface="Calibri" pitchFamily="34" charset="0"/>
                          <a:ea typeface="Calibri" pitchFamily="34" charset="-122"/>
                          <a:cs typeface="Calibri" pitchFamily="34" charset="-120"/>
                        </a:rPr>
                        <a:t>B3 · Données centralisées</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Toutes les mesures arrivent au serveur (taux de livraison)</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r>
              <a:tr h="868680">
                <a:tc>
                  <a:txBody>
                    <a:bodyPr/>
                    <a:lstStyle/>
                    <a:p>
                      <a:pPr indent="0" marL="0">
                        <a:buNone/>
                      </a:pPr>
                      <a:r>
                        <a:rPr lang="en-US" sz="1600" b="1" dirty="0">
                          <a:solidFill>
                            <a:srgbClr val="17293B"/>
                          </a:solidFill>
                          <a:latin typeface="Calibri" pitchFamily="34" charset="0"/>
                          <a:ea typeface="Calibri" pitchFamily="34" charset="-122"/>
                          <a:cs typeface="Calibri" pitchFamily="34" charset="-120"/>
                        </a:rPr>
                        <a:t>B4 · Intrusion hors 08h–18h</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EF6 : présence la nuit → alerte en moins de 5 s</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r>
            </a:tbl>
          </a:graphicData>
        </a:graphic>
      </p:graphicFrame>
      <p:sp>
        <p:nvSpPr>
          <p:cNvPr id="4" name="Text 1"/>
          <p:cNvSpPr txBox="1"/>
          <p:nvPr/>
        </p:nvSpPr>
        <p:spPr>
          <a:xfrm>
            <a:off x="7726680" y="1783080"/>
            <a:ext cx="3916375" cy="365760"/>
          </a:xfrm>
          <a:prstGeom prst="rect">
            <a:avLst/>
          </a:prstGeom>
          <a:noFill/>
          <a:ln/>
        </p:spPr>
        <p:txBody>
          <a:bodyPr wrap="square" lIns="0" tIns="0" rIns="0" bIns="0" rtlCol="0" anchor="t"/>
          <a:lstStyle/>
          <a:p>
            <a:pPr indent="0" marL="0">
              <a:buNone/>
            </a:pPr>
            <a:r>
              <a:rPr lang="en-US" sz="1600" b="1" dirty="0">
                <a:solidFill>
                  <a:schemeClr val="accent6"/>
                </a:solidFill>
              </a:rPr>
              <a:t>Exigences non fonctionnelles retenues</a:t>
            </a:r>
            <a:endParaRPr lang="en-US" sz="1600" dirty="0"/>
          </a:p>
        </p:txBody>
      </p:sp>
      <p:sp>
        <p:nvSpPr>
          <p:cNvPr id="5" name="Shape 2"/>
          <p:cNvSpPr/>
          <p:nvPr/>
        </p:nvSpPr>
        <p:spPr>
          <a:xfrm>
            <a:off x="7726680" y="2240280"/>
            <a:ext cx="3916375" cy="1143000"/>
          </a:xfrm>
          <a:prstGeom prst="rect">
            <a:avLst/>
          </a:prstGeom>
          <a:solidFill>
            <a:schemeClr val="accent5"/>
          </a:solidFill>
          <a:ln w="12700">
            <a:solidFill>
              <a:schemeClr val="accent5"/>
            </a:solidFill>
            <a:prstDash val="solid"/>
          </a:ln>
        </p:spPr>
      </p:sp>
      <p:sp>
        <p:nvSpPr>
          <p:cNvPr id="6" name="Text 3"/>
          <p:cNvSpPr txBox="1"/>
          <p:nvPr/>
        </p:nvSpPr>
        <p:spPr>
          <a:xfrm>
            <a:off x="7955280" y="2423160"/>
            <a:ext cx="822960" cy="365760"/>
          </a:xfrm>
          <a:prstGeom prst="rect">
            <a:avLst/>
          </a:prstGeom>
          <a:noFill/>
          <a:ln/>
        </p:spPr>
        <p:txBody>
          <a:bodyPr wrap="square" lIns="0" tIns="0" rIns="0" bIns="0" rtlCol="0" anchor="t"/>
          <a:lstStyle/>
          <a:p>
            <a:pPr indent="0" marL="0">
              <a:buNone/>
            </a:pPr>
            <a:r>
              <a:rPr lang="en-US" sz="1800" b="1" dirty="0">
                <a:solidFill>
                  <a:schemeClr val="accent1"/>
                </a:solidFill>
              </a:rPr>
              <a:t>ENF1</a:t>
            </a:r>
            <a:endParaRPr lang="en-US" sz="1800" dirty="0"/>
          </a:p>
        </p:txBody>
      </p:sp>
      <p:sp>
        <p:nvSpPr>
          <p:cNvPr id="7" name="Text 4"/>
          <p:cNvSpPr txBox="1"/>
          <p:nvPr/>
        </p:nvSpPr>
        <p:spPr>
          <a:xfrm>
            <a:off x="8778240" y="2395728"/>
            <a:ext cx="2681935" cy="868680"/>
          </a:xfrm>
          <a:prstGeom prst="rect">
            <a:avLst/>
          </a:prstGeom>
          <a:noFill/>
          <a:ln/>
        </p:spPr>
        <p:txBody>
          <a:bodyPr wrap="square" lIns="0" tIns="0" rIns="0" bIns="0" rtlCol="0" anchor="t"/>
          <a:lstStyle/>
          <a:p>
            <a:pPr indent="0" marL="0">
              <a:buNone/>
            </a:pPr>
            <a:r>
              <a:rPr lang="en-US" sz="1800" b="1" dirty="0">
                <a:solidFill>
                  <a:schemeClr val="tx1"/>
                </a:solidFill>
              </a:rPr>
              <a:t>Latence &lt; 10 s</a:t>
            </a:r>
            <a:endParaRPr lang="en-US" sz="1800" dirty="0"/>
          </a:p>
          <a:p>
            <a:pPr indent="0" marL="0">
              <a:buNone/>
            </a:pPr>
            <a:r>
              <a:rPr lang="en-US" sz="1500" dirty="0">
                <a:solidFill>
                  <a:schemeClr val="accent6"/>
                </a:solidFill>
              </a:rPr>
              <a:t>de la mesure à l'alerte (cible 5 s pour une surchauffe)</a:t>
            </a:r>
            <a:endParaRPr lang="en-US" sz="1800" dirty="0"/>
          </a:p>
        </p:txBody>
      </p:sp>
      <p:sp>
        <p:nvSpPr>
          <p:cNvPr id="8" name="Shape 5"/>
          <p:cNvSpPr/>
          <p:nvPr/>
        </p:nvSpPr>
        <p:spPr>
          <a:xfrm>
            <a:off x="7726680" y="3520440"/>
            <a:ext cx="3916375" cy="1143000"/>
          </a:xfrm>
          <a:prstGeom prst="rect">
            <a:avLst/>
          </a:prstGeom>
          <a:solidFill>
            <a:schemeClr val="accent5"/>
          </a:solidFill>
          <a:ln w="12700">
            <a:solidFill>
              <a:schemeClr val="accent5"/>
            </a:solidFill>
            <a:prstDash val="solid"/>
          </a:ln>
        </p:spPr>
      </p:sp>
      <p:sp>
        <p:nvSpPr>
          <p:cNvPr id="9" name="Text 6"/>
          <p:cNvSpPr txBox="1"/>
          <p:nvPr/>
        </p:nvSpPr>
        <p:spPr>
          <a:xfrm>
            <a:off x="7955280" y="3703320"/>
            <a:ext cx="822960" cy="365760"/>
          </a:xfrm>
          <a:prstGeom prst="rect">
            <a:avLst/>
          </a:prstGeom>
          <a:noFill/>
          <a:ln/>
        </p:spPr>
        <p:txBody>
          <a:bodyPr wrap="square" lIns="0" tIns="0" rIns="0" bIns="0" rtlCol="0" anchor="t"/>
          <a:lstStyle/>
          <a:p>
            <a:pPr indent="0" marL="0">
              <a:buNone/>
            </a:pPr>
            <a:r>
              <a:rPr lang="en-US" sz="1800" b="1" dirty="0">
                <a:solidFill>
                  <a:schemeClr val="accent1"/>
                </a:solidFill>
              </a:rPr>
              <a:t>ENF6</a:t>
            </a:r>
            <a:endParaRPr lang="en-US" sz="1800" dirty="0"/>
          </a:p>
        </p:txBody>
      </p:sp>
      <p:sp>
        <p:nvSpPr>
          <p:cNvPr id="10" name="Text 7"/>
          <p:cNvSpPr txBox="1"/>
          <p:nvPr/>
        </p:nvSpPr>
        <p:spPr>
          <a:xfrm>
            <a:off x="8778240" y="3675888"/>
            <a:ext cx="2681935" cy="868680"/>
          </a:xfrm>
          <a:prstGeom prst="rect">
            <a:avLst/>
          </a:prstGeom>
          <a:noFill/>
          <a:ln/>
        </p:spPr>
        <p:txBody>
          <a:bodyPr wrap="square" lIns="0" tIns="0" rIns="0" bIns="0" rtlCol="0" anchor="t"/>
          <a:lstStyle/>
          <a:p>
            <a:pPr indent="0" marL="0">
              <a:buNone/>
            </a:pPr>
            <a:r>
              <a:rPr lang="en-US" sz="1800" b="1" dirty="0">
                <a:solidFill>
                  <a:schemeClr val="tx1"/>
                </a:solidFill>
              </a:rPr>
              <a:t>Messages authentifiés</a:t>
            </a:r>
            <a:endParaRPr lang="en-US" sz="1800" dirty="0"/>
          </a:p>
          <a:p>
            <a:pPr indent="0" marL="0">
              <a:buNone/>
            </a:pPr>
            <a:r>
              <a:rPr lang="en-US" sz="1500" dirty="0">
                <a:solidFill>
                  <a:schemeClr val="accent6"/>
                </a:solidFill>
              </a:rPr>
              <a:t>un faux nœud est rejeté par la passerelle</a:t>
            </a:r>
            <a:endParaRPr lang="en-US" sz="1800" dirty="0"/>
          </a:p>
        </p:txBody>
      </p:sp>
      <p:sp>
        <p:nvSpPr>
          <p:cNvPr id="11" name="Shape 8"/>
          <p:cNvSpPr/>
          <p:nvPr/>
        </p:nvSpPr>
        <p:spPr>
          <a:xfrm>
            <a:off x="7726680" y="4800600"/>
            <a:ext cx="3916375" cy="1143000"/>
          </a:xfrm>
          <a:prstGeom prst="rect">
            <a:avLst/>
          </a:prstGeom>
          <a:solidFill>
            <a:schemeClr val="accent5"/>
          </a:solidFill>
          <a:ln w="12700">
            <a:solidFill>
              <a:schemeClr val="accent5"/>
            </a:solidFill>
            <a:prstDash val="solid"/>
          </a:ln>
        </p:spPr>
      </p:sp>
      <p:sp>
        <p:nvSpPr>
          <p:cNvPr id="12" name="Text 9"/>
          <p:cNvSpPr txBox="1"/>
          <p:nvPr/>
        </p:nvSpPr>
        <p:spPr>
          <a:xfrm>
            <a:off x="7955280" y="4983480"/>
            <a:ext cx="822960" cy="365760"/>
          </a:xfrm>
          <a:prstGeom prst="rect">
            <a:avLst/>
          </a:prstGeom>
          <a:noFill/>
          <a:ln/>
        </p:spPr>
        <p:txBody>
          <a:bodyPr wrap="square" lIns="0" tIns="0" rIns="0" bIns="0" rtlCol="0" anchor="t"/>
          <a:lstStyle/>
          <a:p>
            <a:pPr indent="0" marL="0">
              <a:buNone/>
            </a:pPr>
            <a:r>
              <a:rPr lang="en-US" sz="1800" b="1" dirty="0">
                <a:solidFill>
                  <a:schemeClr val="accent1"/>
                </a:solidFill>
              </a:rPr>
              <a:t>ENF8</a:t>
            </a:r>
            <a:endParaRPr lang="en-US" sz="1800" dirty="0"/>
          </a:p>
        </p:txBody>
      </p:sp>
      <p:sp>
        <p:nvSpPr>
          <p:cNvPr id="13" name="Text 10"/>
          <p:cNvSpPr txBox="1"/>
          <p:nvPr/>
        </p:nvSpPr>
        <p:spPr>
          <a:xfrm>
            <a:off x="8778240" y="4956048"/>
            <a:ext cx="2681935" cy="868680"/>
          </a:xfrm>
          <a:prstGeom prst="rect">
            <a:avLst/>
          </a:prstGeom>
          <a:noFill/>
          <a:ln/>
        </p:spPr>
        <p:txBody>
          <a:bodyPr wrap="square" lIns="0" tIns="0" rIns="0" bIns="0" rtlCol="0" anchor="t"/>
          <a:lstStyle/>
          <a:p>
            <a:pPr indent="0" marL="0">
              <a:buNone/>
            </a:pPr>
            <a:r>
              <a:rPr lang="en-US" sz="1800" b="1" dirty="0">
                <a:solidFill>
                  <a:schemeClr val="tx1"/>
                </a:solidFill>
              </a:rPr>
              <a:t>Un nœud tombe, le reste continue</a:t>
            </a:r>
            <a:endParaRPr lang="en-US" sz="1800" dirty="0"/>
          </a:p>
          <a:p>
            <a:pPr indent="0" marL="0">
              <a:buNone/>
            </a:pPr>
            <a:r>
              <a:rPr lang="en-US" sz="1500" dirty="0">
                <a:solidFill>
                  <a:schemeClr val="accent6"/>
                </a:solidFill>
              </a:rPr>
              <a:t>on peut retirer un nœud défaillant</a:t>
            </a:r>
            <a:endParaRPr lang="en-US" sz="18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B6B7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548640" y="713232"/>
            <a:ext cx="11094415" cy="868680"/>
          </a:xfrm>
          <a:prstGeom prst="rect">
            <a:avLst/>
          </a:prstGeom>
          <a:noFill/>
          <a:ln/>
        </p:spPr>
        <p:txBody>
          <a:bodyPr wrap="square" lIns="0" tIns="0" rIns="0" bIns="0" rtlCol="0" anchor="t"/>
          <a:lstStyle/>
          <a:p>
            <a:pPr algn="l" indent="0" marL="0">
              <a:buNone/>
            </a:pPr>
            <a:r>
              <a:rPr lang="en-US" sz="3000" b="1" dirty="0">
                <a:solidFill>
                  <a:srgbClr val="17293B"/>
                </a:solidFill>
              </a:rPr>
              <a:t>Chaque mesure doit aller du capteur à l'alerte en moins de 10 s</a:t>
            </a:r>
            <a:endParaRPr lang="en-US" sz="3000" dirty="0"/>
          </a:p>
        </p:txBody>
      </p:sp>
      <p:sp>
        <p:nvSpPr>
          <p:cNvPr id="3" name="Shape 1"/>
          <p:cNvSpPr/>
          <p:nvPr/>
        </p:nvSpPr>
        <p:spPr>
          <a:xfrm>
            <a:off x="548640" y="1828800"/>
            <a:ext cx="1737360" cy="1325880"/>
          </a:xfrm>
          <a:prstGeom prst="roundRect">
            <a:avLst>
              <a:gd name="adj" fmla="val 5517"/>
            </a:avLst>
          </a:prstGeom>
          <a:solidFill>
            <a:schemeClr val="bg1"/>
          </a:solidFill>
          <a:ln w="12700">
            <a:solidFill>
              <a:srgbClr val="CBD3DB"/>
            </a:solidFill>
            <a:prstDash val="solid"/>
          </a:ln>
        </p:spPr>
      </p:sp>
      <p:sp>
        <p:nvSpPr>
          <p:cNvPr id="4" name="Text 2"/>
          <p:cNvSpPr txBox="1"/>
          <p:nvPr/>
        </p:nvSpPr>
        <p:spPr>
          <a:xfrm>
            <a:off x="640080" y="1828800"/>
            <a:ext cx="1554480" cy="1325880"/>
          </a:xfrm>
          <a:prstGeom prst="rect">
            <a:avLst/>
          </a:prstGeom>
          <a:noFill/>
          <a:ln/>
        </p:spPr>
        <p:txBody>
          <a:bodyPr wrap="square" lIns="0" tIns="0" rIns="0" bIns="0" rtlCol="0" anchor="ctr"/>
          <a:lstStyle/>
          <a:p>
            <a:pPr algn="ctr" indent="0" marL="0">
              <a:spcAft>
                <a:spcPts val="200"/>
              </a:spcAft>
              <a:buNone/>
            </a:pPr>
            <a:r>
              <a:rPr lang="en-US" sz="1700" b="1" dirty="0">
                <a:solidFill>
                  <a:schemeClr val="tx1"/>
                </a:solidFill>
              </a:rPr>
              <a:t>Capteurs</a:t>
            </a:r>
            <a:endParaRPr lang="en-US" sz="1800" dirty="0"/>
          </a:p>
          <a:p>
            <a:pPr algn="ctr" indent="0" marL="0">
              <a:spcAft>
                <a:spcPts val="200"/>
              </a:spcAft>
              <a:buNone/>
            </a:pPr>
            <a:r>
              <a:rPr lang="en-US" sz="1400" dirty="0">
                <a:solidFill>
                  <a:schemeClr val="accent6"/>
                </a:solidFill>
              </a:rPr>
              <a:t>DS18B20 · type K</a:t>
            </a:r>
            <a:endParaRPr lang="en-US" sz="1800" dirty="0"/>
          </a:p>
          <a:p>
            <a:pPr algn="ctr" indent="0" marL="0">
              <a:spcAft>
                <a:spcPts val="200"/>
              </a:spcAft>
              <a:buNone/>
            </a:pPr>
            <a:r>
              <a:rPr lang="en-US" sz="1400" dirty="0">
                <a:solidFill>
                  <a:schemeClr val="accent6"/>
                </a:solidFill>
              </a:rPr>
              <a:t>barrière IR · PIR</a:t>
            </a:r>
            <a:endParaRPr lang="en-US" sz="1800" dirty="0"/>
          </a:p>
        </p:txBody>
      </p:sp>
      <p:sp>
        <p:nvSpPr>
          <p:cNvPr id="5" name="Shape 3"/>
          <p:cNvSpPr/>
          <p:nvPr/>
        </p:nvSpPr>
        <p:spPr>
          <a:xfrm>
            <a:off x="2331720" y="2491740"/>
            <a:ext cx="510464" cy="0"/>
          </a:xfrm>
          <a:prstGeom prst="line">
            <a:avLst/>
          </a:prstGeom>
          <a:noFill/>
          <a:ln w="19050">
            <a:solidFill>
              <a:srgbClr val="17293B"/>
            </a:solidFill>
            <a:prstDash val="solid"/>
            <a:tailEnd type="triangle"/>
          </a:ln>
        </p:spPr>
      </p:sp>
      <p:sp>
        <p:nvSpPr>
          <p:cNvPr id="6" name="Text 4"/>
          <p:cNvSpPr txBox="1"/>
          <p:nvPr/>
        </p:nvSpPr>
        <p:spPr>
          <a:xfrm>
            <a:off x="2057400" y="2564892"/>
            <a:ext cx="1059104" cy="411480"/>
          </a:xfrm>
          <a:prstGeom prst="rect">
            <a:avLst/>
          </a:prstGeom>
          <a:noFill/>
          <a:ln/>
        </p:spPr>
        <p:txBody>
          <a:bodyPr wrap="square" lIns="0" tIns="0" rIns="0" bIns="0" rtlCol="0" anchor="t"/>
          <a:lstStyle/>
          <a:p>
            <a:pPr algn="ctr" indent="0" marL="0">
              <a:buNone/>
            </a:pPr>
            <a:r>
              <a:rPr lang="en-US" sz="1200" dirty="0">
                <a:solidFill>
                  <a:schemeClr val="accent6"/>
                </a:solidFill>
              </a:rPr>
              <a:t>GPIO</a:t>
            </a:r>
            <a:endParaRPr lang="en-US" sz="1200" dirty="0"/>
          </a:p>
        </p:txBody>
      </p:sp>
      <p:sp>
        <p:nvSpPr>
          <p:cNvPr id="7" name="Shape 5"/>
          <p:cNvSpPr/>
          <p:nvPr/>
        </p:nvSpPr>
        <p:spPr>
          <a:xfrm>
            <a:off x="2887904" y="1828800"/>
            <a:ext cx="1737360" cy="1325880"/>
          </a:xfrm>
          <a:prstGeom prst="roundRect">
            <a:avLst>
              <a:gd name="adj" fmla="val 5517"/>
            </a:avLst>
          </a:prstGeom>
          <a:solidFill>
            <a:schemeClr val="bg1"/>
          </a:solidFill>
          <a:ln w="12700">
            <a:solidFill>
              <a:srgbClr val="CBD3DB"/>
            </a:solidFill>
            <a:prstDash val="solid"/>
          </a:ln>
        </p:spPr>
      </p:sp>
      <p:sp>
        <p:nvSpPr>
          <p:cNvPr id="8" name="Text 6"/>
          <p:cNvSpPr txBox="1"/>
          <p:nvPr/>
        </p:nvSpPr>
        <p:spPr>
          <a:xfrm>
            <a:off x="2979344" y="1828800"/>
            <a:ext cx="1554480" cy="1325880"/>
          </a:xfrm>
          <a:prstGeom prst="rect">
            <a:avLst/>
          </a:prstGeom>
          <a:noFill/>
          <a:ln/>
        </p:spPr>
        <p:txBody>
          <a:bodyPr wrap="square" lIns="0" tIns="0" rIns="0" bIns="0" rtlCol="0" anchor="ctr"/>
          <a:lstStyle/>
          <a:p>
            <a:pPr algn="ctr" indent="0" marL="0">
              <a:spcAft>
                <a:spcPts val="200"/>
              </a:spcAft>
              <a:buNone/>
            </a:pPr>
            <a:r>
              <a:rPr lang="en-US" sz="1700" b="1" dirty="0">
                <a:solidFill>
                  <a:schemeClr val="tx1"/>
                </a:solidFill>
              </a:rPr>
              <a:t>Nœud ESP32</a:t>
            </a:r>
            <a:endParaRPr lang="en-US" sz="1800" dirty="0"/>
          </a:p>
          <a:p>
            <a:pPr algn="ctr" indent="0" marL="0">
              <a:spcAft>
                <a:spcPts val="200"/>
              </a:spcAft>
              <a:buNone/>
            </a:pPr>
            <a:r>
              <a:rPr lang="en-US" sz="1400" dirty="0">
                <a:solidFill>
                  <a:schemeClr val="accent6"/>
                </a:solidFill>
              </a:rPr>
              <a:t>mesure / 30 s</a:t>
            </a:r>
            <a:endParaRPr lang="en-US" sz="1800" dirty="0"/>
          </a:p>
          <a:p>
            <a:pPr algn="ctr" indent="0" marL="0">
              <a:spcAft>
                <a:spcPts val="200"/>
              </a:spcAft>
              <a:buNone/>
            </a:pPr>
            <a:r>
              <a:rPr lang="en-US" sz="1400" dirty="0">
                <a:solidFill>
                  <a:schemeClr val="accent6"/>
                </a:solidFill>
              </a:rPr>
              <a:t>→ JSON</a:t>
            </a:r>
            <a:endParaRPr lang="en-US" sz="1800" dirty="0"/>
          </a:p>
        </p:txBody>
      </p:sp>
      <p:sp>
        <p:nvSpPr>
          <p:cNvPr id="9" name="Shape 7"/>
          <p:cNvSpPr/>
          <p:nvPr/>
        </p:nvSpPr>
        <p:spPr>
          <a:xfrm>
            <a:off x="4670984" y="2491740"/>
            <a:ext cx="510464" cy="0"/>
          </a:xfrm>
          <a:prstGeom prst="line">
            <a:avLst/>
          </a:prstGeom>
          <a:noFill/>
          <a:ln w="19050">
            <a:solidFill>
              <a:srgbClr val="17293B"/>
            </a:solidFill>
            <a:prstDash val="solid"/>
            <a:tailEnd type="triangle"/>
          </a:ln>
        </p:spPr>
      </p:sp>
      <p:sp>
        <p:nvSpPr>
          <p:cNvPr id="10" name="Text 8"/>
          <p:cNvSpPr txBox="1"/>
          <p:nvPr/>
        </p:nvSpPr>
        <p:spPr>
          <a:xfrm>
            <a:off x="4396664" y="2564892"/>
            <a:ext cx="1059104" cy="411480"/>
          </a:xfrm>
          <a:prstGeom prst="rect">
            <a:avLst/>
          </a:prstGeom>
          <a:noFill/>
          <a:ln/>
        </p:spPr>
        <p:txBody>
          <a:bodyPr wrap="square" lIns="0" tIns="0" rIns="0" bIns="0" rtlCol="0" anchor="t"/>
          <a:lstStyle/>
          <a:p>
            <a:pPr algn="ctr" indent="0" marL="0">
              <a:buNone/>
            </a:pPr>
            <a:r>
              <a:rPr lang="en-US" sz="1200" dirty="0">
                <a:solidFill>
                  <a:schemeClr val="accent6"/>
                </a:solidFill>
              </a:rPr>
              <a:t>Wi-Fi</a:t>
            </a:r>
            <a:endParaRPr lang="en-US" sz="1200" dirty="0"/>
          </a:p>
        </p:txBody>
      </p:sp>
      <p:sp>
        <p:nvSpPr>
          <p:cNvPr id="11" name="Shape 9"/>
          <p:cNvSpPr/>
          <p:nvPr/>
        </p:nvSpPr>
        <p:spPr>
          <a:xfrm>
            <a:off x="5227168" y="1828800"/>
            <a:ext cx="1737360" cy="1325880"/>
          </a:xfrm>
          <a:prstGeom prst="roundRect">
            <a:avLst>
              <a:gd name="adj" fmla="val 5517"/>
            </a:avLst>
          </a:prstGeom>
          <a:solidFill>
            <a:schemeClr val="bg1"/>
          </a:solidFill>
          <a:ln w="12700">
            <a:solidFill>
              <a:srgbClr val="CBD3DB"/>
            </a:solidFill>
            <a:prstDash val="solid"/>
          </a:ln>
        </p:spPr>
      </p:sp>
      <p:sp>
        <p:nvSpPr>
          <p:cNvPr id="12" name="Text 10"/>
          <p:cNvSpPr txBox="1"/>
          <p:nvPr/>
        </p:nvSpPr>
        <p:spPr>
          <a:xfrm>
            <a:off x="5318608" y="1828800"/>
            <a:ext cx="1554480" cy="1325880"/>
          </a:xfrm>
          <a:prstGeom prst="rect">
            <a:avLst/>
          </a:prstGeom>
          <a:noFill/>
          <a:ln/>
        </p:spPr>
        <p:txBody>
          <a:bodyPr wrap="square" lIns="0" tIns="0" rIns="0" bIns="0" rtlCol="0" anchor="ctr"/>
          <a:lstStyle/>
          <a:p>
            <a:pPr algn="ctr" indent="0" marL="0">
              <a:spcAft>
                <a:spcPts val="200"/>
              </a:spcAft>
              <a:buNone/>
            </a:pPr>
            <a:r>
              <a:rPr lang="en-US" sz="1700" b="1" dirty="0">
                <a:solidFill>
                  <a:schemeClr val="tx1"/>
                </a:solidFill>
              </a:rPr>
              <a:t>Point d'accès</a:t>
            </a:r>
            <a:endParaRPr lang="en-US" sz="1800" dirty="0"/>
          </a:p>
          <a:p>
            <a:pPr algn="ctr" indent="0" marL="0">
              <a:spcAft>
                <a:spcPts val="200"/>
              </a:spcAft>
              <a:buNone/>
            </a:pPr>
            <a:r>
              <a:rPr lang="en-US" sz="1400" dirty="0">
                <a:solidFill>
                  <a:schemeClr val="accent6"/>
                </a:solidFill>
              </a:rPr>
              <a:t>Wi-Fi 2,4 GHz</a:t>
            </a:r>
            <a:endParaRPr lang="en-US" sz="1800" dirty="0"/>
          </a:p>
          <a:p>
            <a:pPr algn="ctr" indent="0" marL="0">
              <a:spcAft>
                <a:spcPts val="200"/>
              </a:spcAft>
              <a:buNone/>
            </a:pPr>
            <a:r>
              <a:rPr lang="en-US" sz="1400" dirty="0">
                <a:solidFill>
                  <a:schemeClr val="accent6"/>
                </a:solidFill>
              </a:rPr>
              <a:t>au plafond du hall</a:t>
            </a:r>
            <a:endParaRPr lang="en-US" sz="1800" dirty="0"/>
          </a:p>
        </p:txBody>
      </p:sp>
      <p:sp>
        <p:nvSpPr>
          <p:cNvPr id="13" name="Shape 11"/>
          <p:cNvSpPr/>
          <p:nvPr/>
        </p:nvSpPr>
        <p:spPr>
          <a:xfrm>
            <a:off x="7010248" y="2491740"/>
            <a:ext cx="510464" cy="0"/>
          </a:xfrm>
          <a:prstGeom prst="line">
            <a:avLst/>
          </a:prstGeom>
          <a:noFill/>
          <a:ln w="19050">
            <a:solidFill>
              <a:srgbClr val="17293B"/>
            </a:solidFill>
            <a:prstDash val="solid"/>
            <a:tailEnd type="triangle"/>
          </a:ln>
        </p:spPr>
      </p:sp>
      <p:sp>
        <p:nvSpPr>
          <p:cNvPr id="14" name="Text 12"/>
          <p:cNvSpPr txBox="1"/>
          <p:nvPr/>
        </p:nvSpPr>
        <p:spPr>
          <a:xfrm>
            <a:off x="6735928" y="2564892"/>
            <a:ext cx="1059104" cy="411480"/>
          </a:xfrm>
          <a:prstGeom prst="rect">
            <a:avLst/>
          </a:prstGeom>
          <a:noFill/>
          <a:ln/>
        </p:spPr>
        <p:txBody>
          <a:bodyPr wrap="square" lIns="0" tIns="0" rIns="0" bIns="0" rtlCol="0" anchor="t"/>
          <a:lstStyle/>
          <a:p>
            <a:pPr algn="ctr" indent="0" marL="0">
              <a:buNone/>
            </a:pPr>
            <a:r>
              <a:rPr lang="en-US" sz="1200" dirty="0">
                <a:solidFill>
                  <a:schemeClr val="accent6"/>
                </a:solidFill>
              </a:rPr>
              <a:t>Ethernet</a:t>
            </a:r>
            <a:endParaRPr lang="en-US" sz="1200" dirty="0"/>
          </a:p>
        </p:txBody>
      </p:sp>
      <p:sp>
        <p:nvSpPr>
          <p:cNvPr id="15" name="Shape 13"/>
          <p:cNvSpPr/>
          <p:nvPr/>
        </p:nvSpPr>
        <p:spPr>
          <a:xfrm>
            <a:off x="7566431" y="1828800"/>
            <a:ext cx="1737360" cy="1325880"/>
          </a:xfrm>
          <a:prstGeom prst="roundRect">
            <a:avLst>
              <a:gd name="adj" fmla="val 5517"/>
            </a:avLst>
          </a:prstGeom>
          <a:solidFill>
            <a:schemeClr val="accent5"/>
          </a:solidFill>
          <a:ln w="12700">
            <a:solidFill>
              <a:srgbClr val="0E746D"/>
            </a:solidFill>
            <a:prstDash val="solid"/>
          </a:ln>
        </p:spPr>
      </p:sp>
      <p:sp>
        <p:nvSpPr>
          <p:cNvPr id="16" name="Text 14"/>
          <p:cNvSpPr txBox="1"/>
          <p:nvPr/>
        </p:nvSpPr>
        <p:spPr>
          <a:xfrm>
            <a:off x="7657871" y="1828800"/>
            <a:ext cx="1554480" cy="1325880"/>
          </a:xfrm>
          <a:prstGeom prst="rect">
            <a:avLst/>
          </a:prstGeom>
          <a:noFill/>
          <a:ln/>
        </p:spPr>
        <p:txBody>
          <a:bodyPr wrap="square" lIns="0" tIns="0" rIns="0" bIns="0" rtlCol="0" anchor="ctr"/>
          <a:lstStyle/>
          <a:p>
            <a:pPr algn="ctr" indent="0" marL="0">
              <a:spcAft>
                <a:spcPts val="200"/>
              </a:spcAft>
              <a:buNone/>
            </a:pPr>
            <a:r>
              <a:rPr lang="en-US" sz="1700" b="1" dirty="0">
                <a:solidFill>
                  <a:schemeClr val="tx1"/>
                </a:solidFill>
              </a:rPr>
              <a:t>Raspberry Pi 4</a:t>
            </a:r>
            <a:endParaRPr lang="en-US" sz="1800" dirty="0"/>
          </a:p>
          <a:p>
            <a:pPr algn="ctr" indent="0" marL="0">
              <a:spcAft>
                <a:spcPts val="200"/>
              </a:spcAft>
              <a:buNone/>
            </a:pPr>
            <a:r>
              <a:rPr lang="en-US" sz="1400" dirty="0">
                <a:solidFill>
                  <a:schemeClr val="accent6"/>
                </a:solidFill>
              </a:rPr>
              <a:t>Mosquitto</a:t>
            </a:r>
            <a:endParaRPr lang="en-US" sz="1800" dirty="0"/>
          </a:p>
          <a:p>
            <a:pPr algn="ctr" indent="0" marL="0">
              <a:spcAft>
                <a:spcPts val="200"/>
              </a:spcAft>
              <a:buNone/>
            </a:pPr>
            <a:r>
              <a:rPr lang="en-US" sz="1400" dirty="0">
                <a:solidFill>
                  <a:schemeClr val="accent6"/>
                </a:solidFill>
              </a:rPr>
              <a:t>Node-RED</a:t>
            </a:r>
            <a:endParaRPr lang="en-US" sz="1800" dirty="0"/>
          </a:p>
          <a:p>
            <a:pPr algn="ctr" indent="0" marL="0">
              <a:spcAft>
                <a:spcPts val="200"/>
              </a:spcAft>
              <a:buNone/>
            </a:pPr>
            <a:r>
              <a:rPr lang="en-US" sz="1400" dirty="0">
                <a:solidFill>
                  <a:schemeClr val="accent6"/>
                </a:solidFill>
              </a:rPr>
              <a:t>InfluxDB · Grafana</a:t>
            </a:r>
            <a:endParaRPr lang="en-US" sz="1800" dirty="0"/>
          </a:p>
        </p:txBody>
      </p:sp>
      <p:sp>
        <p:nvSpPr>
          <p:cNvPr id="17" name="Shape 15"/>
          <p:cNvSpPr/>
          <p:nvPr/>
        </p:nvSpPr>
        <p:spPr>
          <a:xfrm>
            <a:off x="9349511" y="2491740"/>
            <a:ext cx="510464" cy="0"/>
          </a:xfrm>
          <a:prstGeom prst="line">
            <a:avLst/>
          </a:prstGeom>
          <a:noFill/>
          <a:ln w="19050">
            <a:solidFill>
              <a:srgbClr val="17293B"/>
            </a:solidFill>
            <a:prstDash val="solid"/>
            <a:tailEnd type="triangle"/>
          </a:ln>
        </p:spPr>
      </p:sp>
      <p:sp>
        <p:nvSpPr>
          <p:cNvPr id="18" name="Text 16"/>
          <p:cNvSpPr txBox="1"/>
          <p:nvPr/>
        </p:nvSpPr>
        <p:spPr>
          <a:xfrm>
            <a:off x="9075191" y="2564892"/>
            <a:ext cx="1059104" cy="411480"/>
          </a:xfrm>
          <a:prstGeom prst="rect">
            <a:avLst/>
          </a:prstGeom>
          <a:noFill/>
          <a:ln/>
        </p:spPr>
        <p:txBody>
          <a:bodyPr wrap="square" lIns="0" tIns="0" rIns="0" bIns="0" rtlCol="0" anchor="t"/>
          <a:lstStyle/>
          <a:p>
            <a:pPr algn="ctr" indent="0" marL="0">
              <a:buNone/>
            </a:pPr>
            <a:r>
              <a:rPr lang="en-US" sz="1200" dirty="0">
                <a:solidFill>
                  <a:schemeClr val="accent6"/>
                </a:solidFill>
              </a:rPr>
              <a:t>HTTP</a:t>
            </a:r>
            <a:endParaRPr lang="en-US" sz="1200" dirty="0"/>
          </a:p>
          <a:p>
            <a:pPr algn="ctr" indent="0" marL="0">
              <a:buNone/>
            </a:pPr>
            <a:r>
              <a:rPr lang="en-US" sz="1200" dirty="0">
                <a:solidFill>
                  <a:schemeClr val="accent6"/>
                </a:solidFill>
              </a:rPr>
              <a:t>SMTP</a:t>
            </a:r>
            <a:endParaRPr lang="en-US" sz="1200" dirty="0"/>
          </a:p>
        </p:txBody>
      </p:sp>
      <p:sp>
        <p:nvSpPr>
          <p:cNvPr id="19" name="Shape 17"/>
          <p:cNvSpPr/>
          <p:nvPr/>
        </p:nvSpPr>
        <p:spPr>
          <a:xfrm>
            <a:off x="9905695" y="1828800"/>
            <a:ext cx="1737360" cy="1325880"/>
          </a:xfrm>
          <a:prstGeom prst="roundRect">
            <a:avLst>
              <a:gd name="adj" fmla="val 5517"/>
            </a:avLst>
          </a:prstGeom>
          <a:solidFill>
            <a:schemeClr val="bg1"/>
          </a:solidFill>
          <a:ln w="12700">
            <a:solidFill>
              <a:srgbClr val="CBD3DB"/>
            </a:solidFill>
            <a:prstDash val="solid"/>
          </a:ln>
        </p:spPr>
      </p:sp>
      <p:sp>
        <p:nvSpPr>
          <p:cNvPr id="20" name="Text 18"/>
          <p:cNvSpPr txBox="1"/>
          <p:nvPr/>
        </p:nvSpPr>
        <p:spPr>
          <a:xfrm>
            <a:off x="9997135" y="1828800"/>
            <a:ext cx="1554480" cy="1325880"/>
          </a:xfrm>
          <a:prstGeom prst="rect">
            <a:avLst/>
          </a:prstGeom>
          <a:noFill/>
          <a:ln/>
        </p:spPr>
        <p:txBody>
          <a:bodyPr wrap="square" lIns="0" tIns="0" rIns="0" bIns="0" rtlCol="0" anchor="ctr"/>
          <a:lstStyle/>
          <a:p>
            <a:pPr algn="ctr" indent="0" marL="0">
              <a:spcAft>
                <a:spcPts val="200"/>
              </a:spcAft>
              <a:buNone/>
            </a:pPr>
            <a:r>
              <a:rPr lang="en-US" sz="1700" b="1" dirty="0">
                <a:solidFill>
                  <a:schemeClr val="tx1"/>
                </a:solidFill>
              </a:rPr>
              <a:t>Alertes et écrans</a:t>
            </a:r>
            <a:endParaRPr lang="en-US" sz="1800" dirty="0"/>
          </a:p>
          <a:p>
            <a:pPr algn="ctr" indent="0" marL="0">
              <a:spcAft>
                <a:spcPts val="200"/>
              </a:spcAft>
              <a:buNone/>
            </a:pPr>
            <a:r>
              <a:rPr lang="en-US" sz="1400" dirty="0">
                <a:solidFill>
                  <a:schemeClr val="accent6"/>
                </a:solidFill>
              </a:rPr>
              <a:t>e-mail · SMS</a:t>
            </a:r>
            <a:endParaRPr lang="en-US" sz="1800" dirty="0"/>
          </a:p>
          <a:p>
            <a:pPr algn="ctr" indent="0" marL="0">
              <a:spcAft>
                <a:spcPts val="200"/>
              </a:spcAft>
              <a:buNone/>
            </a:pPr>
            <a:r>
              <a:rPr lang="en-US" sz="1400" dirty="0">
                <a:solidFill>
                  <a:schemeClr val="accent6"/>
                </a:solidFill>
              </a:rPr>
              <a:t>écrans E1 et E2</a:t>
            </a:r>
            <a:endParaRPr lang="en-US" sz="1800" dirty="0"/>
          </a:p>
        </p:txBody>
      </p:sp>
      <p:sp>
        <p:nvSpPr>
          <p:cNvPr id="21" name="Text 19"/>
          <p:cNvSpPr txBox="1"/>
          <p:nvPr/>
        </p:nvSpPr>
        <p:spPr>
          <a:xfrm>
            <a:off x="548640" y="3794760"/>
            <a:ext cx="11094415" cy="365760"/>
          </a:xfrm>
          <a:prstGeom prst="rect">
            <a:avLst/>
          </a:prstGeom>
          <a:noFill/>
          <a:ln/>
        </p:spPr>
        <p:txBody>
          <a:bodyPr wrap="square" lIns="0" tIns="0" rIns="0" bIns="0" rtlCol="0" anchor="t"/>
          <a:lstStyle/>
          <a:p>
            <a:pPr indent="0" marL="0">
              <a:buNone/>
            </a:pPr>
            <a:r>
              <a:rPr lang="en-US" sz="1800" b="1" dirty="0">
                <a:solidFill>
                  <a:schemeClr val="tx1"/>
                </a:solidFill>
              </a:rPr>
              <a:t>Budget de latence d'ENF1 (total &lt; 10 s, à l'échelle)</a:t>
            </a:r>
            <a:endParaRPr lang="en-US" sz="1800" dirty="0"/>
          </a:p>
        </p:txBody>
      </p:sp>
      <p:sp>
        <p:nvSpPr>
          <p:cNvPr id="22" name="Shape 20"/>
          <p:cNvSpPr/>
          <p:nvPr/>
        </p:nvSpPr>
        <p:spPr>
          <a:xfrm>
            <a:off x="548640" y="4297680"/>
            <a:ext cx="1109442" cy="502920"/>
          </a:xfrm>
          <a:prstGeom prst="rect">
            <a:avLst/>
          </a:prstGeom>
          <a:solidFill>
            <a:srgbClr val="0A5A55"/>
          </a:solidFill>
          <a:ln w="19050">
            <a:solidFill>
              <a:srgbClr val="FFFFFF"/>
            </a:solidFill>
            <a:prstDash val="solid"/>
          </a:ln>
        </p:spPr>
      </p:sp>
      <p:sp>
        <p:nvSpPr>
          <p:cNvPr id="23" name="Text 21"/>
          <p:cNvSpPr txBox="1"/>
          <p:nvPr/>
        </p:nvSpPr>
        <p:spPr>
          <a:xfrm>
            <a:off x="548640" y="4297680"/>
            <a:ext cx="1109442" cy="502920"/>
          </a:xfrm>
          <a:prstGeom prst="rect">
            <a:avLst/>
          </a:prstGeom>
          <a:noFill/>
          <a:ln/>
        </p:spPr>
        <p:txBody>
          <a:bodyPr wrap="square" lIns="0" tIns="0" rIns="0" bIns="0" rtlCol="0" anchor="ctr"/>
          <a:lstStyle/>
          <a:p>
            <a:pPr algn="ctr" indent="0" marL="0">
              <a:buNone/>
            </a:pPr>
            <a:r>
              <a:rPr lang="en-US" sz="1600" b="1" dirty="0">
                <a:solidFill>
                  <a:schemeClr val="bg1"/>
                </a:solidFill>
              </a:rPr>
              <a:t>&lt; 1 s</a:t>
            </a:r>
            <a:endParaRPr lang="en-US" sz="1600" dirty="0"/>
          </a:p>
        </p:txBody>
      </p:sp>
      <p:sp>
        <p:nvSpPr>
          <p:cNvPr id="24" name="Text 22"/>
          <p:cNvSpPr txBox="1"/>
          <p:nvPr/>
        </p:nvSpPr>
        <p:spPr>
          <a:xfrm>
            <a:off x="576072" y="4873752"/>
            <a:ext cx="1054578" cy="502920"/>
          </a:xfrm>
          <a:prstGeom prst="rect">
            <a:avLst/>
          </a:prstGeom>
          <a:noFill/>
          <a:ln/>
        </p:spPr>
        <p:txBody>
          <a:bodyPr wrap="square" lIns="0" tIns="0" rIns="0" bIns="0" rtlCol="0" anchor="t"/>
          <a:lstStyle/>
          <a:p>
            <a:pPr algn="ctr" indent="0" marL="0">
              <a:buNone/>
            </a:pPr>
            <a:r>
              <a:rPr lang="en-US" sz="1300" dirty="0">
                <a:solidFill>
                  <a:schemeClr val="accent6"/>
                </a:solidFill>
              </a:rPr>
              <a:t>capteur → MQTT</a:t>
            </a:r>
            <a:endParaRPr lang="en-US" sz="1300" dirty="0"/>
          </a:p>
        </p:txBody>
      </p:sp>
      <p:sp>
        <p:nvSpPr>
          <p:cNvPr id="25" name="Shape 23"/>
          <p:cNvSpPr/>
          <p:nvPr/>
        </p:nvSpPr>
        <p:spPr>
          <a:xfrm>
            <a:off x="1658082" y="4297680"/>
            <a:ext cx="1109442" cy="502920"/>
          </a:xfrm>
          <a:prstGeom prst="rect">
            <a:avLst/>
          </a:prstGeom>
          <a:solidFill>
            <a:srgbClr val="0E746D"/>
          </a:solidFill>
          <a:ln w="19050">
            <a:solidFill>
              <a:srgbClr val="FFFFFF"/>
            </a:solidFill>
            <a:prstDash val="solid"/>
          </a:ln>
        </p:spPr>
      </p:sp>
      <p:sp>
        <p:nvSpPr>
          <p:cNvPr id="26" name="Text 24"/>
          <p:cNvSpPr txBox="1"/>
          <p:nvPr/>
        </p:nvSpPr>
        <p:spPr>
          <a:xfrm>
            <a:off x="1658082" y="4297680"/>
            <a:ext cx="1109442" cy="502920"/>
          </a:xfrm>
          <a:prstGeom prst="rect">
            <a:avLst/>
          </a:prstGeom>
          <a:noFill/>
          <a:ln/>
        </p:spPr>
        <p:txBody>
          <a:bodyPr wrap="square" lIns="0" tIns="0" rIns="0" bIns="0" rtlCol="0" anchor="ctr"/>
          <a:lstStyle/>
          <a:p>
            <a:pPr algn="ctr" indent="0" marL="0">
              <a:buNone/>
            </a:pPr>
            <a:r>
              <a:rPr lang="en-US" sz="1600" b="1" dirty="0">
                <a:solidFill>
                  <a:schemeClr val="bg1"/>
                </a:solidFill>
              </a:rPr>
              <a:t>&lt; 1 s</a:t>
            </a:r>
            <a:endParaRPr lang="en-US" sz="1600" dirty="0"/>
          </a:p>
        </p:txBody>
      </p:sp>
      <p:sp>
        <p:nvSpPr>
          <p:cNvPr id="27" name="Text 25"/>
          <p:cNvSpPr txBox="1"/>
          <p:nvPr/>
        </p:nvSpPr>
        <p:spPr>
          <a:xfrm>
            <a:off x="1685514" y="4873752"/>
            <a:ext cx="1054578" cy="502920"/>
          </a:xfrm>
          <a:prstGeom prst="rect">
            <a:avLst/>
          </a:prstGeom>
          <a:noFill/>
          <a:ln/>
        </p:spPr>
        <p:txBody>
          <a:bodyPr wrap="square" lIns="0" tIns="0" rIns="0" bIns="0" rtlCol="0" anchor="t"/>
          <a:lstStyle/>
          <a:p>
            <a:pPr algn="ctr" indent="0" marL="0">
              <a:buNone/>
            </a:pPr>
            <a:r>
              <a:rPr lang="en-US" sz="1300" dirty="0">
                <a:solidFill>
                  <a:schemeClr val="accent6"/>
                </a:solidFill>
              </a:rPr>
              <a:t>nœud → AP → passerelle</a:t>
            </a:r>
            <a:endParaRPr lang="en-US" sz="1300" dirty="0"/>
          </a:p>
        </p:txBody>
      </p:sp>
      <p:sp>
        <p:nvSpPr>
          <p:cNvPr id="28" name="Shape 26"/>
          <p:cNvSpPr/>
          <p:nvPr/>
        </p:nvSpPr>
        <p:spPr>
          <a:xfrm>
            <a:off x="2767523" y="4297680"/>
            <a:ext cx="3328325" cy="502920"/>
          </a:xfrm>
          <a:prstGeom prst="rect">
            <a:avLst/>
          </a:prstGeom>
          <a:solidFill>
            <a:srgbClr val="0A5A55"/>
          </a:solidFill>
          <a:ln w="19050">
            <a:solidFill>
              <a:srgbClr val="FFFFFF"/>
            </a:solidFill>
            <a:prstDash val="solid"/>
          </a:ln>
        </p:spPr>
      </p:sp>
      <p:sp>
        <p:nvSpPr>
          <p:cNvPr id="29" name="Text 27"/>
          <p:cNvSpPr txBox="1"/>
          <p:nvPr/>
        </p:nvSpPr>
        <p:spPr>
          <a:xfrm>
            <a:off x="2767523" y="4297680"/>
            <a:ext cx="3328325" cy="502920"/>
          </a:xfrm>
          <a:prstGeom prst="rect">
            <a:avLst/>
          </a:prstGeom>
          <a:noFill/>
          <a:ln/>
        </p:spPr>
        <p:txBody>
          <a:bodyPr wrap="square" lIns="0" tIns="0" rIns="0" bIns="0" rtlCol="0" anchor="ctr"/>
          <a:lstStyle/>
          <a:p>
            <a:pPr algn="ctr" indent="0" marL="0">
              <a:buNone/>
            </a:pPr>
            <a:r>
              <a:rPr lang="en-US" sz="1600" b="1" dirty="0">
                <a:solidFill>
                  <a:schemeClr val="bg1"/>
                </a:solidFill>
              </a:rPr>
              <a:t>&lt; 3 s</a:t>
            </a:r>
            <a:endParaRPr lang="en-US" sz="1600" dirty="0"/>
          </a:p>
        </p:txBody>
      </p:sp>
      <p:sp>
        <p:nvSpPr>
          <p:cNvPr id="30" name="Text 28"/>
          <p:cNvSpPr txBox="1"/>
          <p:nvPr/>
        </p:nvSpPr>
        <p:spPr>
          <a:xfrm>
            <a:off x="2794955" y="4873752"/>
            <a:ext cx="3273461" cy="502920"/>
          </a:xfrm>
          <a:prstGeom prst="rect">
            <a:avLst/>
          </a:prstGeom>
          <a:noFill/>
          <a:ln/>
        </p:spPr>
        <p:txBody>
          <a:bodyPr wrap="square" lIns="0" tIns="0" rIns="0" bIns="0" rtlCol="0" anchor="t"/>
          <a:lstStyle/>
          <a:p>
            <a:pPr algn="ctr" indent="0" marL="0">
              <a:buNone/>
            </a:pPr>
            <a:r>
              <a:rPr lang="en-US" sz="1300" dirty="0">
                <a:solidFill>
                  <a:schemeClr val="accent6"/>
                </a:solidFill>
              </a:rPr>
              <a:t>passerelle → serveur</a:t>
            </a:r>
            <a:endParaRPr lang="en-US" sz="1300" dirty="0"/>
          </a:p>
        </p:txBody>
      </p:sp>
      <p:sp>
        <p:nvSpPr>
          <p:cNvPr id="31" name="Shape 29"/>
          <p:cNvSpPr/>
          <p:nvPr/>
        </p:nvSpPr>
        <p:spPr>
          <a:xfrm>
            <a:off x="6095848" y="4297680"/>
            <a:ext cx="3328325" cy="502920"/>
          </a:xfrm>
          <a:prstGeom prst="rect">
            <a:avLst/>
          </a:prstGeom>
          <a:solidFill>
            <a:srgbClr val="0E746D"/>
          </a:solidFill>
          <a:ln w="19050">
            <a:solidFill>
              <a:srgbClr val="FFFFFF"/>
            </a:solidFill>
            <a:prstDash val="solid"/>
          </a:ln>
        </p:spPr>
      </p:sp>
      <p:sp>
        <p:nvSpPr>
          <p:cNvPr id="32" name="Text 30"/>
          <p:cNvSpPr txBox="1"/>
          <p:nvPr/>
        </p:nvSpPr>
        <p:spPr>
          <a:xfrm>
            <a:off x="6095848" y="4297680"/>
            <a:ext cx="3328325" cy="502920"/>
          </a:xfrm>
          <a:prstGeom prst="rect">
            <a:avLst/>
          </a:prstGeom>
          <a:noFill/>
          <a:ln/>
        </p:spPr>
        <p:txBody>
          <a:bodyPr wrap="square" lIns="0" tIns="0" rIns="0" bIns="0" rtlCol="0" anchor="ctr"/>
          <a:lstStyle/>
          <a:p>
            <a:pPr algn="ctr" indent="0" marL="0">
              <a:buNone/>
            </a:pPr>
            <a:r>
              <a:rPr lang="en-US" sz="1600" b="1" dirty="0">
                <a:solidFill>
                  <a:schemeClr val="bg1"/>
                </a:solidFill>
              </a:rPr>
              <a:t>&lt; 3 s</a:t>
            </a:r>
            <a:endParaRPr lang="en-US" sz="1600" dirty="0"/>
          </a:p>
        </p:txBody>
      </p:sp>
      <p:sp>
        <p:nvSpPr>
          <p:cNvPr id="33" name="Text 31"/>
          <p:cNvSpPr txBox="1"/>
          <p:nvPr/>
        </p:nvSpPr>
        <p:spPr>
          <a:xfrm>
            <a:off x="6123280" y="4873752"/>
            <a:ext cx="3273461" cy="502920"/>
          </a:xfrm>
          <a:prstGeom prst="rect">
            <a:avLst/>
          </a:prstGeom>
          <a:noFill/>
          <a:ln/>
        </p:spPr>
        <p:txBody>
          <a:bodyPr wrap="square" lIns="0" tIns="0" rIns="0" bIns="0" rtlCol="0" anchor="t"/>
          <a:lstStyle/>
          <a:p>
            <a:pPr algn="ctr" indent="0" marL="0">
              <a:buNone/>
            </a:pPr>
            <a:r>
              <a:rPr lang="en-US" sz="1300" dirty="0">
                <a:solidFill>
                  <a:schemeClr val="accent6"/>
                </a:solidFill>
              </a:rPr>
              <a:t>serveur → alerte</a:t>
            </a:r>
            <a:endParaRPr lang="en-US" sz="1300" dirty="0"/>
          </a:p>
        </p:txBody>
      </p:sp>
      <p:sp>
        <p:nvSpPr>
          <p:cNvPr id="34" name="Shape 32"/>
          <p:cNvSpPr/>
          <p:nvPr/>
        </p:nvSpPr>
        <p:spPr>
          <a:xfrm>
            <a:off x="9424172" y="4297680"/>
            <a:ext cx="2218883" cy="502920"/>
          </a:xfrm>
          <a:prstGeom prst="rect">
            <a:avLst/>
          </a:prstGeom>
          <a:solidFill>
            <a:srgbClr val="0A5A55"/>
          </a:solidFill>
          <a:ln w="19050">
            <a:solidFill>
              <a:srgbClr val="FFFFFF"/>
            </a:solidFill>
            <a:prstDash val="solid"/>
          </a:ln>
        </p:spPr>
      </p:sp>
      <p:sp>
        <p:nvSpPr>
          <p:cNvPr id="35" name="Text 33"/>
          <p:cNvSpPr txBox="1"/>
          <p:nvPr/>
        </p:nvSpPr>
        <p:spPr>
          <a:xfrm>
            <a:off x="9424172" y="4297680"/>
            <a:ext cx="2218883" cy="502920"/>
          </a:xfrm>
          <a:prstGeom prst="rect">
            <a:avLst/>
          </a:prstGeom>
          <a:noFill/>
          <a:ln/>
        </p:spPr>
        <p:txBody>
          <a:bodyPr wrap="square" lIns="0" tIns="0" rIns="0" bIns="0" rtlCol="0" anchor="ctr"/>
          <a:lstStyle/>
          <a:p>
            <a:pPr algn="ctr" indent="0" marL="0">
              <a:buNone/>
            </a:pPr>
            <a:r>
              <a:rPr lang="en-US" sz="1600" b="1" dirty="0">
                <a:solidFill>
                  <a:schemeClr val="bg1"/>
                </a:solidFill>
              </a:rPr>
              <a:t>&lt; 2 s</a:t>
            </a:r>
            <a:endParaRPr lang="en-US" sz="1600" dirty="0"/>
          </a:p>
        </p:txBody>
      </p:sp>
      <p:sp>
        <p:nvSpPr>
          <p:cNvPr id="36" name="Text 34"/>
          <p:cNvSpPr txBox="1"/>
          <p:nvPr/>
        </p:nvSpPr>
        <p:spPr>
          <a:xfrm>
            <a:off x="9451604" y="4873752"/>
            <a:ext cx="2164019" cy="502920"/>
          </a:xfrm>
          <a:prstGeom prst="rect">
            <a:avLst/>
          </a:prstGeom>
          <a:noFill/>
          <a:ln/>
        </p:spPr>
        <p:txBody>
          <a:bodyPr wrap="square" lIns="0" tIns="0" rIns="0" bIns="0" rtlCol="0" anchor="t"/>
          <a:lstStyle/>
          <a:p>
            <a:pPr algn="ctr" indent="0" marL="0">
              <a:buNone/>
            </a:pPr>
            <a:r>
              <a:rPr lang="en-US" sz="1300" dirty="0">
                <a:solidFill>
                  <a:schemeClr val="accent6"/>
                </a:solidFill>
              </a:rPr>
              <a:t>alerte → utilisateur</a:t>
            </a:r>
            <a:endParaRPr lang="en-US" sz="1300" dirty="0"/>
          </a:p>
        </p:txBody>
      </p:sp>
      <p:sp>
        <p:nvSpPr>
          <p:cNvPr id="37" name="Text 35"/>
          <p:cNvSpPr txBox="1"/>
          <p:nvPr/>
        </p:nvSpPr>
        <p:spPr>
          <a:xfrm>
            <a:off x="548640" y="5623560"/>
            <a:ext cx="11094415" cy="365760"/>
          </a:xfrm>
          <a:prstGeom prst="rect">
            <a:avLst/>
          </a:prstGeom>
          <a:noFill/>
          <a:ln/>
        </p:spPr>
        <p:txBody>
          <a:bodyPr wrap="square" lIns="0" tIns="0" rIns="0" bIns="0" rtlCol="0" anchor="t"/>
          <a:lstStyle/>
          <a:p>
            <a:pPr indent="0" marL="0">
              <a:buNone/>
            </a:pPr>
            <a:r>
              <a:rPr lang="en-US" sz="1800" dirty="0">
                <a:solidFill>
                  <a:schemeClr val="tx1"/>
                </a:solidFill>
              </a:rPr>
              <a:t>Ici passerelle et serveur sont le même Raspberry Pi : le segment de 3 s devient presque nul.</a:t>
            </a:r>
            <a:endParaRPr lang="en-US" sz="18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B6B7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548640" y="713232"/>
            <a:ext cx="11094415" cy="868680"/>
          </a:xfrm>
          <a:prstGeom prst="rect">
            <a:avLst/>
          </a:prstGeom>
          <a:noFill/>
          <a:ln/>
        </p:spPr>
        <p:txBody>
          <a:bodyPr wrap="square" lIns="0" tIns="0" rIns="0" bIns="0" rtlCol="0" anchor="t"/>
          <a:lstStyle/>
          <a:p>
            <a:pPr algn="l" indent="0" marL="0">
              <a:buNone/>
            </a:pPr>
            <a:r>
              <a:rPr lang="en-US" sz="3000" b="1" dirty="0">
                <a:solidFill>
                  <a:srgbClr val="17293B"/>
                </a:solidFill>
              </a:rPr>
              <a:t>9 nœuds et une passerelle placés dans les 8 zones de l'usine</a:t>
            </a:r>
            <a:endParaRPr lang="en-US" sz="3000" dirty="0"/>
          </a:p>
        </p:txBody>
      </p:sp>
      <p:pic>
        <p:nvPicPr>
          <p:cNvPr id="3" name="Image 0" descr="D:\IFRI\Réseaux de capteurs\architecture\plan_implantation.png">    </p:cNvPr>
          <p:cNvPicPr>
            <a:picLocks noChangeAspect="1"/>
          </p:cNvPicPr>
          <p:nvPr/>
        </p:nvPicPr>
        <p:blipFill>
          <a:blip r:embed="rId1"/>
          <a:stretch>
            <a:fillRect/>
          </a:stretch>
        </p:blipFill>
        <p:spPr>
          <a:xfrm>
            <a:off x="548640" y="1737360"/>
            <a:ext cx="7452360" cy="4502468"/>
          </a:xfrm>
          <a:prstGeom prst="rect">
            <a:avLst/>
          </a:prstGeom>
        </p:spPr>
      </p:pic>
      <p:sp>
        <p:nvSpPr>
          <p:cNvPr id="4" name="Shape 1"/>
          <p:cNvSpPr/>
          <p:nvPr/>
        </p:nvSpPr>
        <p:spPr>
          <a:xfrm>
            <a:off x="8366760" y="1828800"/>
            <a:ext cx="411480" cy="274320"/>
          </a:xfrm>
          <a:prstGeom prst="roundRect">
            <a:avLst>
              <a:gd name="adj" fmla="val 20000"/>
            </a:avLst>
          </a:prstGeom>
          <a:solidFill>
            <a:srgbClr val="0E746D"/>
          </a:solidFill>
          <a:ln w="12700">
            <a:solidFill>
              <a:srgbClr val="0E746D"/>
            </a:solidFill>
            <a:prstDash val="solid"/>
          </a:ln>
        </p:spPr>
      </p:sp>
      <p:sp>
        <p:nvSpPr>
          <p:cNvPr id="5" name="Text 2"/>
          <p:cNvSpPr txBox="1"/>
          <p:nvPr/>
        </p:nvSpPr>
        <p:spPr>
          <a:xfrm>
            <a:off x="8366760" y="1828800"/>
            <a:ext cx="411480" cy="274320"/>
          </a:xfrm>
          <a:prstGeom prst="rect">
            <a:avLst/>
          </a:prstGeom>
          <a:noFill/>
          <a:ln/>
        </p:spPr>
        <p:txBody>
          <a:bodyPr wrap="square" lIns="0" tIns="0" rIns="0" bIns="0" rtlCol="0" anchor="ctr"/>
          <a:lstStyle/>
          <a:p>
            <a:pPr algn="ctr" indent="0" marL="0">
              <a:buNone/>
            </a:pPr>
            <a:r>
              <a:rPr lang="en-US" sz="1100" b="1" dirty="0">
                <a:solidFill>
                  <a:schemeClr val="bg1"/>
                </a:solidFill>
              </a:rPr>
              <a:t> </a:t>
            </a:r>
            <a:endParaRPr lang="en-US" sz="1100" dirty="0"/>
          </a:p>
        </p:txBody>
      </p:sp>
      <p:sp>
        <p:nvSpPr>
          <p:cNvPr id="6" name="Text 3"/>
          <p:cNvSpPr txBox="1"/>
          <p:nvPr/>
        </p:nvSpPr>
        <p:spPr>
          <a:xfrm>
            <a:off x="8869680" y="1783080"/>
            <a:ext cx="2773375" cy="1005840"/>
          </a:xfrm>
          <a:prstGeom prst="rect">
            <a:avLst/>
          </a:prstGeom>
          <a:noFill/>
          <a:ln/>
        </p:spPr>
        <p:txBody>
          <a:bodyPr wrap="square" lIns="0" tIns="0" rIns="0" bIns="0" rtlCol="0" anchor="t"/>
          <a:lstStyle/>
          <a:p>
            <a:pPr indent="0" marL="0">
              <a:buNone/>
            </a:pPr>
            <a:r>
              <a:rPr lang="en-US" sz="1800" dirty="0">
                <a:solidFill>
                  <a:schemeClr val="tx1"/>
                </a:solidFill>
              </a:rPr>
              <a:t>Point d'accès au centre du plafond : P3, le plus loin, est à 22,7 m</a:t>
            </a:r>
            <a:endParaRPr lang="en-US" sz="1800" dirty="0"/>
          </a:p>
        </p:txBody>
      </p:sp>
      <p:sp>
        <p:nvSpPr>
          <p:cNvPr id="7" name="Shape 4"/>
          <p:cNvSpPr/>
          <p:nvPr/>
        </p:nvSpPr>
        <p:spPr>
          <a:xfrm>
            <a:off x="8366760" y="2944368"/>
            <a:ext cx="274320" cy="274320"/>
          </a:xfrm>
          <a:prstGeom prst="ellipse">
            <a:avLst/>
          </a:prstGeom>
          <a:solidFill>
            <a:srgbClr val="C63F29"/>
          </a:solidFill>
          <a:ln w="12700">
            <a:solidFill>
              <a:srgbClr val="C63F29"/>
            </a:solidFill>
            <a:prstDash val="solid"/>
          </a:ln>
        </p:spPr>
      </p:sp>
      <p:sp>
        <p:nvSpPr>
          <p:cNvPr id="8" name="Text 5"/>
          <p:cNvSpPr txBox="1"/>
          <p:nvPr/>
        </p:nvSpPr>
        <p:spPr>
          <a:xfrm>
            <a:off x="8366760" y="2944368"/>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 </a:t>
            </a:r>
            <a:endParaRPr lang="en-US" sz="1100" dirty="0"/>
          </a:p>
        </p:txBody>
      </p:sp>
      <p:sp>
        <p:nvSpPr>
          <p:cNvPr id="9" name="Shape 6"/>
          <p:cNvSpPr/>
          <p:nvPr/>
        </p:nvSpPr>
        <p:spPr>
          <a:xfrm>
            <a:off x="8366760" y="3310128"/>
            <a:ext cx="274320" cy="274320"/>
          </a:xfrm>
          <a:prstGeom prst="rect">
            <a:avLst/>
          </a:prstGeom>
          <a:solidFill>
            <a:srgbClr val="1F66AE"/>
          </a:solidFill>
          <a:ln w="12700">
            <a:solidFill>
              <a:srgbClr val="1F66AE"/>
            </a:solidFill>
            <a:prstDash val="solid"/>
          </a:ln>
        </p:spPr>
      </p:sp>
      <p:sp>
        <p:nvSpPr>
          <p:cNvPr id="10" name="Text 7"/>
          <p:cNvSpPr txBox="1"/>
          <p:nvPr/>
        </p:nvSpPr>
        <p:spPr>
          <a:xfrm>
            <a:off x="8366760" y="3310128"/>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 </a:t>
            </a:r>
            <a:endParaRPr lang="en-US" sz="1100" dirty="0"/>
          </a:p>
        </p:txBody>
      </p:sp>
      <p:sp>
        <p:nvSpPr>
          <p:cNvPr id="11" name="Text 8"/>
          <p:cNvSpPr txBox="1"/>
          <p:nvPr/>
        </p:nvSpPr>
        <p:spPr>
          <a:xfrm>
            <a:off x="8869680" y="2898648"/>
            <a:ext cx="2773375" cy="1005840"/>
          </a:xfrm>
          <a:prstGeom prst="rect">
            <a:avLst/>
          </a:prstGeom>
          <a:noFill/>
          <a:ln/>
        </p:spPr>
        <p:txBody>
          <a:bodyPr wrap="square" lIns="0" tIns="0" rIns="0" bIns="0" rtlCol="0" anchor="t"/>
          <a:lstStyle/>
          <a:p>
            <a:pPr indent="0" marL="0">
              <a:buNone/>
            </a:pPr>
            <a:r>
              <a:rPr lang="en-US" sz="1800" dirty="0">
                <a:solidFill>
                  <a:schemeClr val="tx1"/>
                </a:solidFill>
              </a:rPr>
              <a:t>T1–T3 sur les machines, C1–C3 en sortie de chaque poste</a:t>
            </a:r>
            <a:endParaRPr lang="en-US" sz="1800" dirty="0"/>
          </a:p>
        </p:txBody>
      </p:sp>
      <p:sp>
        <p:nvSpPr>
          <p:cNvPr id="12" name="Shape 9"/>
          <p:cNvSpPr/>
          <p:nvPr/>
        </p:nvSpPr>
        <p:spPr>
          <a:xfrm>
            <a:off x="8366760" y="4059936"/>
            <a:ext cx="274320" cy="274320"/>
          </a:xfrm>
          <a:prstGeom prst="diamond">
            <a:avLst/>
          </a:prstGeom>
          <a:solidFill>
            <a:srgbClr val="7B3FAF"/>
          </a:solidFill>
          <a:ln w="12700">
            <a:solidFill>
              <a:srgbClr val="7B3FAF"/>
            </a:solidFill>
            <a:prstDash val="solid"/>
          </a:ln>
        </p:spPr>
      </p:sp>
      <p:sp>
        <p:nvSpPr>
          <p:cNvPr id="13" name="Text 10"/>
          <p:cNvSpPr txBox="1"/>
          <p:nvPr/>
        </p:nvSpPr>
        <p:spPr>
          <a:xfrm>
            <a:off x="8366760" y="4059936"/>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 </a:t>
            </a:r>
            <a:endParaRPr lang="en-US" sz="1100" dirty="0"/>
          </a:p>
        </p:txBody>
      </p:sp>
      <p:sp>
        <p:nvSpPr>
          <p:cNvPr id="14" name="Text 11"/>
          <p:cNvSpPr txBox="1"/>
          <p:nvPr/>
        </p:nvSpPr>
        <p:spPr>
          <a:xfrm>
            <a:off x="8869680" y="4014216"/>
            <a:ext cx="2773375" cy="1005840"/>
          </a:xfrm>
          <a:prstGeom prst="rect">
            <a:avLst/>
          </a:prstGeom>
          <a:noFill/>
          <a:ln/>
        </p:spPr>
        <p:txBody>
          <a:bodyPr wrap="square" lIns="0" tIns="0" rIns="0" bIns="0" rtlCol="0" anchor="t"/>
          <a:lstStyle/>
          <a:p>
            <a:pPr indent="0" marL="0">
              <a:buNone/>
            </a:pPr>
            <a:r>
              <a:rPr lang="en-US" sz="1800" dirty="0">
                <a:solidFill>
                  <a:schemeClr val="tx1"/>
                </a:solidFill>
              </a:rPr>
              <a:t>P1–P3 face aux 3 portes, avec un buzzer local</a:t>
            </a:r>
            <a:endParaRPr lang="en-US" sz="1800" dirty="0"/>
          </a:p>
        </p:txBody>
      </p:sp>
      <p:sp>
        <p:nvSpPr>
          <p:cNvPr id="15" name="Shape 12"/>
          <p:cNvSpPr/>
          <p:nvPr/>
        </p:nvSpPr>
        <p:spPr>
          <a:xfrm>
            <a:off x="8366760" y="5175504"/>
            <a:ext cx="411480" cy="274320"/>
          </a:xfrm>
          <a:prstGeom prst="roundRect">
            <a:avLst>
              <a:gd name="adj" fmla="val 20000"/>
            </a:avLst>
          </a:prstGeom>
          <a:solidFill>
            <a:srgbClr val="0E746D"/>
          </a:solidFill>
          <a:ln w="12700">
            <a:solidFill>
              <a:srgbClr val="0E746D"/>
            </a:solidFill>
            <a:prstDash val="solid"/>
          </a:ln>
        </p:spPr>
      </p:sp>
      <p:sp>
        <p:nvSpPr>
          <p:cNvPr id="16" name="Text 13"/>
          <p:cNvSpPr txBox="1"/>
          <p:nvPr/>
        </p:nvSpPr>
        <p:spPr>
          <a:xfrm>
            <a:off x="8366760" y="5175504"/>
            <a:ext cx="411480" cy="274320"/>
          </a:xfrm>
          <a:prstGeom prst="rect">
            <a:avLst/>
          </a:prstGeom>
          <a:noFill/>
          <a:ln/>
        </p:spPr>
        <p:txBody>
          <a:bodyPr wrap="square" lIns="0" tIns="0" rIns="0" bIns="0" rtlCol="0" anchor="ctr"/>
          <a:lstStyle/>
          <a:p>
            <a:pPr algn="ctr" indent="0" marL="0">
              <a:buNone/>
            </a:pPr>
            <a:r>
              <a:rPr lang="en-US" sz="1100" b="1" dirty="0">
                <a:solidFill>
                  <a:schemeClr val="bg1"/>
                </a:solidFill>
              </a:rPr>
              <a:t> </a:t>
            </a:r>
            <a:endParaRPr lang="en-US" sz="1100" dirty="0"/>
          </a:p>
        </p:txBody>
      </p:sp>
      <p:sp>
        <p:nvSpPr>
          <p:cNvPr id="17" name="Text 14"/>
          <p:cNvSpPr txBox="1"/>
          <p:nvPr/>
        </p:nvSpPr>
        <p:spPr>
          <a:xfrm>
            <a:off x="8869680" y="5129784"/>
            <a:ext cx="2773375" cy="1005840"/>
          </a:xfrm>
          <a:prstGeom prst="rect">
            <a:avLst/>
          </a:prstGeom>
          <a:noFill/>
          <a:ln/>
        </p:spPr>
        <p:txBody>
          <a:bodyPr wrap="square" lIns="0" tIns="0" rIns="0" bIns="0" rtlCol="0" anchor="t"/>
          <a:lstStyle/>
          <a:p>
            <a:pPr indent="0" marL="0">
              <a:buNone/>
            </a:pPr>
            <a:r>
              <a:rPr lang="en-US" sz="1800" dirty="0">
                <a:solidFill>
                  <a:schemeClr val="tx1"/>
                </a:solidFill>
              </a:rPr>
              <a:t>Passerelle en Z3, accessible seulement depuis la salle de contrôle</a:t>
            </a:r>
            <a:endParaRPr lang="en-US" sz="18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B6B7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548640" y="713232"/>
            <a:ext cx="11094415" cy="868680"/>
          </a:xfrm>
          <a:prstGeom prst="rect">
            <a:avLst/>
          </a:prstGeom>
          <a:noFill/>
          <a:ln/>
        </p:spPr>
        <p:txBody>
          <a:bodyPr wrap="square" lIns="0" tIns="0" rIns="0" bIns="0" rtlCol="0" anchor="t"/>
          <a:lstStyle/>
          <a:p>
            <a:pPr algn="l" indent="0" marL="0">
              <a:buNone/>
            </a:pPr>
            <a:r>
              <a:rPr lang="en-US" sz="3000" b="1" dirty="0">
                <a:solidFill>
                  <a:srgbClr val="17293B"/>
                </a:solidFill>
              </a:rPr>
              <a:t>Chaque machine a son capteur et son propre seuil d'alerte</a:t>
            </a:r>
            <a:endParaRPr lang="en-US" sz="3000" dirty="0"/>
          </a:p>
        </p:txBody>
      </p:sp>
      <p:sp>
        <p:nvSpPr>
          <p:cNvPr id="3" name="Shape 1"/>
          <p:cNvSpPr/>
          <p:nvPr/>
        </p:nvSpPr>
        <p:spPr>
          <a:xfrm>
            <a:off x="548640" y="1783080"/>
            <a:ext cx="3520440" cy="2240280"/>
          </a:xfrm>
          <a:prstGeom prst="rect">
            <a:avLst/>
          </a:prstGeom>
          <a:solidFill>
            <a:schemeClr val="bg2"/>
          </a:solidFill>
          <a:ln w="12700">
            <a:solidFill>
              <a:schemeClr val="bg2"/>
            </a:solidFill>
            <a:prstDash val="solid"/>
          </a:ln>
        </p:spPr>
      </p:sp>
      <p:sp>
        <p:nvSpPr>
          <p:cNvPr id="4" name="Shape 2"/>
          <p:cNvSpPr/>
          <p:nvPr/>
        </p:nvSpPr>
        <p:spPr>
          <a:xfrm>
            <a:off x="822960" y="2057400"/>
            <a:ext cx="411480" cy="411480"/>
          </a:xfrm>
          <a:prstGeom prst="ellipse">
            <a:avLst/>
          </a:prstGeom>
          <a:solidFill>
            <a:srgbClr val="C63F29"/>
          </a:solidFill>
          <a:ln w="12700">
            <a:solidFill>
              <a:srgbClr val="C63F29"/>
            </a:solidFill>
            <a:prstDash val="solid"/>
          </a:ln>
        </p:spPr>
      </p:sp>
      <p:sp>
        <p:nvSpPr>
          <p:cNvPr id="5" name="Text 3"/>
          <p:cNvSpPr txBox="1"/>
          <p:nvPr/>
        </p:nvSpPr>
        <p:spPr>
          <a:xfrm>
            <a:off x="822960" y="2057400"/>
            <a:ext cx="411480" cy="411480"/>
          </a:xfrm>
          <a:prstGeom prst="rect">
            <a:avLst/>
          </a:prstGeom>
          <a:noFill/>
          <a:ln/>
        </p:spPr>
        <p:txBody>
          <a:bodyPr wrap="square" lIns="0" tIns="0" rIns="0" bIns="0" rtlCol="0" anchor="ctr"/>
          <a:lstStyle/>
          <a:p>
            <a:pPr algn="ctr" indent="0" marL="0">
              <a:buNone/>
            </a:pPr>
            <a:r>
              <a:rPr lang="en-US" sz="1100" b="1" dirty="0">
                <a:solidFill>
                  <a:schemeClr val="bg1"/>
                </a:solidFill>
              </a:rPr>
              <a:t>T1</a:t>
            </a:r>
            <a:endParaRPr lang="en-US" sz="1100" dirty="0"/>
          </a:p>
        </p:txBody>
      </p:sp>
      <p:sp>
        <p:nvSpPr>
          <p:cNvPr id="6" name="Text 4"/>
          <p:cNvSpPr txBox="1"/>
          <p:nvPr/>
        </p:nvSpPr>
        <p:spPr>
          <a:xfrm>
            <a:off x="1417320" y="2057400"/>
            <a:ext cx="2423160" cy="411480"/>
          </a:xfrm>
          <a:prstGeom prst="rect">
            <a:avLst/>
          </a:prstGeom>
          <a:noFill/>
          <a:ln/>
        </p:spPr>
        <p:txBody>
          <a:bodyPr wrap="square" lIns="0" tIns="0" rIns="0" bIns="0" rtlCol="0" anchor="ctr"/>
          <a:lstStyle/>
          <a:p>
            <a:pPr indent="0" marL="0">
              <a:buNone/>
            </a:pPr>
            <a:r>
              <a:rPr lang="en-US" sz="2000" b="1" dirty="0">
                <a:solidFill>
                  <a:schemeClr val="tx1"/>
                </a:solidFill>
              </a:rPr>
              <a:t>M1 · Découpe</a:t>
            </a:r>
            <a:endParaRPr lang="en-US" sz="2000" dirty="0"/>
          </a:p>
        </p:txBody>
      </p:sp>
      <p:sp>
        <p:nvSpPr>
          <p:cNvPr id="7" name="Text 5"/>
          <p:cNvSpPr txBox="1"/>
          <p:nvPr/>
        </p:nvSpPr>
        <p:spPr>
          <a:xfrm>
            <a:off x="822960" y="2560320"/>
            <a:ext cx="1874520" cy="640080"/>
          </a:xfrm>
          <a:prstGeom prst="rect">
            <a:avLst/>
          </a:prstGeom>
          <a:noFill/>
          <a:ln/>
        </p:spPr>
        <p:txBody>
          <a:bodyPr wrap="square" lIns="0" tIns="0" rIns="0" bIns="0" rtlCol="0" anchor="ctr"/>
          <a:lstStyle/>
          <a:p>
            <a:pPr indent="0" marL="0">
              <a:buNone/>
            </a:pPr>
            <a:r>
              <a:rPr lang="en-US" sz="1600" dirty="0">
                <a:solidFill>
                  <a:schemeClr val="accent6"/>
                </a:solidFill>
              </a:rPr>
              <a:t>seuil </a:t>
            </a:r>
            <a:pPr indent="0" marL="0">
              <a:buNone/>
            </a:pPr>
            <a:r>
              <a:rPr lang="en-US" sz="3600" b="1" dirty="0">
                <a:solidFill>
                  <a:schemeClr val="tx1"/>
                </a:solidFill>
              </a:rPr>
              <a:t>85 °C</a:t>
            </a:r>
            <a:endParaRPr lang="en-US" sz="1800" dirty="0"/>
          </a:p>
        </p:txBody>
      </p:sp>
      <p:sp>
        <p:nvSpPr>
          <p:cNvPr id="8" name="Text 6"/>
          <p:cNvSpPr txBox="1"/>
          <p:nvPr/>
        </p:nvSpPr>
        <p:spPr>
          <a:xfrm>
            <a:off x="822960" y="3246120"/>
            <a:ext cx="1874520" cy="731520"/>
          </a:xfrm>
          <a:prstGeom prst="rect">
            <a:avLst/>
          </a:prstGeom>
          <a:noFill/>
          <a:ln/>
        </p:spPr>
        <p:txBody>
          <a:bodyPr wrap="square" lIns="0" tIns="0" rIns="0" bIns="0" rtlCol="0" anchor="t"/>
          <a:lstStyle/>
          <a:p>
            <a:pPr indent="0" marL="0">
              <a:buNone/>
            </a:pPr>
            <a:r>
              <a:rPr lang="en-US" sz="1600" dirty="0">
                <a:solidFill>
                  <a:schemeClr val="accent6"/>
                </a:solidFill>
              </a:rPr>
              <a:t>Sonde DS18B20</a:t>
            </a:r>
            <a:endParaRPr lang="en-US" sz="1600" dirty="0"/>
          </a:p>
        </p:txBody>
      </p:sp>
      <p:pic>
        <p:nvPicPr>
          <p:cNvPr id="9" name="Image 0" descr="Sonde DS18B20">    </p:cNvPr>
          <p:cNvPicPr>
            <a:picLocks noChangeAspect="1"/>
          </p:cNvPicPr>
          <p:nvPr/>
        </p:nvPicPr>
        <p:blipFill>
          <a:blip r:embed="rId1"/>
          <a:stretch>
            <a:fillRect/>
          </a:stretch>
        </p:blipFill>
        <p:spPr>
          <a:xfrm>
            <a:off x="2697480" y="2697480"/>
            <a:ext cx="1188720" cy="891540"/>
          </a:xfrm>
          <a:prstGeom prst="rect">
            <a:avLst/>
          </a:prstGeom>
        </p:spPr>
      </p:pic>
      <p:sp>
        <p:nvSpPr>
          <p:cNvPr id="10" name="Shape 7"/>
          <p:cNvSpPr/>
          <p:nvPr/>
        </p:nvSpPr>
        <p:spPr>
          <a:xfrm>
            <a:off x="4335628" y="1783080"/>
            <a:ext cx="3520440" cy="2240280"/>
          </a:xfrm>
          <a:prstGeom prst="rect">
            <a:avLst/>
          </a:prstGeom>
          <a:solidFill>
            <a:schemeClr val="bg2"/>
          </a:solidFill>
          <a:ln w="12700">
            <a:solidFill>
              <a:schemeClr val="bg2"/>
            </a:solidFill>
            <a:prstDash val="solid"/>
          </a:ln>
        </p:spPr>
      </p:sp>
      <p:sp>
        <p:nvSpPr>
          <p:cNvPr id="11" name="Shape 8"/>
          <p:cNvSpPr/>
          <p:nvPr/>
        </p:nvSpPr>
        <p:spPr>
          <a:xfrm>
            <a:off x="4609948" y="2057400"/>
            <a:ext cx="411480" cy="411480"/>
          </a:xfrm>
          <a:prstGeom prst="ellipse">
            <a:avLst/>
          </a:prstGeom>
          <a:solidFill>
            <a:srgbClr val="C63F29"/>
          </a:solidFill>
          <a:ln w="12700">
            <a:solidFill>
              <a:srgbClr val="C63F29"/>
            </a:solidFill>
            <a:prstDash val="solid"/>
          </a:ln>
        </p:spPr>
      </p:sp>
      <p:sp>
        <p:nvSpPr>
          <p:cNvPr id="12" name="Text 9"/>
          <p:cNvSpPr txBox="1"/>
          <p:nvPr/>
        </p:nvSpPr>
        <p:spPr>
          <a:xfrm>
            <a:off x="4609948" y="2057400"/>
            <a:ext cx="411480" cy="411480"/>
          </a:xfrm>
          <a:prstGeom prst="rect">
            <a:avLst/>
          </a:prstGeom>
          <a:noFill/>
          <a:ln/>
        </p:spPr>
        <p:txBody>
          <a:bodyPr wrap="square" lIns="0" tIns="0" rIns="0" bIns="0" rtlCol="0" anchor="ctr"/>
          <a:lstStyle/>
          <a:p>
            <a:pPr algn="ctr" indent="0" marL="0">
              <a:buNone/>
            </a:pPr>
            <a:r>
              <a:rPr lang="en-US" sz="1100" b="1" dirty="0">
                <a:solidFill>
                  <a:schemeClr val="bg1"/>
                </a:solidFill>
              </a:rPr>
              <a:t>T2</a:t>
            </a:r>
            <a:endParaRPr lang="en-US" sz="1100" dirty="0"/>
          </a:p>
        </p:txBody>
      </p:sp>
      <p:sp>
        <p:nvSpPr>
          <p:cNvPr id="13" name="Text 10"/>
          <p:cNvSpPr txBox="1"/>
          <p:nvPr/>
        </p:nvSpPr>
        <p:spPr>
          <a:xfrm>
            <a:off x="5204308" y="2057400"/>
            <a:ext cx="2423160" cy="411480"/>
          </a:xfrm>
          <a:prstGeom prst="rect">
            <a:avLst/>
          </a:prstGeom>
          <a:noFill/>
          <a:ln/>
        </p:spPr>
        <p:txBody>
          <a:bodyPr wrap="square" lIns="0" tIns="0" rIns="0" bIns="0" rtlCol="0" anchor="ctr"/>
          <a:lstStyle/>
          <a:p>
            <a:pPr indent="0" marL="0">
              <a:buNone/>
            </a:pPr>
            <a:r>
              <a:rPr lang="en-US" sz="2000" b="1" dirty="0">
                <a:solidFill>
                  <a:schemeClr val="tx1"/>
                </a:solidFill>
              </a:rPr>
              <a:t>M2 · Presse</a:t>
            </a:r>
            <a:endParaRPr lang="en-US" sz="2000" dirty="0"/>
          </a:p>
        </p:txBody>
      </p:sp>
      <p:sp>
        <p:nvSpPr>
          <p:cNvPr id="14" name="Text 11"/>
          <p:cNvSpPr txBox="1"/>
          <p:nvPr/>
        </p:nvSpPr>
        <p:spPr>
          <a:xfrm>
            <a:off x="4609948" y="2560320"/>
            <a:ext cx="1874520" cy="640080"/>
          </a:xfrm>
          <a:prstGeom prst="rect">
            <a:avLst/>
          </a:prstGeom>
          <a:noFill/>
          <a:ln/>
        </p:spPr>
        <p:txBody>
          <a:bodyPr wrap="square" lIns="0" tIns="0" rIns="0" bIns="0" rtlCol="0" anchor="ctr"/>
          <a:lstStyle/>
          <a:p>
            <a:pPr indent="0" marL="0">
              <a:buNone/>
            </a:pPr>
            <a:r>
              <a:rPr lang="en-US" sz="1600" dirty="0">
                <a:solidFill>
                  <a:schemeClr val="accent6"/>
                </a:solidFill>
              </a:rPr>
              <a:t>seuil </a:t>
            </a:r>
            <a:pPr indent="0" marL="0">
              <a:buNone/>
            </a:pPr>
            <a:r>
              <a:rPr lang="en-US" sz="3600" b="1" dirty="0">
                <a:solidFill>
                  <a:schemeClr val="tx1"/>
                </a:solidFill>
              </a:rPr>
              <a:t>90 °C</a:t>
            </a:r>
            <a:endParaRPr lang="en-US" sz="1800" dirty="0"/>
          </a:p>
        </p:txBody>
      </p:sp>
      <p:sp>
        <p:nvSpPr>
          <p:cNvPr id="15" name="Text 12"/>
          <p:cNvSpPr txBox="1"/>
          <p:nvPr/>
        </p:nvSpPr>
        <p:spPr>
          <a:xfrm>
            <a:off x="4609948" y="3246120"/>
            <a:ext cx="1874520" cy="731520"/>
          </a:xfrm>
          <a:prstGeom prst="rect">
            <a:avLst/>
          </a:prstGeom>
          <a:noFill/>
          <a:ln/>
        </p:spPr>
        <p:txBody>
          <a:bodyPr wrap="square" lIns="0" tIns="0" rIns="0" bIns="0" rtlCol="0" anchor="t"/>
          <a:lstStyle/>
          <a:p>
            <a:pPr indent="0" marL="0">
              <a:buNone/>
            </a:pPr>
            <a:r>
              <a:rPr lang="en-US" sz="1600" dirty="0">
                <a:solidFill>
                  <a:schemeClr val="accent6"/>
                </a:solidFill>
              </a:rPr>
              <a:t>Sonde DS18B20</a:t>
            </a:r>
            <a:endParaRPr lang="en-US" sz="1600" dirty="0"/>
          </a:p>
        </p:txBody>
      </p:sp>
      <p:pic>
        <p:nvPicPr>
          <p:cNvPr id="16" name="Image 1" descr="Sonde DS18B20">    </p:cNvPr>
          <p:cNvPicPr>
            <a:picLocks noChangeAspect="1"/>
          </p:cNvPicPr>
          <p:nvPr/>
        </p:nvPicPr>
        <p:blipFill>
          <a:blip r:embed="rId2"/>
          <a:stretch>
            <a:fillRect/>
          </a:stretch>
        </p:blipFill>
        <p:spPr>
          <a:xfrm>
            <a:off x="6484468" y="2697480"/>
            <a:ext cx="1188720" cy="891540"/>
          </a:xfrm>
          <a:prstGeom prst="rect">
            <a:avLst/>
          </a:prstGeom>
        </p:spPr>
      </p:pic>
      <p:sp>
        <p:nvSpPr>
          <p:cNvPr id="17" name="Shape 13"/>
          <p:cNvSpPr/>
          <p:nvPr/>
        </p:nvSpPr>
        <p:spPr>
          <a:xfrm>
            <a:off x="8122615" y="1783080"/>
            <a:ext cx="3520440" cy="2240280"/>
          </a:xfrm>
          <a:prstGeom prst="rect">
            <a:avLst/>
          </a:prstGeom>
          <a:solidFill>
            <a:schemeClr val="bg2"/>
          </a:solidFill>
          <a:ln w="12700">
            <a:solidFill>
              <a:schemeClr val="bg2"/>
            </a:solidFill>
            <a:prstDash val="solid"/>
          </a:ln>
        </p:spPr>
      </p:sp>
      <p:sp>
        <p:nvSpPr>
          <p:cNvPr id="18" name="Shape 14"/>
          <p:cNvSpPr/>
          <p:nvPr/>
        </p:nvSpPr>
        <p:spPr>
          <a:xfrm>
            <a:off x="8396935" y="2057400"/>
            <a:ext cx="411480" cy="411480"/>
          </a:xfrm>
          <a:prstGeom prst="ellipse">
            <a:avLst/>
          </a:prstGeom>
          <a:solidFill>
            <a:srgbClr val="C63F29"/>
          </a:solidFill>
          <a:ln w="12700">
            <a:solidFill>
              <a:srgbClr val="C63F29"/>
            </a:solidFill>
            <a:prstDash val="solid"/>
          </a:ln>
        </p:spPr>
      </p:sp>
      <p:sp>
        <p:nvSpPr>
          <p:cNvPr id="19" name="Text 15"/>
          <p:cNvSpPr txBox="1"/>
          <p:nvPr/>
        </p:nvSpPr>
        <p:spPr>
          <a:xfrm>
            <a:off x="8396935" y="2057400"/>
            <a:ext cx="411480" cy="411480"/>
          </a:xfrm>
          <a:prstGeom prst="rect">
            <a:avLst/>
          </a:prstGeom>
          <a:noFill/>
          <a:ln/>
        </p:spPr>
        <p:txBody>
          <a:bodyPr wrap="square" lIns="0" tIns="0" rIns="0" bIns="0" rtlCol="0" anchor="ctr"/>
          <a:lstStyle/>
          <a:p>
            <a:pPr algn="ctr" indent="0" marL="0">
              <a:buNone/>
            </a:pPr>
            <a:r>
              <a:rPr lang="en-US" sz="1100" b="1" dirty="0">
                <a:solidFill>
                  <a:schemeClr val="bg1"/>
                </a:solidFill>
              </a:rPr>
              <a:t>T3</a:t>
            </a:r>
            <a:endParaRPr lang="en-US" sz="1100" dirty="0"/>
          </a:p>
        </p:txBody>
      </p:sp>
      <p:sp>
        <p:nvSpPr>
          <p:cNvPr id="20" name="Text 16"/>
          <p:cNvSpPr txBox="1"/>
          <p:nvPr/>
        </p:nvSpPr>
        <p:spPr>
          <a:xfrm>
            <a:off x="8991295" y="2057400"/>
            <a:ext cx="2423160" cy="411480"/>
          </a:xfrm>
          <a:prstGeom prst="rect">
            <a:avLst/>
          </a:prstGeom>
          <a:noFill/>
          <a:ln/>
        </p:spPr>
        <p:txBody>
          <a:bodyPr wrap="square" lIns="0" tIns="0" rIns="0" bIns="0" rtlCol="0" anchor="ctr"/>
          <a:lstStyle/>
          <a:p>
            <a:pPr indent="0" marL="0">
              <a:buNone/>
            </a:pPr>
            <a:r>
              <a:rPr lang="en-US" sz="2000" b="1" dirty="0">
                <a:solidFill>
                  <a:schemeClr val="tx1"/>
                </a:solidFill>
              </a:rPr>
              <a:t>M3 · Four</a:t>
            </a:r>
            <a:endParaRPr lang="en-US" sz="2000" dirty="0"/>
          </a:p>
        </p:txBody>
      </p:sp>
      <p:sp>
        <p:nvSpPr>
          <p:cNvPr id="21" name="Text 17"/>
          <p:cNvSpPr txBox="1"/>
          <p:nvPr/>
        </p:nvSpPr>
        <p:spPr>
          <a:xfrm>
            <a:off x="8396935" y="2560320"/>
            <a:ext cx="1874520" cy="640080"/>
          </a:xfrm>
          <a:prstGeom prst="rect">
            <a:avLst/>
          </a:prstGeom>
          <a:noFill/>
          <a:ln/>
        </p:spPr>
        <p:txBody>
          <a:bodyPr wrap="square" lIns="0" tIns="0" rIns="0" bIns="0" rtlCol="0" anchor="ctr"/>
          <a:lstStyle/>
          <a:p>
            <a:pPr indent="0" marL="0">
              <a:buNone/>
            </a:pPr>
            <a:r>
              <a:rPr lang="en-US" sz="1600" dirty="0">
                <a:solidFill>
                  <a:schemeClr val="accent6"/>
                </a:solidFill>
              </a:rPr>
              <a:t>seuil </a:t>
            </a:r>
            <a:pPr indent="0" marL="0">
              <a:buNone/>
            </a:pPr>
            <a:r>
              <a:rPr lang="en-US" sz="3600" b="1" dirty="0">
                <a:solidFill>
                  <a:schemeClr val="tx1"/>
                </a:solidFill>
              </a:rPr>
              <a:t>220 °C</a:t>
            </a:r>
            <a:endParaRPr lang="en-US" sz="1800" dirty="0"/>
          </a:p>
        </p:txBody>
      </p:sp>
      <p:sp>
        <p:nvSpPr>
          <p:cNvPr id="22" name="Text 18"/>
          <p:cNvSpPr txBox="1"/>
          <p:nvPr/>
        </p:nvSpPr>
        <p:spPr>
          <a:xfrm>
            <a:off x="8396935" y="3246120"/>
            <a:ext cx="1874520" cy="731520"/>
          </a:xfrm>
          <a:prstGeom prst="rect">
            <a:avLst/>
          </a:prstGeom>
          <a:noFill/>
          <a:ln/>
        </p:spPr>
        <p:txBody>
          <a:bodyPr wrap="square" lIns="0" tIns="0" rIns="0" bIns="0" rtlCol="0" anchor="t"/>
          <a:lstStyle/>
          <a:p>
            <a:pPr indent="0" marL="0">
              <a:buNone/>
            </a:pPr>
            <a:r>
              <a:rPr lang="en-US" sz="1600" dirty="0">
                <a:solidFill>
                  <a:schemeClr val="accent6"/>
                </a:solidFill>
              </a:rPr>
              <a:t>Thermocouple K + MAX6675 (DS18B20 limité à 125 °C)</a:t>
            </a:r>
            <a:endParaRPr lang="en-US" sz="1600" dirty="0"/>
          </a:p>
        </p:txBody>
      </p:sp>
      <p:pic>
        <p:nvPicPr>
          <p:cNvPr id="23" name="Image 2" descr="Thermocouple K + MAX6675 (DS18B20 limité à 125 °C)">    </p:cNvPr>
          <p:cNvPicPr>
            <a:picLocks noChangeAspect="1"/>
          </p:cNvPicPr>
          <p:nvPr/>
        </p:nvPicPr>
        <p:blipFill>
          <a:blip r:embed="rId3"/>
          <a:stretch>
            <a:fillRect/>
          </a:stretch>
        </p:blipFill>
        <p:spPr>
          <a:xfrm>
            <a:off x="10271455" y="2697480"/>
            <a:ext cx="1188720" cy="891540"/>
          </a:xfrm>
          <a:prstGeom prst="rect">
            <a:avLst/>
          </a:prstGeom>
        </p:spPr>
      </p:pic>
      <p:sp>
        <p:nvSpPr>
          <p:cNvPr id="24" name="Shape 19"/>
          <p:cNvSpPr/>
          <p:nvPr/>
        </p:nvSpPr>
        <p:spPr>
          <a:xfrm>
            <a:off x="548640" y="4251960"/>
            <a:ext cx="5410048" cy="1783080"/>
          </a:xfrm>
          <a:prstGeom prst="rect">
            <a:avLst/>
          </a:prstGeom>
          <a:solidFill>
            <a:schemeClr val="bg1"/>
          </a:solidFill>
          <a:ln w="12700">
            <a:solidFill>
              <a:srgbClr val="CBD3DB"/>
            </a:solidFill>
            <a:prstDash val="solid"/>
          </a:ln>
        </p:spPr>
      </p:sp>
      <p:sp>
        <p:nvSpPr>
          <p:cNvPr id="25" name="Shape 20"/>
          <p:cNvSpPr/>
          <p:nvPr/>
        </p:nvSpPr>
        <p:spPr>
          <a:xfrm>
            <a:off x="822960" y="4526280"/>
            <a:ext cx="411480" cy="411480"/>
          </a:xfrm>
          <a:prstGeom prst="rect">
            <a:avLst/>
          </a:prstGeom>
          <a:solidFill>
            <a:srgbClr val="1F66AE"/>
          </a:solidFill>
          <a:ln w="12700">
            <a:solidFill>
              <a:srgbClr val="1F66AE"/>
            </a:solidFill>
            <a:prstDash val="solid"/>
          </a:ln>
        </p:spPr>
      </p:sp>
      <p:sp>
        <p:nvSpPr>
          <p:cNvPr id="26" name="Text 21"/>
          <p:cNvSpPr txBox="1"/>
          <p:nvPr/>
        </p:nvSpPr>
        <p:spPr>
          <a:xfrm>
            <a:off x="822960" y="4526280"/>
            <a:ext cx="411480" cy="411480"/>
          </a:xfrm>
          <a:prstGeom prst="rect">
            <a:avLst/>
          </a:prstGeom>
          <a:noFill/>
          <a:ln/>
        </p:spPr>
        <p:txBody>
          <a:bodyPr wrap="square" lIns="0" tIns="0" rIns="0" bIns="0" rtlCol="0" anchor="ctr"/>
          <a:lstStyle/>
          <a:p>
            <a:pPr algn="ctr" indent="0" marL="0">
              <a:buNone/>
            </a:pPr>
            <a:r>
              <a:rPr lang="en-US" sz="1100" b="1" dirty="0">
                <a:solidFill>
                  <a:schemeClr val="bg1"/>
                </a:solidFill>
              </a:rPr>
              <a:t>C</a:t>
            </a:r>
            <a:endParaRPr lang="en-US" sz="1100" dirty="0"/>
          </a:p>
        </p:txBody>
      </p:sp>
      <p:sp>
        <p:nvSpPr>
          <p:cNvPr id="27" name="Text 22"/>
          <p:cNvSpPr txBox="1"/>
          <p:nvPr/>
        </p:nvSpPr>
        <p:spPr>
          <a:xfrm>
            <a:off x="1417320" y="4526280"/>
            <a:ext cx="4312768" cy="411480"/>
          </a:xfrm>
          <a:prstGeom prst="rect">
            <a:avLst/>
          </a:prstGeom>
          <a:noFill/>
          <a:ln/>
        </p:spPr>
        <p:txBody>
          <a:bodyPr wrap="square" lIns="0" tIns="0" rIns="0" bIns="0" rtlCol="0" anchor="ctr"/>
          <a:lstStyle/>
          <a:p>
            <a:pPr indent="0" marL="0">
              <a:buNone/>
            </a:pPr>
            <a:r>
              <a:rPr lang="en-US" sz="2000" b="1" dirty="0">
                <a:solidFill>
                  <a:schemeClr val="tx1"/>
                </a:solidFill>
              </a:rPr>
              <a:t>Comptage · C1 à C3</a:t>
            </a:r>
            <a:endParaRPr lang="en-US" sz="2000" dirty="0"/>
          </a:p>
        </p:txBody>
      </p:sp>
      <p:sp>
        <p:nvSpPr>
          <p:cNvPr id="28" name="Text 23"/>
          <p:cNvSpPr txBox="1"/>
          <p:nvPr/>
        </p:nvSpPr>
        <p:spPr>
          <a:xfrm>
            <a:off x="822960" y="5074920"/>
            <a:ext cx="4861408" cy="868680"/>
          </a:xfrm>
          <a:prstGeom prst="rect">
            <a:avLst/>
          </a:prstGeom>
          <a:noFill/>
          <a:ln/>
        </p:spPr>
        <p:txBody>
          <a:bodyPr wrap="square" lIns="0" tIns="0" rIns="0" bIns="0" rtlCol="0" anchor="t"/>
          <a:lstStyle/>
          <a:p>
            <a:pPr indent="0" marL="0">
              <a:buNone/>
            </a:pPr>
            <a:r>
              <a:rPr lang="en-US" sz="1800" dirty="0">
                <a:solidFill>
                  <a:schemeClr val="tx1"/>
                </a:solidFill>
              </a:rPr>
              <a:t>Barrière IR FC-51 en sortie de chaque machine : une pièce qui coupe le faisceau est une pièce terminée.</a:t>
            </a:r>
            <a:endParaRPr lang="en-US" sz="1800" dirty="0"/>
          </a:p>
        </p:txBody>
      </p:sp>
      <p:sp>
        <p:nvSpPr>
          <p:cNvPr id="29" name="Shape 24"/>
          <p:cNvSpPr/>
          <p:nvPr/>
        </p:nvSpPr>
        <p:spPr>
          <a:xfrm>
            <a:off x="6233008" y="4251960"/>
            <a:ext cx="5410048" cy="1783080"/>
          </a:xfrm>
          <a:prstGeom prst="rect">
            <a:avLst/>
          </a:prstGeom>
          <a:solidFill>
            <a:schemeClr val="bg1"/>
          </a:solidFill>
          <a:ln w="12700">
            <a:solidFill>
              <a:srgbClr val="CBD3DB"/>
            </a:solidFill>
            <a:prstDash val="solid"/>
          </a:ln>
        </p:spPr>
      </p:sp>
      <p:sp>
        <p:nvSpPr>
          <p:cNvPr id="30" name="Shape 25"/>
          <p:cNvSpPr/>
          <p:nvPr/>
        </p:nvSpPr>
        <p:spPr>
          <a:xfrm>
            <a:off x="6507328" y="4526280"/>
            <a:ext cx="411480" cy="411480"/>
          </a:xfrm>
          <a:prstGeom prst="diamond">
            <a:avLst/>
          </a:prstGeom>
          <a:solidFill>
            <a:srgbClr val="7B3FAF"/>
          </a:solidFill>
          <a:ln w="12700">
            <a:solidFill>
              <a:srgbClr val="7B3FAF"/>
            </a:solidFill>
            <a:prstDash val="solid"/>
          </a:ln>
        </p:spPr>
      </p:sp>
      <p:sp>
        <p:nvSpPr>
          <p:cNvPr id="31" name="Text 26"/>
          <p:cNvSpPr txBox="1"/>
          <p:nvPr/>
        </p:nvSpPr>
        <p:spPr>
          <a:xfrm>
            <a:off x="6507328" y="4526280"/>
            <a:ext cx="411480" cy="411480"/>
          </a:xfrm>
          <a:prstGeom prst="rect">
            <a:avLst/>
          </a:prstGeom>
          <a:noFill/>
          <a:ln/>
        </p:spPr>
        <p:txBody>
          <a:bodyPr wrap="square" lIns="0" tIns="0" rIns="0" bIns="0" rtlCol="0" anchor="ctr"/>
          <a:lstStyle/>
          <a:p>
            <a:pPr algn="ctr" indent="0" marL="0">
              <a:buNone/>
            </a:pPr>
            <a:r>
              <a:rPr lang="en-US" sz="1100" b="1" dirty="0">
                <a:solidFill>
                  <a:schemeClr val="bg1"/>
                </a:solidFill>
              </a:rPr>
              <a:t>P</a:t>
            </a:r>
            <a:endParaRPr lang="en-US" sz="1100" dirty="0"/>
          </a:p>
        </p:txBody>
      </p:sp>
      <p:sp>
        <p:nvSpPr>
          <p:cNvPr id="32" name="Text 27"/>
          <p:cNvSpPr txBox="1"/>
          <p:nvPr/>
        </p:nvSpPr>
        <p:spPr>
          <a:xfrm>
            <a:off x="7101688" y="4526280"/>
            <a:ext cx="4312768" cy="411480"/>
          </a:xfrm>
          <a:prstGeom prst="rect">
            <a:avLst/>
          </a:prstGeom>
          <a:noFill/>
          <a:ln/>
        </p:spPr>
        <p:txBody>
          <a:bodyPr wrap="square" lIns="0" tIns="0" rIns="0" bIns="0" rtlCol="0" anchor="ctr"/>
          <a:lstStyle/>
          <a:p>
            <a:pPr indent="0" marL="0">
              <a:buNone/>
            </a:pPr>
            <a:r>
              <a:rPr lang="en-US" sz="2000" b="1" dirty="0">
                <a:solidFill>
                  <a:schemeClr val="tx1"/>
                </a:solidFill>
              </a:rPr>
              <a:t>Intrusion · P1 à P3</a:t>
            </a:r>
            <a:endParaRPr lang="en-US" sz="2000" dirty="0"/>
          </a:p>
        </p:txBody>
      </p:sp>
      <p:sp>
        <p:nvSpPr>
          <p:cNvPr id="33" name="Text 28"/>
          <p:cNvSpPr txBox="1"/>
          <p:nvPr/>
        </p:nvSpPr>
        <p:spPr>
          <a:xfrm>
            <a:off x="6507328" y="5074920"/>
            <a:ext cx="4861408" cy="868680"/>
          </a:xfrm>
          <a:prstGeom prst="rect">
            <a:avLst/>
          </a:prstGeom>
          <a:noFill/>
          <a:ln/>
        </p:spPr>
        <p:txBody>
          <a:bodyPr wrap="square" lIns="0" tIns="0" rIns="0" bIns="0" rtlCol="0" anchor="t"/>
          <a:lstStyle/>
          <a:p>
            <a:pPr indent="0" marL="0">
              <a:buNone/>
            </a:pPr>
            <a:r>
              <a:rPr lang="en-US" sz="1800" dirty="0">
                <a:solidFill>
                  <a:schemeClr val="tx1"/>
                </a:solidFill>
              </a:rPr>
              <a:t>Détecteur PIR HC-SR501 (7 m, 120°) et buzzer, armés hors des heures 08h–18h.</a:t>
            </a:r>
            <a:endParaRPr lang="en-US" sz="18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B6B7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548640" y="713232"/>
            <a:ext cx="11094415" cy="868680"/>
          </a:xfrm>
          <a:prstGeom prst="rect">
            <a:avLst/>
          </a:prstGeom>
          <a:noFill/>
          <a:ln/>
        </p:spPr>
        <p:txBody>
          <a:bodyPr wrap="square" lIns="0" tIns="0" rIns="0" bIns="0" rtlCol="0" anchor="t"/>
          <a:lstStyle/>
          <a:p>
            <a:pPr algn="l" indent="0" marL="0">
              <a:buNone/>
            </a:pPr>
            <a:r>
              <a:rPr lang="en-US" sz="3000" b="1" dirty="0">
                <a:solidFill>
                  <a:srgbClr val="17293B"/>
                </a:solidFill>
              </a:rPr>
              <a:t>MQTT pour publier, 802.15.4 multi-saut pour ménager les piles</a:t>
            </a:r>
            <a:endParaRPr lang="en-US" sz="3000" dirty="0"/>
          </a:p>
        </p:txBody>
      </p:sp>
      <p:sp>
        <p:nvSpPr>
          <p:cNvPr id="3" name="Text 1"/>
          <p:cNvSpPr txBox="1"/>
          <p:nvPr/>
        </p:nvSpPr>
        <p:spPr>
          <a:xfrm>
            <a:off x="548640" y="1783080"/>
            <a:ext cx="5257800" cy="365760"/>
          </a:xfrm>
          <a:prstGeom prst="rect">
            <a:avLst/>
          </a:prstGeom>
          <a:noFill/>
          <a:ln/>
        </p:spPr>
        <p:txBody>
          <a:bodyPr wrap="square" lIns="0" tIns="0" rIns="0" bIns="0" rtlCol="0" anchor="t"/>
          <a:lstStyle/>
          <a:p>
            <a:pPr indent="0" marL="0">
              <a:buNone/>
            </a:pPr>
            <a:r>
              <a:rPr lang="en-US" sz="2000" b="1" dirty="0">
                <a:solidFill>
                  <a:schemeClr val="tx1"/>
                </a:solidFill>
              </a:rPr>
              <a:t>Un topic MQTT par nœud</a:t>
            </a:r>
            <a:endParaRPr lang="en-US" sz="2000" dirty="0"/>
          </a:p>
        </p:txBody>
      </p:sp>
      <p:sp>
        <p:nvSpPr>
          <p:cNvPr id="4" name="Shape 2"/>
          <p:cNvSpPr/>
          <p:nvPr/>
        </p:nvSpPr>
        <p:spPr>
          <a:xfrm>
            <a:off x="548640" y="2340864"/>
            <a:ext cx="274320" cy="274320"/>
          </a:xfrm>
          <a:prstGeom prst="ellipse">
            <a:avLst/>
          </a:prstGeom>
          <a:solidFill>
            <a:srgbClr val="C63F29"/>
          </a:solidFill>
          <a:ln w="12700">
            <a:solidFill>
              <a:srgbClr val="C63F29"/>
            </a:solidFill>
            <a:prstDash val="solid"/>
          </a:ln>
        </p:spPr>
      </p:sp>
      <p:sp>
        <p:nvSpPr>
          <p:cNvPr id="5" name="Text 3"/>
          <p:cNvSpPr txBox="1"/>
          <p:nvPr/>
        </p:nvSpPr>
        <p:spPr>
          <a:xfrm>
            <a:off x="548640" y="2340864"/>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 </a:t>
            </a:r>
            <a:endParaRPr lang="en-US" sz="1100" dirty="0"/>
          </a:p>
        </p:txBody>
      </p:sp>
      <p:sp>
        <p:nvSpPr>
          <p:cNvPr id="6" name="Text 4"/>
          <p:cNvSpPr txBox="1"/>
          <p:nvPr/>
        </p:nvSpPr>
        <p:spPr>
          <a:xfrm>
            <a:off x="1005840" y="2286000"/>
            <a:ext cx="4800600" cy="384048"/>
          </a:xfrm>
          <a:prstGeom prst="rect">
            <a:avLst/>
          </a:prstGeom>
          <a:noFill/>
          <a:ln/>
        </p:spPr>
        <p:txBody>
          <a:bodyPr wrap="square" lIns="0" tIns="0" rIns="0" bIns="0" rtlCol="0" anchor="ctr"/>
          <a:lstStyle/>
          <a:p>
            <a:pPr indent="0" marL="0">
              <a:buNone/>
            </a:pPr>
            <a:r>
              <a:rPr lang="en-US" sz="1800" dirty="0">
                <a:solidFill>
                  <a:schemeClr val="tx1"/>
                </a:solidFill>
              </a:rPr>
              <a:t>factory/machines/MACHINE_01 … 03</a:t>
            </a:r>
            <a:endParaRPr lang="en-US" sz="1800" dirty="0"/>
          </a:p>
        </p:txBody>
      </p:sp>
      <p:sp>
        <p:nvSpPr>
          <p:cNvPr id="7" name="Shape 5"/>
          <p:cNvSpPr/>
          <p:nvPr/>
        </p:nvSpPr>
        <p:spPr>
          <a:xfrm>
            <a:off x="548640" y="2843784"/>
            <a:ext cx="274320" cy="274320"/>
          </a:xfrm>
          <a:prstGeom prst="rect">
            <a:avLst/>
          </a:prstGeom>
          <a:solidFill>
            <a:srgbClr val="1F66AE"/>
          </a:solidFill>
          <a:ln w="12700">
            <a:solidFill>
              <a:srgbClr val="1F66AE"/>
            </a:solidFill>
            <a:prstDash val="solid"/>
          </a:ln>
        </p:spPr>
      </p:sp>
      <p:sp>
        <p:nvSpPr>
          <p:cNvPr id="8" name="Text 6"/>
          <p:cNvSpPr txBox="1"/>
          <p:nvPr/>
        </p:nvSpPr>
        <p:spPr>
          <a:xfrm>
            <a:off x="548640" y="2843784"/>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 </a:t>
            </a:r>
            <a:endParaRPr lang="en-US" sz="1100" dirty="0"/>
          </a:p>
        </p:txBody>
      </p:sp>
      <p:sp>
        <p:nvSpPr>
          <p:cNvPr id="9" name="Text 7"/>
          <p:cNvSpPr txBox="1"/>
          <p:nvPr/>
        </p:nvSpPr>
        <p:spPr>
          <a:xfrm>
            <a:off x="1005840" y="2788920"/>
            <a:ext cx="4800600" cy="384048"/>
          </a:xfrm>
          <a:prstGeom prst="rect">
            <a:avLst/>
          </a:prstGeom>
          <a:noFill/>
          <a:ln/>
        </p:spPr>
        <p:txBody>
          <a:bodyPr wrap="square" lIns="0" tIns="0" rIns="0" bIns="0" rtlCol="0" anchor="ctr"/>
          <a:lstStyle/>
          <a:p>
            <a:pPr indent="0" marL="0">
              <a:buNone/>
            </a:pPr>
            <a:r>
              <a:rPr lang="en-US" sz="1800" dirty="0">
                <a:solidFill>
                  <a:schemeClr val="tx1"/>
                </a:solidFill>
              </a:rPr>
              <a:t>factory/production/POSTE_01 … 03</a:t>
            </a:r>
            <a:endParaRPr lang="en-US" sz="1800" dirty="0"/>
          </a:p>
        </p:txBody>
      </p:sp>
      <p:sp>
        <p:nvSpPr>
          <p:cNvPr id="10" name="Shape 8"/>
          <p:cNvSpPr/>
          <p:nvPr/>
        </p:nvSpPr>
        <p:spPr>
          <a:xfrm>
            <a:off x="548640" y="3346704"/>
            <a:ext cx="274320" cy="274320"/>
          </a:xfrm>
          <a:prstGeom prst="diamond">
            <a:avLst/>
          </a:prstGeom>
          <a:solidFill>
            <a:srgbClr val="7B3FAF"/>
          </a:solidFill>
          <a:ln w="12700">
            <a:solidFill>
              <a:srgbClr val="7B3FAF"/>
            </a:solidFill>
            <a:prstDash val="solid"/>
          </a:ln>
        </p:spPr>
      </p:sp>
      <p:sp>
        <p:nvSpPr>
          <p:cNvPr id="11" name="Text 9"/>
          <p:cNvSpPr txBox="1"/>
          <p:nvPr/>
        </p:nvSpPr>
        <p:spPr>
          <a:xfrm>
            <a:off x="548640" y="3346704"/>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 </a:t>
            </a:r>
            <a:endParaRPr lang="en-US" sz="1100" dirty="0"/>
          </a:p>
        </p:txBody>
      </p:sp>
      <p:sp>
        <p:nvSpPr>
          <p:cNvPr id="12" name="Text 10"/>
          <p:cNvSpPr txBox="1"/>
          <p:nvPr/>
        </p:nvSpPr>
        <p:spPr>
          <a:xfrm>
            <a:off x="1005840" y="3291840"/>
            <a:ext cx="4800600" cy="384048"/>
          </a:xfrm>
          <a:prstGeom prst="rect">
            <a:avLst/>
          </a:prstGeom>
          <a:noFill/>
          <a:ln/>
        </p:spPr>
        <p:txBody>
          <a:bodyPr wrap="square" lIns="0" tIns="0" rIns="0" bIns="0" rtlCol="0" anchor="ctr"/>
          <a:lstStyle/>
          <a:p>
            <a:pPr indent="0" marL="0">
              <a:buNone/>
            </a:pPr>
            <a:r>
              <a:rPr lang="en-US" sz="1800" dirty="0">
                <a:solidFill>
                  <a:schemeClr val="tx1"/>
                </a:solidFill>
              </a:rPr>
              <a:t>factory/security/ZONE_01 … 03</a:t>
            </a:r>
            <a:endParaRPr lang="en-US" sz="1800" dirty="0"/>
          </a:p>
        </p:txBody>
      </p:sp>
      <p:sp>
        <p:nvSpPr>
          <p:cNvPr id="13" name="Shape 11"/>
          <p:cNvSpPr/>
          <p:nvPr/>
        </p:nvSpPr>
        <p:spPr>
          <a:xfrm>
            <a:off x="548640" y="3931920"/>
            <a:ext cx="5257800" cy="1691640"/>
          </a:xfrm>
          <a:prstGeom prst="rect">
            <a:avLst/>
          </a:prstGeom>
          <a:solidFill>
            <a:schemeClr val="bg2"/>
          </a:solidFill>
          <a:ln w="12700">
            <a:solidFill>
              <a:schemeClr val="bg2"/>
            </a:solidFill>
            <a:prstDash val="solid"/>
          </a:ln>
        </p:spPr>
      </p:sp>
      <p:sp>
        <p:nvSpPr>
          <p:cNvPr id="14" name="Text 12"/>
          <p:cNvSpPr txBox="1"/>
          <p:nvPr/>
        </p:nvSpPr>
        <p:spPr>
          <a:xfrm>
            <a:off x="777240" y="4041648"/>
            <a:ext cx="4800600" cy="1508760"/>
          </a:xfrm>
          <a:prstGeom prst="rect">
            <a:avLst/>
          </a:prstGeom>
          <a:noFill/>
          <a:ln/>
        </p:spPr>
        <p:txBody>
          <a:bodyPr wrap="square" lIns="0" tIns="0" rIns="0" bIns="0" rtlCol="0" anchor="ctr"/>
          <a:lstStyle/>
          <a:p>
            <a:pPr indent="0" marL="0">
              <a:buNone/>
            </a:pPr>
            <a:r>
              <a:rPr lang="en-US" sz="1500" dirty="0">
                <a:solidFill>
                  <a:schemeClr val="tx1"/>
                </a:solidFill>
              </a:rPr>
              <a:t>{"node_id":"MACHINE_03",</a:t>
            </a:r>
            <a:endParaRPr lang="en-US" sz="1500" dirty="0"/>
          </a:p>
          <a:p>
            <a:pPr indent="0" marL="0">
              <a:buNone/>
            </a:pPr>
            <a:r>
              <a:rPr lang="en-US" sz="1500" dirty="0">
                <a:solidFill>
                  <a:schemeClr val="tx1"/>
                </a:solidFill>
              </a:rPr>
              <a:t> "timestamp":1792512014,</a:t>
            </a:r>
            <a:endParaRPr lang="en-US" sz="1500" dirty="0"/>
          </a:p>
          <a:p>
            <a:pPr indent="0" marL="0">
              <a:buNone/>
            </a:pPr>
            <a:r>
              <a:rPr lang="en-US" sz="1500" dirty="0">
                <a:solidFill>
                  <a:schemeClr val="tx1"/>
                </a:solidFill>
              </a:rPr>
              <a:t> "temperature_c":73.0,</a:t>
            </a:r>
            <a:endParaRPr lang="en-US" sz="1500" dirty="0"/>
          </a:p>
          <a:p>
            <a:pPr indent="0" marL="0">
              <a:buNone/>
            </a:pPr>
            <a:r>
              <a:rPr lang="en-US" sz="1500" dirty="0">
                <a:solidFill>
                  <a:schemeClr val="tx1"/>
                </a:solidFill>
              </a:rPr>
              <a:t> "production_count":2,</a:t>
            </a:r>
            <a:endParaRPr lang="en-US" sz="1500" dirty="0"/>
          </a:p>
          <a:p>
            <a:pPr indent="0" marL="0">
              <a:buNone/>
            </a:pPr>
            <a:r>
              <a:rPr lang="en-US" sz="1500" dirty="0">
                <a:solidFill>
                  <a:schemeClr val="tx1"/>
                </a:solidFill>
              </a:rPr>
              <a:t> "status":"OK"}</a:t>
            </a:r>
            <a:endParaRPr lang="en-US" sz="1500" dirty="0"/>
          </a:p>
        </p:txBody>
      </p:sp>
      <p:sp>
        <p:nvSpPr>
          <p:cNvPr id="15" name="Text 13"/>
          <p:cNvSpPr txBox="1"/>
          <p:nvPr/>
        </p:nvSpPr>
        <p:spPr>
          <a:xfrm>
            <a:off x="548640" y="5687568"/>
            <a:ext cx="5257800" cy="457200"/>
          </a:xfrm>
          <a:prstGeom prst="rect">
            <a:avLst/>
          </a:prstGeom>
          <a:noFill/>
          <a:ln/>
        </p:spPr>
        <p:txBody>
          <a:bodyPr wrap="square" lIns="0" tIns="0" rIns="0" bIns="0" rtlCol="0" anchor="t"/>
          <a:lstStyle/>
          <a:p>
            <a:pPr indent="0" marL="0">
              <a:buNone/>
            </a:pPr>
            <a:r>
              <a:rPr lang="en-US" sz="1200" dirty="0">
                <a:solidFill>
                  <a:schemeClr val="accent6"/>
                </a:solidFill>
              </a:rPr>
              <a:t>Format JSON du cahier des charges (ligne réelle écrite par la passerelle simulée)</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263640" y="1783080"/>
          <a:ext cx="5379415" cy="914400"/>
        </p:xfrm>
        <a:graphic>
          <a:graphicData uri="http://schemas.openxmlformats.org/drawingml/2006/table">
            <a:tbl>
              <a:tblPr/>
              <a:tblGrid>
                <a:gridCol w="1600200"/>
                <a:gridCol w="1828800"/>
                <a:gridCol w="1950415"/>
              </a:tblGrid>
              <a:tr h="457200">
                <a:tc>
                  <a:txBody>
                    <a:bodyPr/>
                    <a:lstStyle/>
                    <a:p>
                      <a:pPr indent="0" marL="0">
                        <a:buNone/>
                      </a:pP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0E746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Wi-Fi 2,4 GHz</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0E746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IEEE 802.15.4</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0E746D"/>
                    </a:solidFill>
                  </a:tcPr>
                </a:tc>
              </a:tr>
              <a:tr h="777240">
                <a:tc>
                  <a:txBody>
                    <a:bodyPr/>
                    <a:lstStyle/>
                    <a:p>
                      <a:pPr indent="0" marL="0">
                        <a:buNone/>
                      </a:pPr>
                      <a:r>
                        <a:rPr lang="en-US" sz="1600" b="1" dirty="0">
                          <a:solidFill>
                            <a:srgbClr val="17293B"/>
                          </a:solidFill>
                          <a:latin typeface="Calibri" pitchFamily="34" charset="0"/>
                          <a:ea typeface="Calibri" pitchFamily="34" charset="-122"/>
                          <a:cs typeface="Calibri" pitchFamily="34" charset="-120"/>
                        </a:rPr>
                        <a:t>Topologie</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étoile autour du point d'accès</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multi-saut : les nœuds relaient</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r>
              <a:tr h="777240">
                <a:tc>
                  <a:txBody>
                    <a:bodyPr/>
                    <a:lstStyle/>
                    <a:p>
                      <a:pPr indent="0" marL="0">
                        <a:buNone/>
                      </a:pPr>
                      <a:r>
                        <a:rPr lang="en-US" sz="1600" b="1" dirty="0">
                          <a:solidFill>
                            <a:srgbClr val="17293B"/>
                          </a:solidFill>
                          <a:latin typeface="Calibri" pitchFamily="34" charset="0"/>
                          <a:ea typeface="Calibri" pitchFamily="34" charset="-122"/>
                          <a:cs typeface="Calibri" pitchFamily="34" charset="-120"/>
                        </a:rPr>
                        <a:t>Débit</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élevé</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250 kbit/s, assez pour 22 octets</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r>
              <a:tr h="777240">
                <a:tc>
                  <a:txBody>
                    <a:bodyPr/>
                    <a:lstStyle/>
                    <a:p>
                      <a:pPr indent="0" marL="0">
                        <a:buNone/>
                      </a:pPr>
                      <a:r>
                        <a:rPr lang="en-US" sz="1600" b="1" dirty="0">
                          <a:solidFill>
                            <a:srgbClr val="17293B"/>
                          </a:solidFill>
                          <a:latin typeface="Calibri" pitchFamily="34" charset="0"/>
                          <a:ea typeface="Calibri" pitchFamily="34" charset="-122"/>
                          <a:cs typeface="Calibri" pitchFamily="34" charset="-120"/>
                        </a:rPr>
                        <a:t>Consommation</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élevée</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faible, pensée pour la pile</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r>
              <a:tr h="777240">
                <a:tc>
                  <a:txBody>
                    <a:bodyPr/>
                    <a:lstStyle/>
                    <a:p>
                      <a:pPr indent="0" marL="0">
                        <a:buNone/>
                      </a:pPr>
                      <a:r>
                        <a:rPr lang="en-US" sz="1600" b="1" dirty="0">
                          <a:solidFill>
                            <a:srgbClr val="17293B"/>
                          </a:solidFill>
                          <a:latin typeface="Calibri" pitchFamily="34" charset="0"/>
                          <a:ea typeface="Calibri" pitchFamily="34" charset="-122"/>
                          <a:cs typeface="Calibri" pitchFamily="34" charset="-120"/>
                        </a:rPr>
                        <a:t>Portée intérieure</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30 m retenus</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 20 m → relais nécessaires</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r>
            </a:tbl>
          </a:graphicData>
        </a:graphic>
      </p:graphicFrame>
      <p:sp>
        <p:nvSpPr>
          <p:cNvPr id="17" name="Text 14"/>
          <p:cNvSpPr txBox="1"/>
          <p:nvPr/>
        </p:nvSpPr>
        <p:spPr>
          <a:xfrm>
            <a:off x="6263640" y="5440680"/>
            <a:ext cx="5379415" cy="685800"/>
          </a:xfrm>
          <a:prstGeom prst="rect">
            <a:avLst/>
          </a:prstGeom>
          <a:noFill/>
          <a:ln/>
        </p:spPr>
        <p:txBody>
          <a:bodyPr wrap="square" lIns="0" tIns="0" rIns="0" bIns="0" rtlCol="0" anchor="t"/>
          <a:lstStyle/>
          <a:p>
            <a:pPr indent="0" marL="0">
              <a:buNone/>
            </a:pPr>
            <a:r>
              <a:rPr lang="en-US" sz="1800" dirty="0">
                <a:solidFill>
                  <a:schemeClr val="tx1"/>
                </a:solidFill>
              </a:rPr>
              <a:t>Les sondes T1–T3 sont sur batterie LiPo : c'est le réseau multi-saut que nous avons simulé.</a:t>
            </a:r>
            <a:endParaRPr lang="en-US" sz="18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B6B7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548640" y="713232"/>
            <a:ext cx="11094415" cy="868680"/>
          </a:xfrm>
          <a:prstGeom prst="rect">
            <a:avLst/>
          </a:prstGeom>
          <a:noFill/>
          <a:ln/>
        </p:spPr>
        <p:txBody>
          <a:bodyPr wrap="square" lIns="0" tIns="0" rIns="0" bIns="0" rtlCol="0" anchor="t"/>
          <a:lstStyle/>
          <a:p>
            <a:pPr algn="l" indent="0" marL="0">
              <a:buNone/>
            </a:pPr>
            <a:r>
              <a:rPr lang="en-US" sz="3000" b="1" dirty="0">
                <a:solidFill>
                  <a:srgbClr val="17293B"/>
                </a:solidFill>
              </a:rPr>
              <a:t>Un Raspberry Pi 4 reçoit, analyse, stocke et affiche les mesures</a:t>
            </a:r>
            <a:endParaRPr lang="en-US" sz="3000" dirty="0"/>
          </a:p>
        </p:txBody>
      </p:sp>
      <p:sp>
        <p:nvSpPr>
          <p:cNvPr id="3" name="Shape 1"/>
          <p:cNvSpPr/>
          <p:nvPr/>
        </p:nvSpPr>
        <p:spPr>
          <a:xfrm>
            <a:off x="548640" y="1783080"/>
            <a:ext cx="11094415" cy="2057400"/>
          </a:xfrm>
          <a:prstGeom prst="roundRect">
            <a:avLst>
              <a:gd name="adj" fmla="val 3556"/>
            </a:avLst>
          </a:prstGeom>
          <a:solidFill>
            <a:schemeClr val="accent5"/>
          </a:solidFill>
          <a:ln w="12700">
            <a:solidFill>
              <a:srgbClr val="0E746D"/>
            </a:solidFill>
            <a:prstDash val="solid"/>
          </a:ln>
        </p:spPr>
      </p:sp>
      <p:sp>
        <p:nvSpPr>
          <p:cNvPr id="4" name="Text 2"/>
          <p:cNvSpPr txBox="1"/>
          <p:nvPr/>
        </p:nvSpPr>
        <p:spPr>
          <a:xfrm>
            <a:off x="777240" y="1892808"/>
            <a:ext cx="5486400" cy="320040"/>
          </a:xfrm>
          <a:prstGeom prst="rect">
            <a:avLst/>
          </a:prstGeom>
          <a:noFill/>
          <a:ln/>
        </p:spPr>
        <p:txBody>
          <a:bodyPr wrap="square" lIns="0" tIns="0" rIns="0" bIns="0" rtlCol="0" anchor="t"/>
          <a:lstStyle/>
          <a:p>
            <a:pPr indent="0" marL="0">
              <a:buNone/>
            </a:pPr>
            <a:r>
              <a:rPr lang="en-US" sz="1400" b="1" dirty="0">
                <a:solidFill>
                  <a:schemeClr val="accent1"/>
                </a:solidFill>
              </a:rPr>
              <a:t>Raspberry Pi 4 · local technique Z3</a:t>
            </a:r>
            <a:endParaRPr lang="en-US" sz="1400" dirty="0"/>
          </a:p>
        </p:txBody>
      </p:sp>
      <p:pic>
        <p:nvPicPr>
          <p:cNvPr id="5" name="Image 0" descr="Carte Raspberry Pi 4 Model B">    </p:cNvPr>
          <p:cNvPicPr>
            <a:picLocks noChangeAspect="1"/>
          </p:cNvPicPr>
          <p:nvPr/>
        </p:nvPicPr>
        <p:blipFill>
          <a:blip r:embed="rId1"/>
          <a:stretch>
            <a:fillRect/>
          </a:stretch>
        </p:blipFill>
        <p:spPr>
          <a:xfrm>
            <a:off x="777240" y="2286000"/>
            <a:ext cx="1988820" cy="1325880"/>
          </a:xfrm>
          <a:prstGeom prst="rect">
            <a:avLst/>
          </a:prstGeom>
        </p:spPr>
      </p:pic>
      <p:sp>
        <p:nvSpPr>
          <p:cNvPr id="6" name="Shape 3"/>
          <p:cNvSpPr/>
          <p:nvPr/>
        </p:nvSpPr>
        <p:spPr>
          <a:xfrm>
            <a:off x="3086100" y="2286000"/>
            <a:ext cx="1874520" cy="1325880"/>
          </a:xfrm>
          <a:prstGeom prst="roundRect">
            <a:avLst>
              <a:gd name="adj" fmla="val 5517"/>
            </a:avLst>
          </a:prstGeom>
          <a:solidFill>
            <a:schemeClr val="bg1"/>
          </a:solidFill>
          <a:ln w="12700">
            <a:solidFill>
              <a:srgbClr val="CBD3DB"/>
            </a:solidFill>
            <a:prstDash val="solid"/>
          </a:ln>
        </p:spPr>
      </p:sp>
      <p:sp>
        <p:nvSpPr>
          <p:cNvPr id="7" name="Text 4"/>
          <p:cNvSpPr txBox="1"/>
          <p:nvPr/>
        </p:nvSpPr>
        <p:spPr>
          <a:xfrm>
            <a:off x="3177540" y="2286000"/>
            <a:ext cx="1691640" cy="1325880"/>
          </a:xfrm>
          <a:prstGeom prst="rect">
            <a:avLst/>
          </a:prstGeom>
          <a:noFill/>
          <a:ln/>
        </p:spPr>
        <p:txBody>
          <a:bodyPr wrap="square" lIns="0" tIns="0" rIns="0" bIns="0" rtlCol="0" anchor="ctr"/>
          <a:lstStyle/>
          <a:p>
            <a:pPr algn="ctr" indent="0" marL="0">
              <a:spcAft>
                <a:spcPts val="200"/>
              </a:spcAft>
              <a:buNone/>
            </a:pPr>
            <a:r>
              <a:rPr lang="en-US" sz="1800" b="1" dirty="0">
                <a:solidFill>
                  <a:schemeClr val="tx1"/>
                </a:solidFill>
              </a:rPr>
              <a:t>Mosquitto</a:t>
            </a:r>
            <a:endParaRPr lang="en-US" sz="1800" dirty="0"/>
          </a:p>
          <a:p>
            <a:pPr algn="ctr" indent="0" marL="0">
              <a:spcAft>
                <a:spcPts val="200"/>
              </a:spcAft>
              <a:buNone/>
            </a:pPr>
            <a:r>
              <a:rPr lang="en-US" sz="1500" dirty="0">
                <a:solidFill>
                  <a:schemeClr val="accent6"/>
                </a:solidFill>
              </a:rPr>
              <a:t>broker MQTT, reçoit factory/#</a:t>
            </a:r>
            <a:endParaRPr lang="en-US" sz="1800" dirty="0"/>
          </a:p>
        </p:txBody>
      </p:sp>
      <p:sp>
        <p:nvSpPr>
          <p:cNvPr id="8" name="Shape 5"/>
          <p:cNvSpPr/>
          <p:nvPr/>
        </p:nvSpPr>
        <p:spPr>
          <a:xfrm>
            <a:off x="5006340" y="2948940"/>
            <a:ext cx="185318" cy="0"/>
          </a:xfrm>
          <a:prstGeom prst="line">
            <a:avLst/>
          </a:prstGeom>
          <a:noFill/>
          <a:ln w="19050">
            <a:solidFill>
              <a:srgbClr val="17293B"/>
            </a:solidFill>
            <a:prstDash val="solid"/>
            <a:tailEnd type="triangle"/>
          </a:ln>
        </p:spPr>
      </p:sp>
      <p:sp>
        <p:nvSpPr>
          <p:cNvPr id="9" name="Shape 6"/>
          <p:cNvSpPr/>
          <p:nvPr/>
        </p:nvSpPr>
        <p:spPr>
          <a:xfrm>
            <a:off x="5237378" y="2286000"/>
            <a:ext cx="1874520" cy="1325880"/>
          </a:xfrm>
          <a:prstGeom prst="roundRect">
            <a:avLst>
              <a:gd name="adj" fmla="val 5517"/>
            </a:avLst>
          </a:prstGeom>
          <a:solidFill>
            <a:schemeClr val="bg1"/>
          </a:solidFill>
          <a:ln w="12700">
            <a:solidFill>
              <a:srgbClr val="CBD3DB"/>
            </a:solidFill>
            <a:prstDash val="solid"/>
          </a:ln>
        </p:spPr>
      </p:sp>
      <p:sp>
        <p:nvSpPr>
          <p:cNvPr id="10" name="Text 7"/>
          <p:cNvSpPr txBox="1"/>
          <p:nvPr/>
        </p:nvSpPr>
        <p:spPr>
          <a:xfrm>
            <a:off x="5328818" y="2286000"/>
            <a:ext cx="1691640" cy="1325880"/>
          </a:xfrm>
          <a:prstGeom prst="rect">
            <a:avLst/>
          </a:prstGeom>
          <a:noFill/>
          <a:ln/>
        </p:spPr>
        <p:txBody>
          <a:bodyPr wrap="square" lIns="0" tIns="0" rIns="0" bIns="0" rtlCol="0" anchor="ctr"/>
          <a:lstStyle/>
          <a:p>
            <a:pPr algn="ctr" indent="0" marL="0">
              <a:spcAft>
                <a:spcPts val="200"/>
              </a:spcAft>
              <a:buNone/>
            </a:pPr>
            <a:r>
              <a:rPr lang="en-US" sz="1800" b="1" dirty="0">
                <a:solidFill>
                  <a:schemeClr val="tx1"/>
                </a:solidFill>
              </a:rPr>
              <a:t>Node-RED</a:t>
            </a:r>
            <a:endParaRPr lang="en-US" sz="1800" dirty="0"/>
          </a:p>
          <a:p>
            <a:pPr algn="ctr" indent="0" marL="0">
              <a:spcAft>
                <a:spcPts val="200"/>
              </a:spcAft>
              <a:buNone/>
            </a:pPr>
            <a:r>
              <a:rPr lang="en-US" sz="1500" dirty="0">
                <a:solidFill>
                  <a:schemeClr val="accent6"/>
                </a:solidFill>
              </a:rPr>
              <a:t>règles : T &gt; seuil ? → alerte</a:t>
            </a:r>
            <a:endParaRPr lang="en-US" sz="1800" dirty="0"/>
          </a:p>
        </p:txBody>
      </p:sp>
      <p:sp>
        <p:nvSpPr>
          <p:cNvPr id="11" name="Shape 8"/>
          <p:cNvSpPr/>
          <p:nvPr/>
        </p:nvSpPr>
        <p:spPr>
          <a:xfrm>
            <a:off x="7157618" y="2948940"/>
            <a:ext cx="185318" cy="0"/>
          </a:xfrm>
          <a:prstGeom prst="line">
            <a:avLst/>
          </a:prstGeom>
          <a:noFill/>
          <a:ln w="19050">
            <a:solidFill>
              <a:srgbClr val="17293B"/>
            </a:solidFill>
            <a:prstDash val="solid"/>
            <a:tailEnd type="triangle"/>
          </a:ln>
        </p:spPr>
      </p:sp>
      <p:sp>
        <p:nvSpPr>
          <p:cNvPr id="12" name="Shape 9"/>
          <p:cNvSpPr/>
          <p:nvPr/>
        </p:nvSpPr>
        <p:spPr>
          <a:xfrm>
            <a:off x="7388657" y="2286000"/>
            <a:ext cx="1874520" cy="1325880"/>
          </a:xfrm>
          <a:prstGeom prst="roundRect">
            <a:avLst>
              <a:gd name="adj" fmla="val 5517"/>
            </a:avLst>
          </a:prstGeom>
          <a:solidFill>
            <a:schemeClr val="bg1"/>
          </a:solidFill>
          <a:ln w="12700">
            <a:solidFill>
              <a:srgbClr val="CBD3DB"/>
            </a:solidFill>
            <a:prstDash val="solid"/>
          </a:ln>
        </p:spPr>
      </p:sp>
      <p:sp>
        <p:nvSpPr>
          <p:cNvPr id="13" name="Text 10"/>
          <p:cNvSpPr txBox="1"/>
          <p:nvPr/>
        </p:nvSpPr>
        <p:spPr>
          <a:xfrm>
            <a:off x="7480097" y="2286000"/>
            <a:ext cx="1691640" cy="1325880"/>
          </a:xfrm>
          <a:prstGeom prst="rect">
            <a:avLst/>
          </a:prstGeom>
          <a:noFill/>
          <a:ln/>
        </p:spPr>
        <p:txBody>
          <a:bodyPr wrap="square" lIns="0" tIns="0" rIns="0" bIns="0" rtlCol="0" anchor="ctr"/>
          <a:lstStyle/>
          <a:p>
            <a:pPr algn="ctr" indent="0" marL="0">
              <a:spcAft>
                <a:spcPts val="200"/>
              </a:spcAft>
              <a:buNone/>
            </a:pPr>
            <a:r>
              <a:rPr lang="en-US" sz="1800" b="1" dirty="0">
                <a:solidFill>
                  <a:schemeClr val="tx1"/>
                </a:solidFill>
              </a:rPr>
              <a:t>InfluxDB</a:t>
            </a:r>
            <a:endParaRPr lang="en-US" sz="1800" dirty="0"/>
          </a:p>
          <a:p>
            <a:pPr algn="ctr" indent="0" marL="0">
              <a:spcAft>
                <a:spcPts val="200"/>
              </a:spcAft>
              <a:buNone/>
            </a:pPr>
            <a:r>
              <a:rPr lang="en-US" sz="1500" dirty="0">
                <a:solidFill>
                  <a:schemeClr val="accent6"/>
                </a:solidFill>
              </a:rPr>
              <a:t>historique de 30 jours</a:t>
            </a:r>
            <a:endParaRPr lang="en-US" sz="1800" dirty="0"/>
          </a:p>
        </p:txBody>
      </p:sp>
      <p:sp>
        <p:nvSpPr>
          <p:cNvPr id="14" name="Shape 11"/>
          <p:cNvSpPr/>
          <p:nvPr/>
        </p:nvSpPr>
        <p:spPr>
          <a:xfrm>
            <a:off x="9308897" y="2948940"/>
            <a:ext cx="185318" cy="0"/>
          </a:xfrm>
          <a:prstGeom prst="line">
            <a:avLst/>
          </a:prstGeom>
          <a:noFill/>
          <a:ln w="19050">
            <a:solidFill>
              <a:srgbClr val="17293B"/>
            </a:solidFill>
            <a:prstDash val="solid"/>
            <a:tailEnd type="triangle"/>
          </a:ln>
        </p:spPr>
      </p:sp>
      <p:sp>
        <p:nvSpPr>
          <p:cNvPr id="15" name="Shape 12"/>
          <p:cNvSpPr/>
          <p:nvPr/>
        </p:nvSpPr>
        <p:spPr>
          <a:xfrm>
            <a:off x="9539935" y="2286000"/>
            <a:ext cx="1874520" cy="1325880"/>
          </a:xfrm>
          <a:prstGeom prst="roundRect">
            <a:avLst>
              <a:gd name="adj" fmla="val 5517"/>
            </a:avLst>
          </a:prstGeom>
          <a:solidFill>
            <a:schemeClr val="bg1"/>
          </a:solidFill>
          <a:ln w="12700">
            <a:solidFill>
              <a:srgbClr val="CBD3DB"/>
            </a:solidFill>
            <a:prstDash val="solid"/>
          </a:ln>
        </p:spPr>
      </p:sp>
      <p:sp>
        <p:nvSpPr>
          <p:cNvPr id="16" name="Text 13"/>
          <p:cNvSpPr txBox="1"/>
          <p:nvPr/>
        </p:nvSpPr>
        <p:spPr>
          <a:xfrm>
            <a:off x="9631375" y="2286000"/>
            <a:ext cx="1691640" cy="1325880"/>
          </a:xfrm>
          <a:prstGeom prst="rect">
            <a:avLst/>
          </a:prstGeom>
          <a:noFill/>
          <a:ln/>
        </p:spPr>
        <p:txBody>
          <a:bodyPr wrap="square" lIns="0" tIns="0" rIns="0" bIns="0" rtlCol="0" anchor="ctr"/>
          <a:lstStyle/>
          <a:p>
            <a:pPr algn="ctr" indent="0" marL="0">
              <a:spcAft>
                <a:spcPts val="200"/>
              </a:spcAft>
              <a:buNone/>
            </a:pPr>
            <a:r>
              <a:rPr lang="en-US" sz="1800" b="1" dirty="0">
                <a:solidFill>
                  <a:schemeClr val="tx1"/>
                </a:solidFill>
              </a:rPr>
              <a:t>Grafana</a:t>
            </a:r>
            <a:endParaRPr lang="en-US" sz="1800" dirty="0"/>
          </a:p>
          <a:p>
            <a:pPr algn="ctr" indent="0" marL="0">
              <a:spcAft>
                <a:spcPts val="200"/>
              </a:spcAft>
              <a:buNone/>
            </a:pPr>
            <a:r>
              <a:rPr lang="en-US" sz="1500" dirty="0">
                <a:solidFill>
                  <a:schemeClr val="accent6"/>
                </a:solidFill>
              </a:rPr>
              <a:t>tableau de bord</a:t>
            </a:r>
            <a:endParaRPr lang="en-US" sz="1800" dirty="0"/>
          </a:p>
        </p:txBody>
      </p:sp>
      <p:sp>
        <p:nvSpPr>
          <p:cNvPr id="17" name="Shape 14"/>
          <p:cNvSpPr/>
          <p:nvPr/>
        </p:nvSpPr>
        <p:spPr>
          <a:xfrm>
            <a:off x="548640" y="4343400"/>
            <a:ext cx="3515258" cy="1371600"/>
          </a:xfrm>
          <a:prstGeom prst="roundRect">
            <a:avLst>
              <a:gd name="adj" fmla="val 5333"/>
            </a:avLst>
          </a:prstGeom>
          <a:solidFill>
            <a:schemeClr val="bg1"/>
          </a:solidFill>
          <a:ln w="12700">
            <a:solidFill>
              <a:srgbClr val="CBD3DB"/>
            </a:solidFill>
            <a:prstDash val="solid"/>
          </a:ln>
        </p:spPr>
      </p:sp>
      <p:sp>
        <p:nvSpPr>
          <p:cNvPr id="18" name="Text 15"/>
          <p:cNvSpPr txBox="1"/>
          <p:nvPr/>
        </p:nvSpPr>
        <p:spPr>
          <a:xfrm>
            <a:off x="640080" y="4343400"/>
            <a:ext cx="3332378" cy="1371600"/>
          </a:xfrm>
          <a:prstGeom prst="rect">
            <a:avLst/>
          </a:prstGeom>
          <a:noFill/>
          <a:ln/>
        </p:spPr>
        <p:txBody>
          <a:bodyPr wrap="square" lIns="0" tIns="0" rIns="0" bIns="0" rtlCol="0" anchor="ctr"/>
          <a:lstStyle/>
          <a:p>
            <a:pPr algn="ctr" indent="0" marL="0">
              <a:spcAft>
                <a:spcPts val="200"/>
              </a:spcAft>
              <a:buNone/>
            </a:pPr>
            <a:r>
              <a:rPr lang="en-US" sz="1800" b="1" dirty="0">
                <a:solidFill>
                  <a:schemeClr val="tx1"/>
                </a:solidFill>
              </a:rPr>
              <a:t>Onduleur ≥ 30 min</a:t>
            </a:r>
            <a:endParaRPr lang="en-US" sz="1800" dirty="0"/>
          </a:p>
          <a:p>
            <a:pPr algn="ctr" indent="0" marL="0">
              <a:spcAft>
                <a:spcPts val="200"/>
              </a:spcAft>
              <a:buNone/>
            </a:pPr>
            <a:r>
              <a:rPr lang="en-US" sz="1500" dirty="0">
                <a:solidFill>
                  <a:schemeClr val="accent6"/>
                </a:solidFill>
              </a:rPr>
              <a:t>passerelle, switch, routeur et point d'accès restent alimentés</a:t>
            </a:r>
            <a:endParaRPr lang="en-US" sz="1800" dirty="0"/>
          </a:p>
        </p:txBody>
      </p:sp>
      <p:sp>
        <p:nvSpPr>
          <p:cNvPr id="19" name="Shape 16"/>
          <p:cNvSpPr/>
          <p:nvPr/>
        </p:nvSpPr>
        <p:spPr>
          <a:xfrm>
            <a:off x="4338218" y="4343400"/>
            <a:ext cx="3515258" cy="1371600"/>
          </a:xfrm>
          <a:prstGeom prst="roundRect">
            <a:avLst>
              <a:gd name="adj" fmla="val 5333"/>
            </a:avLst>
          </a:prstGeom>
          <a:solidFill>
            <a:schemeClr val="bg1"/>
          </a:solidFill>
          <a:ln w="12700">
            <a:solidFill>
              <a:srgbClr val="CBD3DB"/>
            </a:solidFill>
            <a:prstDash val="solid"/>
          </a:ln>
        </p:spPr>
      </p:sp>
      <p:sp>
        <p:nvSpPr>
          <p:cNvPr id="20" name="Text 17"/>
          <p:cNvSpPr txBox="1"/>
          <p:nvPr/>
        </p:nvSpPr>
        <p:spPr>
          <a:xfrm>
            <a:off x="4429658" y="4343400"/>
            <a:ext cx="3332378" cy="1371600"/>
          </a:xfrm>
          <a:prstGeom prst="rect">
            <a:avLst/>
          </a:prstGeom>
          <a:noFill/>
          <a:ln/>
        </p:spPr>
        <p:txBody>
          <a:bodyPr wrap="square" lIns="0" tIns="0" rIns="0" bIns="0" rtlCol="0" anchor="ctr"/>
          <a:lstStyle/>
          <a:p>
            <a:pPr algn="ctr" indent="0" marL="0">
              <a:spcAft>
                <a:spcPts val="200"/>
              </a:spcAft>
              <a:buNone/>
            </a:pPr>
            <a:r>
              <a:rPr lang="en-US" sz="1800" b="1" dirty="0">
                <a:solidFill>
                  <a:schemeClr val="tx1"/>
                </a:solidFill>
              </a:rPr>
              <a:t>Alertes e-mail et SMS</a:t>
            </a:r>
            <a:endParaRPr lang="en-US" sz="1800" dirty="0"/>
          </a:p>
          <a:p>
            <a:pPr algn="ctr" indent="0" marL="0">
              <a:spcAft>
                <a:spcPts val="200"/>
              </a:spcAft>
              <a:buNone/>
            </a:pPr>
            <a:r>
              <a:rPr lang="en-US" sz="1500" dirty="0">
                <a:solidFill>
                  <a:schemeClr val="accent6"/>
                </a:solidFill>
              </a:rPr>
              <a:t>SMTP Gmail · API SMS Orange / MTN, via le routeur 4G / fibre</a:t>
            </a:r>
            <a:endParaRPr lang="en-US" sz="1800" dirty="0"/>
          </a:p>
        </p:txBody>
      </p:sp>
      <p:sp>
        <p:nvSpPr>
          <p:cNvPr id="21" name="Shape 18"/>
          <p:cNvSpPr/>
          <p:nvPr/>
        </p:nvSpPr>
        <p:spPr>
          <a:xfrm>
            <a:off x="8127797" y="4343400"/>
            <a:ext cx="3515258" cy="1371600"/>
          </a:xfrm>
          <a:prstGeom prst="roundRect">
            <a:avLst>
              <a:gd name="adj" fmla="val 5333"/>
            </a:avLst>
          </a:prstGeom>
          <a:solidFill>
            <a:schemeClr val="bg1"/>
          </a:solidFill>
          <a:ln w="12700">
            <a:solidFill>
              <a:srgbClr val="CBD3DB"/>
            </a:solidFill>
            <a:prstDash val="solid"/>
          </a:ln>
        </p:spPr>
      </p:sp>
      <p:sp>
        <p:nvSpPr>
          <p:cNvPr id="22" name="Text 19"/>
          <p:cNvSpPr txBox="1"/>
          <p:nvPr/>
        </p:nvSpPr>
        <p:spPr>
          <a:xfrm>
            <a:off x="8219237" y="4343400"/>
            <a:ext cx="3332378" cy="1371600"/>
          </a:xfrm>
          <a:prstGeom prst="rect">
            <a:avLst/>
          </a:prstGeom>
          <a:noFill/>
          <a:ln/>
        </p:spPr>
        <p:txBody>
          <a:bodyPr wrap="square" lIns="0" tIns="0" rIns="0" bIns="0" rtlCol="0" anchor="ctr"/>
          <a:lstStyle/>
          <a:p>
            <a:pPr algn="ctr" indent="0" marL="0">
              <a:spcAft>
                <a:spcPts val="200"/>
              </a:spcAft>
              <a:buNone/>
            </a:pPr>
            <a:r>
              <a:rPr lang="en-US" sz="1800" b="1" dirty="0">
                <a:solidFill>
                  <a:schemeClr val="tx1"/>
                </a:solidFill>
              </a:rPr>
              <a:t>Écrans E1 et E2</a:t>
            </a:r>
            <a:endParaRPr lang="en-US" sz="1800" dirty="0"/>
          </a:p>
          <a:p>
            <a:pPr algn="ctr" indent="0" marL="0">
              <a:spcAft>
                <a:spcPts val="200"/>
              </a:spcAft>
              <a:buNone/>
            </a:pPr>
            <a:r>
              <a:rPr lang="en-US" sz="1500" dirty="0">
                <a:solidFill>
                  <a:schemeClr val="accent6"/>
                </a:solidFill>
              </a:rPr>
              <a:t>Grafana dans un navigateur : hall et salle de contrôle</a:t>
            </a:r>
            <a:endParaRPr lang="en-US" sz="1800" dirty="0"/>
          </a:p>
        </p:txBody>
      </p:sp>
      <p:sp>
        <p:nvSpPr>
          <p:cNvPr id="23" name="Shape 20"/>
          <p:cNvSpPr/>
          <p:nvPr/>
        </p:nvSpPr>
        <p:spPr>
          <a:xfrm>
            <a:off x="6174638" y="3657600"/>
            <a:ext cx="0" cy="640080"/>
          </a:xfrm>
          <a:prstGeom prst="line">
            <a:avLst/>
          </a:prstGeom>
          <a:noFill/>
          <a:ln w="19050">
            <a:solidFill>
              <a:srgbClr val="17293B"/>
            </a:solidFill>
            <a:prstDash val="solid"/>
            <a:tailEnd type="triangle"/>
          </a:ln>
        </p:spPr>
      </p:sp>
      <p:sp>
        <p:nvSpPr>
          <p:cNvPr id="24" name="Shape 21"/>
          <p:cNvSpPr/>
          <p:nvPr/>
        </p:nvSpPr>
        <p:spPr>
          <a:xfrm>
            <a:off x="10477195" y="3657600"/>
            <a:ext cx="0" cy="640080"/>
          </a:xfrm>
          <a:prstGeom prst="line">
            <a:avLst/>
          </a:prstGeom>
          <a:noFill/>
          <a:ln w="19050">
            <a:solidFill>
              <a:srgbClr val="17293B"/>
            </a:solidFill>
            <a:prstDash val="solid"/>
            <a:tailEnd type="triangle"/>
          </a:ln>
        </p:spPr>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B6B7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title" hasCustomPrompt="1"/>
          </p:nvPr>
        </p:nvSpPr>
        <p:spPr>
          <a:xfrm>
            <a:off x="548640" y="713232"/>
            <a:ext cx="11094415" cy="868680"/>
          </a:xfrm>
          <a:prstGeom prst="rect">
            <a:avLst/>
          </a:prstGeom>
          <a:noFill/>
          <a:ln/>
        </p:spPr>
        <p:txBody>
          <a:bodyPr wrap="square" lIns="0" tIns="0" rIns="0" bIns="0" rtlCol="0" anchor="t"/>
          <a:lstStyle/>
          <a:p>
            <a:pPr algn="l" indent="0" marL="0">
              <a:buNone/>
            </a:pPr>
            <a:r>
              <a:rPr lang="en-US" sz="3000" b="1" dirty="0">
                <a:solidFill>
                  <a:srgbClr val="17293B"/>
                </a:solidFill>
              </a:rPr>
              <a:t>En production, on chiffre, on cloisonne et on prévoit les pannes</a:t>
            </a:r>
            <a:endParaRPr lang="en-US" sz="3000" dirty="0"/>
          </a:p>
        </p:txBody>
      </p:sp>
      <p:sp>
        <p:nvSpPr>
          <p:cNvPr id="3" name="Shape 1"/>
          <p:cNvSpPr/>
          <p:nvPr/>
        </p:nvSpPr>
        <p:spPr>
          <a:xfrm>
            <a:off x="548640" y="1783080"/>
            <a:ext cx="5410048" cy="2011680"/>
          </a:xfrm>
          <a:prstGeom prst="rect">
            <a:avLst/>
          </a:prstGeom>
          <a:solidFill>
            <a:schemeClr val="bg2"/>
          </a:solidFill>
          <a:ln w="12700">
            <a:solidFill>
              <a:schemeClr val="bg2"/>
            </a:solidFill>
            <a:prstDash val="solid"/>
          </a:ln>
        </p:spPr>
      </p:sp>
      <p:sp>
        <p:nvSpPr>
          <p:cNvPr id="4" name="Text 2"/>
          <p:cNvSpPr txBox="1"/>
          <p:nvPr/>
        </p:nvSpPr>
        <p:spPr>
          <a:xfrm>
            <a:off x="868680" y="2057400"/>
            <a:ext cx="4769968" cy="320040"/>
          </a:xfrm>
          <a:prstGeom prst="rect">
            <a:avLst/>
          </a:prstGeom>
          <a:noFill/>
          <a:ln/>
        </p:spPr>
        <p:txBody>
          <a:bodyPr wrap="square" lIns="0" tIns="0" rIns="0" bIns="0" rtlCol="0" anchor="t"/>
          <a:lstStyle/>
          <a:p>
            <a:pPr indent="0" marL="0">
              <a:buNone/>
            </a:pPr>
            <a:r>
              <a:rPr lang="en-US" sz="1400" b="1" spc="100" kern="0" dirty="0">
                <a:solidFill>
                  <a:schemeClr val="accent1"/>
                </a:solidFill>
              </a:rPr>
              <a:t>CHIFFRER</a:t>
            </a:r>
            <a:endParaRPr lang="en-US" sz="1400" dirty="0"/>
          </a:p>
        </p:txBody>
      </p:sp>
      <p:sp>
        <p:nvSpPr>
          <p:cNvPr id="5" name="Text 3"/>
          <p:cNvSpPr txBox="1"/>
          <p:nvPr/>
        </p:nvSpPr>
        <p:spPr>
          <a:xfrm>
            <a:off x="868680" y="2423160"/>
            <a:ext cx="4769968" cy="411480"/>
          </a:xfrm>
          <a:prstGeom prst="rect">
            <a:avLst/>
          </a:prstGeom>
          <a:noFill/>
          <a:ln/>
        </p:spPr>
        <p:txBody>
          <a:bodyPr wrap="square" lIns="0" tIns="0" rIns="0" bIns="0" rtlCol="0" anchor="t"/>
          <a:lstStyle/>
          <a:p>
            <a:pPr indent="0" marL="0">
              <a:buNone/>
            </a:pPr>
            <a:r>
              <a:rPr lang="en-US" sz="2200" b="1" dirty="0">
                <a:solidFill>
                  <a:schemeClr val="tx1"/>
                </a:solidFill>
              </a:rPr>
              <a:t>MQTT sur TLS (port 8883)</a:t>
            </a:r>
            <a:endParaRPr lang="en-US" sz="2200" dirty="0"/>
          </a:p>
        </p:txBody>
      </p:sp>
      <p:sp>
        <p:nvSpPr>
          <p:cNvPr id="6" name="Text 4"/>
          <p:cNvSpPr txBox="1"/>
          <p:nvPr/>
        </p:nvSpPr>
        <p:spPr>
          <a:xfrm>
            <a:off x="868680" y="2926080"/>
            <a:ext cx="4769968" cy="731520"/>
          </a:xfrm>
          <a:prstGeom prst="rect">
            <a:avLst/>
          </a:prstGeom>
          <a:noFill/>
          <a:ln/>
        </p:spPr>
        <p:txBody>
          <a:bodyPr wrap="square" lIns="0" tIns="0" rIns="0" bIns="0" rtlCol="0" anchor="t"/>
          <a:lstStyle/>
          <a:p>
            <a:pPr indent="0" marL="0">
              <a:buNone/>
            </a:pPr>
            <a:r>
              <a:rPr lang="en-US" sz="1800" dirty="0">
                <a:solidFill>
                  <a:schemeClr val="tx1"/>
                </a:solidFill>
              </a:rPr>
              <a:t>un certificat par ESP32 ; sans TLS, les mots de passe circulent en clair</a:t>
            </a:r>
            <a:endParaRPr lang="en-US" sz="1800" dirty="0"/>
          </a:p>
        </p:txBody>
      </p:sp>
      <p:sp>
        <p:nvSpPr>
          <p:cNvPr id="7" name="Shape 5"/>
          <p:cNvSpPr/>
          <p:nvPr/>
        </p:nvSpPr>
        <p:spPr>
          <a:xfrm>
            <a:off x="6233008" y="1783080"/>
            <a:ext cx="5410048" cy="2011680"/>
          </a:xfrm>
          <a:prstGeom prst="rect">
            <a:avLst/>
          </a:prstGeom>
          <a:solidFill>
            <a:schemeClr val="bg2"/>
          </a:solidFill>
          <a:ln w="12700">
            <a:solidFill>
              <a:schemeClr val="bg2"/>
            </a:solidFill>
            <a:prstDash val="solid"/>
          </a:ln>
        </p:spPr>
      </p:sp>
      <p:sp>
        <p:nvSpPr>
          <p:cNvPr id="8" name="Text 6"/>
          <p:cNvSpPr txBox="1"/>
          <p:nvPr/>
        </p:nvSpPr>
        <p:spPr>
          <a:xfrm>
            <a:off x="6553048" y="2057400"/>
            <a:ext cx="4769968" cy="320040"/>
          </a:xfrm>
          <a:prstGeom prst="rect">
            <a:avLst/>
          </a:prstGeom>
          <a:noFill/>
          <a:ln/>
        </p:spPr>
        <p:txBody>
          <a:bodyPr wrap="square" lIns="0" tIns="0" rIns="0" bIns="0" rtlCol="0" anchor="t"/>
          <a:lstStyle/>
          <a:p>
            <a:pPr indent="0" marL="0">
              <a:buNone/>
            </a:pPr>
            <a:r>
              <a:rPr lang="en-US" sz="1400" b="1" spc="100" kern="0" dirty="0">
                <a:solidFill>
                  <a:schemeClr val="accent1"/>
                </a:solidFill>
              </a:rPr>
              <a:t>CLOISONNER</a:t>
            </a:r>
            <a:endParaRPr lang="en-US" sz="1400" dirty="0"/>
          </a:p>
        </p:txBody>
      </p:sp>
      <p:sp>
        <p:nvSpPr>
          <p:cNvPr id="9" name="Text 7"/>
          <p:cNvSpPr txBox="1"/>
          <p:nvPr/>
        </p:nvSpPr>
        <p:spPr>
          <a:xfrm>
            <a:off x="6553048" y="2423160"/>
            <a:ext cx="4769968" cy="411480"/>
          </a:xfrm>
          <a:prstGeom prst="rect">
            <a:avLst/>
          </a:prstGeom>
          <a:noFill/>
          <a:ln/>
        </p:spPr>
        <p:txBody>
          <a:bodyPr wrap="square" lIns="0" tIns="0" rIns="0" bIns="0" rtlCol="0" anchor="t"/>
          <a:lstStyle/>
          <a:p>
            <a:pPr indent="0" marL="0">
              <a:buNone/>
            </a:pPr>
            <a:r>
              <a:rPr lang="en-US" sz="2200" b="1" dirty="0">
                <a:solidFill>
                  <a:schemeClr val="tx1"/>
                </a:solidFill>
              </a:rPr>
              <a:t>Un compte et une ACL par nœud</a:t>
            </a:r>
            <a:endParaRPr lang="en-US" sz="2200" dirty="0"/>
          </a:p>
        </p:txBody>
      </p:sp>
      <p:sp>
        <p:nvSpPr>
          <p:cNvPr id="10" name="Text 8"/>
          <p:cNvSpPr txBox="1"/>
          <p:nvPr/>
        </p:nvSpPr>
        <p:spPr>
          <a:xfrm>
            <a:off x="6553048" y="2926080"/>
            <a:ext cx="4769968" cy="731520"/>
          </a:xfrm>
          <a:prstGeom prst="rect">
            <a:avLst/>
          </a:prstGeom>
          <a:noFill/>
          <a:ln/>
        </p:spPr>
        <p:txBody>
          <a:bodyPr wrap="square" lIns="0" tIns="0" rIns="0" bIns="0" rtlCol="0" anchor="t"/>
          <a:lstStyle/>
          <a:p>
            <a:pPr indent="0" marL="0">
              <a:buNone/>
            </a:pPr>
            <a:r>
              <a:rPr lang="en-US" sz="1800" dirty="0">
                <a:solidFill>
                  <a:schemeClr val="tx1"/>
                </a:solidFill>
              </a:rPr>
              <a:t>chaque nœud ne peut publier que sur ses propres topics (ENF6)</a:t>
            </a:r>
            <a:endParaRPr lang="en-US" sz="1800" dirty="0"/>
          </a:p>
        </p:txBody>
      </p:sp>
      <p:sp>
        <p:nvSpPr>
          <p:cNvPr id="11" name="Shape 9"/>
          <p:cNvSpPr/>
          <p:nvPr/>
        </p:nvSpPr>
        <p:spPr>
          <a:xfrm>
            <a:off x="548640" y="4069080"/>
            <a:ext cx="5410048" cy="2011680"/>
          </a:xfrm>
          <a:prstGeom prst="rect">
            <a:avLst/>
          </a:prstGeom>
          <a:solidFill>
            <a:schemeClr val="bg2"/>
          </a:solidFill>
          <a:ln w="12700">
            <a:solidFill>
              <a:schemeClr val="bg2"/>
            </a:solidFill>
            <a:prstDash val="solid"/>
          </a:ln>
        </p:spPr>
      </p:sp>
      <p:sp>
        <p:nvSpPr>
          <p:cNvPr id="12" name="Text 10"/>
          <p:cNvSpPr txBox="1"/>
          <p:nvPr/>
        </p:nvSpPr>
        <p:spPr>
          <a:xfrm>
            <a:off x="868680" y="4343400"/>
            <a:ext cx="4769968" cy="320040"/>
          </a:xfrm>
          <a:prstGeom prst="rect">
            <a:avLst/>
          </a:prstGeom>
          <a:noFill/>
          <a:ln/>
        </p:spPr>
        <p:txBody>
          <a:bodyPr wrap="square" lIns="0" tIns="0" rIns="0" bIns="0" rtlCol="0" anchor="t"/>
          <a:lstStyle/>
          <a:p>
            <a:pPr indent="0" marL="0">
              <a:buNone/>
            </a:pPr>
            <a:r>
              <a:rPr lang="en-US" sz="1400" b="1" spc="100" kern="0" dirty="0">
                <a:solidFill>
                  <a:schemeClr val="accent1"/>
                </a:solidFill>
              </a:rPr>
              <a:t>DÉTECTER</a:t>
            </a:r>
            <a:endParaRPr lang="en-US" sz="1400" dirty="0"/>
          </a:p>
        </p:txBody>
      </p:sp>
      <p:sp>
        <p:nvSpPr>
          <p:cNvPr id="13" name="Text 11"/>
          <p:cNvSpPr txBox="1"/>
          <p:nvPr/>
        </p:nvSpPr>
        <p:spPr>
          <a:xfrm>
            <a:off x="868680" y="4709160"/>
            <a:ext cx="4769968" cy="411480"/>
          </a:xfrm>
          <a:prstGeom prst="rect">
            <a:avLst/>
          </a:prstGeom>
          <a:noFill/>
          <a:ln/>
        </p:spPr>
        <p:txBody>
          <a:bodyPr wrap="square" lIns="0" tIns="0" rIns="0" bIns="0" rtlCol="0" anchor="t"/>
          <a:lstStyle/>
          <a:p>
            <a:pPr indent="0" marL="0">
              <a:buNone/>
            </a:pPr>
            <a:r>
              <a:rPr lang="en-US" sz="2200" b="1" dirty="0">
                <a:solidFill>
                  <a:schemeClr val="tx1"/>
                </a:solidFill>
              </a:rPr>
              <a:t>Testament MQTT (Last Will)</a:t>
            </a:r>
            <a:endParaRPr lang="en-US" sz="2200" dirty="0"/>
          </a:p>
        </p:txBody>
      </p:sp>
      <p:sp>
        <p:nvSpPr>
          <p:cNvPr id="14" name="Text 12"/>
          <p:cNvSpPr txBox="1"/>
          <p:nvPr/>
        </p:nvSpPr>
        <p:spPr>
          <a:xfrm>
            <a:off x="868680" y="5212080"/>
            <a:ext cx="4769968" cy="731520"/>
          </a:xfrm>
          <a:prstGeom prst="rect">
            <a:avLst/>
          </a:prstGeom>
          <a:noFill/>
          <a:ln/>
        </p:spPr>
        <p:txBody>
          <a:bodyPr wrap="square" lIns="0" tIns="0" rIns="0" bIns="0" rtlCol="0" anchor="t"/>
          <a:lstStyle/>
          <a:p>
            <a:pPr indent="0" marL="0">
              <a:buNone/>
            </a:pPr>
            <a:r>
              <a:rPr lang="en-US" sz="1800" dirty="0">
                <a:solidFill>
                  <a:schemeClr val="tx1"/>
                </a:solidFill>
              </a:rPr>
              <a:t>si un nœud tombe, le broker publie lui-même son absence (ENF8)</a:t>
            </a:r>
            <a:endParaRPr lang="en-US" sz="1800" dirty="0"/>
          </a:p>
        </p:txBody>
      </p:sp>
      <p:sp>
        <p:nvSpPr>
          <p:cNvPr id="15" name="Shape 13"/>
          <p:cNvSpPr/>
          <p:nvPr/>
        </p:nvSpPr>
        <p:spPr>
          <a:xfrm>
            <a:off x="6233008" y="4069080"/>
            <a:ext cx="5410048" cy="2011680"/>
          </a:xfrm>
          <a:prstGeom prst="rect">
            <a:avLst/>
          </a:prstGeom>
          <a:solidFill>
            <a:schemeClr val="bg2"/>
          </a:solidFill>
          <a:ln w="12700">
            <a:solidFill>
              <a:schemeClr val="bg2"/>
            </a:solidFill>
            <a:prstDash val="solid"/>
          </a:ln>
        </p:spPr>
      </p:sp>
      <p:sp>
        <p:nvSpPr>
          <p:cNvPr id="16" name="Text 14"/>
          <p:cNvSpPr txBox="1"/>
          <p:nvPr/>
        </p:nvSpPr>
        <p:spPr>
          <a:xfrm>
            <a:off x="6553048" y="4343400"/>
            <a:ext cx="4769968" cy="320040"/>
          </a:xfrm>
          <a:prstGeom prst="rect">
            <a:avLst/>
          </a:prstGeom>
          <a:noFill/>
          <a:ln/>
        </p:spPr>
        <p:txBody>
          <a:bodyPr wrap="square" lIns="0" tIns="0" rIns="0" bIns="0" rtlCol="0" anchor="t"/>
          <a:lstStyle/>
          <a:p>
            <a:pPr indent="0" marL="0">
              <a:buNone/>
            </a:pPr>
            <a:r>
              <a:rPr lang="en-US" sz="1400" b="1" spc="100" kern="0" dirty="0">
                <a:solidFill>
                  <a:schemeClr val="accent1"/>
                </a:solidFill>
              </a:rPr>
              <a:t>NE RIEN PERDRE</a:t>
            </a:r>
            <a:endParaRPr lang="en-US" sz="1400" dirty="0"/>
          </a:p>
        </p:txBody>
      </p:sp>
      <p:sp>
        <p:nvSpPr>
          <p:cNvPr id="17" name="Text 15"/>
          <p:cNvSpPr txBox="1"/>
          <p:nvPr/>
        </p:nvSpPr>
        <p:spPr>
          <a:xfrm>
            <a:off x="6553048" y="4709160"/>
            <a:ext cx="4769968" cy="411480"/>
          </a:xfrm>
          <a:prstGeom prst="rect">
            <a:avLst/>
          </a:prstGeom>
          <a:noFill/>
          <a:ln/>
        </p:spPr>
        <p:txBody>
          <a:bodyPr wrap="square" lIns="0" tIns="0" rIns="0" bIns="0" rtlCol="0" anchor="t"/>
          <a:lstStyle/>
          <a:p>
            <a:pPr indent="0" marL="0">
              <a:buNone/>
            </a:pPr>
            <a:r>
              <a:rPr lang="en-US" sz="2200" b="1" dirty="0">
                <a:solidFill>
                  <a:schemeClr val="tx1"/>
                </a:solidFill>
              </a:rPr>
              <a:t>Stockage local</a:t>
            </a:r>
            <a:endParaRPr lang="en-US" sz="2200" dirty="0"/>
          </a:p>
        </p:txBody>
      </p:sp>
      <p:sp>
        <p:nvSpPr>
          <p:cNvPr id="18" name="Text 16"/>
          <p:cNvSpPr txBox="1"/>
          <p:nvPr/>
        </p:nvSpPr>
        <p:spPr>
          <a:xfrm>
            <a:off x="6553048" y="5212080"/>
            <a:ext cx="4769968" cy="731520"/>
          </a:xfrm>
          <a:prstGeom prst="rect">
            <a:avLst/>
          </a:prstGeom>
          <a:noFill/>
          <a:ln/>
        </p:spPr>
        <p:txBody>
          <a:bodyPr wrap="square" lIns="0" tIns="0" rIns="0" bIns="0" rtlCol="0" anchor="t"/>
          <a:lstStyle/>
          <a:p>
            <a:pPr indent="0" marL="0">
              <a:buNone/>
            </a:pPr>
            <a:r>
              <a:rPr lang="en-US" sz="1800" dirty="0">
                <a:solidFill>
                  <a:schemeClr val="tx1"/>
                </a:solidFill>
              </a:rPr>
              <a:t>tampon de messages si le broker est injoignable, compteur de pièces en flash</a:t>
            </a:r>
            <a:endParaRPr lang="en-US" sz="18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B6B7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3" type="title" hasCustomPrompt="1"/>
          </p:nvPr>
        </p:nvSpPr>
        <p:spPr>
          <a:xfrm>
            <a:off x="548640" y="713232"/>
            <a:ext cx="11094415" cy="868680"/>
          </a:xfrm>
          <a:prstGeom prst="rect">
            <a:avLst/>
          </a:prstGeom>
          <a:noFill/>
          <a:ln/>
        </p:spPr>
        <p:txBody>
          <a:bodyPr wrap="square" lIns="0" tIns="0" rIns="0" bIns="0" rtlCol="0" anchor="t"/>
          <a:lstStyle/>
          <a:p>
            <a:pPr algn="l" indent="0" marL="0">
              <a:buNone/>
            </a:pPr>
            <a:r>
              <a:rPr lang="en-US" sz="3000" b="1" dirty="0">
                <a:solidFill>
                  <a:srgbClr val="17293B"/>
                </a:solidFill>
              </a:rPr>
              <a:t>Nous avons validé le système en simulation avant le matériel</a:t>
            </a:r>
            <a:endParaRPr lang="en-US" sz="3000" dirty="0"/>
          </a:p>
        </p:txBody>
      </p:sp>
      <p:sp>
        <p:nvSpPr>
          <p:cNvPr id="3" name="Shape 1"/>
          <p:cNvSpPr/>
          <p:nvPr/>
        </p:nvSpPr>
        <p:spPr>
          <a:xfrm>
            <a:off x="548640" y="1828800"/>
            <a:ext cx="2514600" cy="2377440"/>
          </a:xfrm>
          <a:prstGeom prst="roundRect">
            <a:avLst>
              <a:gd name="adj" fmla="val 3077"/>
            </a:avLst>
          </a:prstGeom>
          <a:solidFill>
            <a:schemeClr val="bg1"/>
          </a:solidFill>
          <a:ln w="12700">
            <a:solidFill>
              <a:srgbClr val="CBD3DB"/>
            </a:solidFill>
            <a:prstDash val="solid"/>
          </a:ln>
        </p:spPr>
      </p:sp>
      <p:sp>
        <p:nvSpPr>
          <p:cNvPr id="4" name="Shape 2"/>
          <p:cNvSpPr/>
          <p:nvPr/>
        </p:nvSpPr>
        <p:spPr>
          <a:xfrm>
            <a:off x="822960" y="2103120"/>
            <a:ext cx="502920" cy="502920"/>
          </a:xfrm>
          <a:prstGeom prst="ellipse">
            <a:avLst/>
          </a:prstGeom>
          <a:solidFill>
            <a:srgbClr val="0E746D"/>
          </a:solidFill>
          <a:ln w="12700">
            <a:solidFill>
              <a:srgbClr val="0E746D"/>
            </a:solidFill>
            <a:prstDash val="solid"/>
          </a:ln>
        </p:spPr>
      </p:sp>
      <p:sp>
        <p:nvSpPr>
          <p:cNvPr id="5" name="Text 3"/>
          <p:cNvSpPr txBox="1"/>
          <p:nvPr/>
        </p:nvSpPr>
        <p:spPr>
          <a:xfrm>
            <a:off x="822960" y="21031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822960" y="2743200"/>
            <a:ext cx="1965960" cy="411480"/>
          </a:xfrm>
          <a:prstGeom prst="rect">
            <a:avLst/>
          </a:prstGeom>
          <a:noFill/>
          <a:ln/>
        </p:spPr>
        <p:txBody>
          <a:bodyPr wrap="square" lIns="0" tIns="0" rIns="0" bIns="0" rtlCol="0" anchor="t"/>
          <a:lstStyle/>
          <a:p>
            <a:pPr indent="0" marL="0">
              <a:buNone/>
            </a:pPr>
            <a:r>
              <a:rPr lang="en-US" sz="1900" b="1" dirty="0">
                <a:solidFill>
                  <a:schemeClr val="tx1"/>
                </a:solidFill>
              </a:rPr>
              <a:t>Plan d'implantation</a:t>
            </a:r>
            <a:endParaRPr lang="en-US" sz="1900" dirty="0"/>
          </a:p>
        </p:txBody>
      </p:sp>
      <p:sp>
        <p:nvSpPr>
          <p:cNvPr id="7" name="Text 5"/>
          <p:cNvSpPr txBox="1"/>
          <p:nvPr/>
        </p:nvSpPr>
        <p:spPr>
          <a:xfrm>
            <a:off x="822960" y="3200400"/>
            <a:ext cx="2057400" cy="685800"/>
          </a:xfrm>
          <a:prstGeom prst="rect">
            <a:avLst/>
          </a:prstGeom>
          <a:noFill/>
          <a:ln/>
        </p:spPr>
        <p:txBody>
          <a:bodyPr wrap="square" lIns="0" tIns="0" rIns="0" bIns="0" rtlCol="0" anchor="t"/>
          <a:lstStyle/>
          <a:p>
            <a:pPr indent="0" marL="0">
              <a:buNone/>
            </a:pPr>
            <a:r>
              <a:rPr lang="en-US" sz="1600" dirty="0">
                <a:solidFill>
                  <a:schemeClr val="accent6"/>
                </a:solidFill>
              </a:rPr>
              <a:t>positions x ; y en mètres, réutilisées partout</a:t>
            </a:r>
            <a:endParaRPr lang="en-US" sz="1600" dirty="0"/>
          </a:p>
        </p:txBody>
      </p:sp>
      <p:sp>
        <p:nvSpPr>
          <p:cNvPr id="8" name="Text 6"/>
          <p:cNvSpPr txBox="1"/>
          <p:nvPr/>
        </p:nvSpPr>
        <p:spPr>
          <a:xfrm>
            <a:off x="822960" y="3822192"/>
            <a:ext cx="1965960" cy="274320"/>
          </a:xfrm>
          <a:prstGeom prst="rect">
            <a:avLst/>
          </a:prstGeom>
          <a:noFill/>
          <a:ln/>
        </p:spPr>
        <p:txBody>
          <a:bodyPr wrap="square" lIns="0" tIns="0" rIns="0" bIns="0" rtlCol="0" anchor="t"/>
          <a:lstStyle/>
          <a:p>
            <a:pPr indent="0" marL="0">
              <a:buNone/>
            </a:pPr>
            <a:r>
              <a:rPr lang="en-US" sz="1400" b="1" dirty="0">
                <a:solidFill>
                  <a:schemeClr val="accent1"/>
                </a:solidFill>
              </a:rPr>
              <a:t>fait</a:t>
            </a:r>
            <a:endParaRPr lang="en-US" sz="1400" dirty="0"/>
          </a:p>
        </p:txBody>
      </p:sp>
      <p:sp>
        <p:nvSpPr>
          <p:cNvPr id="9" name="Shape 7"/>
          <p:cNvSpPr/>
          <p:nvPr/>
        </p:nvSpPr>
        <p:spPr>
          <a:xfrm>
            <a:off x="3118104" y="3017520"/>
            <a:ext cx="235610" cy="0"/>
          </a:xfrm>
          <a:prstGeom prst="line">
            <a:avLst/>
          </a:prstGeom>
          <a:noFill/>
          <a:ln w="19050">
            <a:solidFill>
              <a:srgbClr val="17293B"/>
            </a:solidFill>
            <a:prstDash val="solid"/>
            <a:tailEnd type="triangle"/>
          </a:ln>
        </p:spPr>
      </p:sp>
      <p:sp>
        <p:nvSpPr>
          <p:cNvPr id="10" name="Shape 8"/>
          <p:cNvSpPr/>
          <p:nvPr/>
        </p:nvSpPr>
        <p:spPr>
          <a:xfrm>
            <a:off x="3408578" y="1828800"/>
            <a:ext cx="2514600" cy="2377440"/>
          </a:xfrm>
          <a:prstGeom prst="roundRect">
            <a:avLst>
              <a:gd name="adj" fmla="val 3077"/>
            </a:avLst>
          </a:prstGeom>
          <a:solidFill>
            <a:schemeClr val="bg1"/>
          </a:solidFill>
          <a:ln w="12700">
            <a:solidFill>
              <a:srgbClr val="CBD3DB"/>
            </a:solidFill>
            <a:prstDash val="solid"/>
          </a:ln>
        </p:spPr>
      </p:sp>
      <p:sp>
        <p:nvSpPr>
          <p:cNvPr id="11" name="Shape 9"/>
          <p:cNvSpPr/>
          <p:nvPr/>
        </p:nvSpPr>
        <p:spPr>
          <a:xfrm>
            <a:off x="3682898" y="2103120"/>
            <a:ext cx="502920" cy="502920"/>
          </a:xfrm>
          <a:prstGeom prst="ellipse">
            <a:avLst/>
          </a:prstGeom>
          <a:solidFill>
            <a:srgbClr val="0E746D"/>
          </a:solidFill>
          <a:ln w="12700">
            <a:solidFill>
              <a:srgbClr val="0E746D"/>
            </a:solidFill>
            <a:prstDash val="solid"/>
          </a:ln>
        </p:spPr>
      </p:sp>
      <p:sp>
        <p:nvSpPr>
          <p:cNvPr id="12" name="Text 10"/>
          <p:cNvSpPr txBox="1"/>
          <p:nvPr/>
        </p:nvSpPr>
        <p:spPr>
          <a:xfrm>
            <a:off x="3682898" y="21031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Text 11"/>
          <p:cNvSpPr txBox="1"/>
          <p:nvPr/>
        </p:nvSpPr>
        <p:spPr>
          <a:xfrm>
            <a:off x="3682898" y="2743200"/>
            <a:ext cx="1965960" cy="411480"/>
          </a:xfrm>
          <a:prstGeom prst="rect">
            <a:avLst/>
          </a:prstGeom>
          <a:noFill/>
          <a:ln/>
        </p:spPr>
        <p:txBody>
          <a:bodyPr wrap="square" lIns="0" tIns="0" rIns="0" bIns="0" rtlCol="0" anchor="t"/>
          <a:lstStyle/>
          <a:p>
            <a:pPr indent="0" marL="0">
              <a:buNone/>
            </a:pPr>
            <a:r>
              <a:rPr lang="en-US" sz="1900" b="1" dirty="0">
                <a:solidFill>
                  <a:schemeClr val="tx1"/>
                </a:solidFill>
              </a:rPr>
              <a:t>Simulation TinyOS</a:t>
            </a:r>
            <a:endParaRPr lang="en-US" sz="1900" dirty="0"/>
          </a:p>
        </p:txBody>
      </p:sp>
      <p:sp>
        <p:nvSpPr>
          <p:cNvPr id="14" name="Text 12"/>
          <p:cNvSpPr txBox="1"/>
          <p:nvPr/>
        </p:nvSpPr>
        <p:spPr>
          <a:xfrm>
            <a:off x="3682898" y="3200400"/>
            <a:ext cx="2057400" cy="685800"/>
          </a:xfrm>
          <a:prstGeom prst="rect">
            <a:avLst/>
          </a:prstGeom>
          <a:noFill/>
          <a:ln/>
        </p:spPr>
        <p:txBody>
          <a:bodyPr wrap="square" lIns="0" tIns="0" rIns="0" bIns="0" rtlCol="0" anchor="t"/>
          <a:lstStyle/>
          <a:p>
            <a:pPr indent="0" marL="0">
              <a:buNone/>
            </a:pPr>
            <a:r>
              <a:rPr lang="en-US" sz="1600" dirty="0">
                <a:solidFill>
                  <a:schemeClr val="accent6"/>
                </a:solidFill>
              </a:rPr>
              <a:t>Cooja · 10 nœuds · 8 tests automatiques</a:t>
            </a:r>
            <a:endParaRPr lang="en-US" sz="1600" dirty="0"/>
          </a:p>
        </p:txBody>
      </p:sp>
      <p:sp>
        <p:nvSpPr>
          <p:cNvPr id="15" name="Text 13"/>
          <p:cNvSpPr txBox="1"/>
          <p:nvPr/>
        </p:nvSpPr>
        <p:spPr>
          <a:xfrm>
            <a:off x="3682898" y="3822192"/>
            <a:ext cx="1965960" cy="274320"/>
          </a:xfrm>
          <a:prstGeom prst="rect">
            <a:avLst/>
          </a:prstGeom>
          <a:noFill/>
          <a:ln/>
        </p:spPr>
        <p:txBody>
          <a:bodyPr wrap="square" lIns="0" tIns="0" rIns="0" bIns="0" rtlCol="0" anchor="t"/>
          <a:lstStyle/>
          <a:p>
            <a:pPr indent="0" marL="0">
              <a:buNone/>
            </a:pPr>
            <a:r>
              <a:rPr lang="en-US" sz="1400" b="1" dirty="0">
                <a:solidFill>
                  <a:schemeClr val="accent1"/>
                </a:solidFill>
              </a:rPr>
              <a:t>fait</a:t>
            </a:r>
            <a:endParaRPr lang="en-US" sz="1400" dirty="0"/>
          </a:p>
        </p:txBody>
      </p:sp>
      <p:sp>
        <p:nvSpPr>
          <p:cNvPr id="16" name="Shape 14"/>
          <p:cNvSpPr/>
          <p:nvPr/>
        </p:nvSpPr>
        <p:spPr>
          <a:xfrm>
            <a:off x="5978042" y="3017520"/>
            <a:ext cx="235610" cy="0"/>
          </a:xfrm>
          <a:prstGeom prst="line">
            <a:avLst/>
          </a:prstGeom>
          <a:noFill/>
          <a:ln w="19050">
            <a:solidFill>
              <a:srgbClr val="17293B"/>
            </a:solidFill>
            <a:prstDash val="solid"/>
            <a:tailEnd type="triangle"/>
          </a:ln>
        </p:spPr>
      </p:sp>
      <p:sp>
        <p:nvSpPr>
          <p:cNvPr id="17" name="Shape 15"/>
          <p:cNvSpPr/>
          <p:nvPr/>
        </p:nvSpPr>
        <p:spPr>
          <a:xfrm>
            <a:off x="6268517" y="1828800"/>
            <a:ext cx="2514600" cy="2377440"/>
          </a:xfrm>
          <a:prstGeom prst="roundRect">
            <a:avLst>
              <a:gd name="adj" fmla="val 3077"/>
            </a:avLst>
          </a:prstGeom>
          <a:solidFill>
            <a:schemeClr val="bg1"/>
          </a:solidFill>
          <a:ln w="12700">
            <a:solidFill>
              <a:srgbClr val="CBD3DB"/>
            </a:solidFill>
            <a:prstDash val="solid"/>
          </a:ln>
        </p:spPr>
      </p:sp>
      <p:sp>
        <p:nvSpPr>
          <p:cNvPr id="18" name="Shape 16"/>
          <p:cNvSpPr/>
          <p:nvPr/>
        </p:nvSpPr>
        <p:spPr>
          <a:xfrm>
            <a:off x="6542837" y="2103120"/>
            <a:ext cx="502920" cy="502920"/>
          </a:xfrm>
          <a:prstGeom prst="ellipse">
            <a:avLst/>
          </a:prstGeom>
          <a:solidFill>
            <a:srgbClr val="0E746D"/>
          </a:solidFill>
          <a:ln w="12700">
            <a:solidFill>
              <a:srgbClr val="0E746D"/>
            </a:solidFill>
            <a:prstDash val="solid"/>
          </a:ln>
        </p:spPr>
      </p:sp>
      <p:sp>
        <p:nvSpPr>
          <p:cNvPr id="19" name="Text 17"/>
          <p:cNvSpPr txBox="1"/>
          <p:nvPr/>
        </p:nvSpPr>
        <p:spPr>
          <a:xfrm>
            <a:off x="6542837" y="21031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0" name="Text 18"/>
          <p:cNvSpPr txBox="1"/>
          <p:nvPr/>
        </p:nvSpPr>
        <p:spPr>
          <a:xfrm>
            <a:off x="6542837" y="2743200"/>
            <a:ext cx="1965960" cy="411480"/>
          </a:xfrm>
          <a:prstGeom prst="rect">
            <a:avLst/>
          </a:prstGeom>
          <a:noFill/>
          <a:ln/>
        </p:spPr>
        <p:txBody>
          <a:bodyPr wrap="square" lIns="0" tIns="0" rIns="0" bIns="0" rtlCol="0" anchor="t"/>
          <a:lstStyle/>
          <a:p>
            <a:pPr indent="0" marL="0">
              <a:buNone/>
            </a:pPr>
            <a:r>
              <a:rPr lang="en-US" sz="1900" b="1" dirty="0">
                <a:solidFill>
                  <a:schemeClr val="tx1"/>
                </a:solidFill>
              </a:rPr>
              <a:t>Portage Contiki-NG</a:t>
            </a:r>
            <a:endParaRPr lang="en-US" sz="1900" dirty="0"/>
          </a:p>
        </p:txBody>
      </p:sp>
      <p:sp>
        <p:nvSpPr>
          <p:cNvPr id="21" name="Text 19"/>
          <p:cNvSpPr txBox="1"/>
          <p:nvPr/>
        </p:nvSpPr>
        <p:spPr>
          <a:xfrm>
            <a:off x="6542837" y="3200400"/>
            <a:ext cx="2057400" cy="685800"/>
          </a:xfrm>
          <a:prstGeom prst="rect">
            <a:avLst/>
          </a:prstGeom>
          <a:noFill/>
          <a:ln/>
        </p:spPr>
        <p:txBody>
          <a:bodyPr wrap="square" lIns="0" tIns="0" rIns="0" bIns="0" rtlCol="0" anchor="t"/>
          <a:lstStyle/>
          <a:p>
            <a:pPr indent="0" marL="0">
              <a:buNone/>
            </a:pPr>
            <a:r>
              <a:rPr lang="en-US" sz="1600" dirty="0">
                <a:solidFill>
                  <a:schemeClr val="accent6"/>
                </a:solidFill>
              </a:rPr>
              <a:t>mêmes tests, autre OS, routage RPL</a:t>
            </a:r>
            <a:endParaRPr lang="en-US" sz="1600" dirty="0"/>
          </a:p>
        </p:txBody>
      </p:sp>
      <p:sp>
        <p:nvSpPr>
          <p:cNvPr id="22" name="Text 20"/>
          <p:cNvSpPr txBox="1"/>
          <p:nvPr/>
        </p:nvSpPr>
        <p:spPr>
          <a:xfrm>
            <a:off x="6542837" y="3822192"/>
            <a:ext cx="1965960" cy="274320"/>
          </a:xfrm>
          <a:prstGeom prst="rect">
            <a:avLst/>
          </a:prstGeom>
          <a:noFill/>
          <a:ln/>
        </p:spPr>
        <p:txBody>
          <a:bodyPr wrap="square" lIns="0" tIns="0" rIns="0" bIns="0" rtlCol="0" anchor="t"/>
          <a:lstStyle/>
          <a:p>
            <a:pPr indent="0" marL="0">
              <a:buNone/>
            </a:pPr>
            <a:r>
              <a:rPr lang="en-US" sz="1400" b="1" dirty="0">
                <a:solidFill>
                  <a:schemeClr val="accent1"/>
                </a:solidFill>
              </a:rPr>
              <a:t>fait</a:t>
            </a:r>
            <a:endParaRPr lang="en-US" sz="1400" dirty="0"/>
          </a:p>
        </p:txBody>
      </p:sp>
      <p:sp>
        <p:nvSpPr>
          <p:cNvPr id="23" name="Shape 21"/>
          <p:cNvSpPr/>
          <p:nvPr/>
        </p:nvSpPr>
        <p:spPr>
          <a:xfrm>
            <a:off x="8837981" y="3017520"/>
            <a:ext cx="235610" cy="0"/>
          </a:xfrm>
          <a:prstGeom prst="line">
            <a:avLst/>
          </a:prstGeom>
          <a:noFill/>
          <a:ln w="19050">
            <a:solidFill>
              <a:srgbClr val="17293B"/>
            </a:solidFill>
            <a:prstDash val="solid"/>
            <a:tailEnd type="triangle"/>
          </a:ln>
        </p:spPr>
      </p:sp>
      <p:sp>
        <p:nvSpPr>
          <p:cNvPr id="24" name="Shape 22"/>
          <p:cNvSpPr/>
          <p:nvPr/>
        </p:nvSpPr>
        <p:spPr>
          <a:xfrm>
            <a:off x="9128455" y="1828800"/>
            <a:ext cx="2514600" cy="2377440"/>
          </a:xfrm>
          <a:prstGeom prst="roundRect">
            <a:avLst>
              <a:gd name="adj" fmla="val 3077"/>
            </a:avLst>
          </a:prstGeom>
          <a:solidFill>
            <a:schemeClr val="bg1"/>
          </a:solidFill>
          <a:ln w="12700">
            <a:solidFill>
              <a:srgbClr val="CBD3DB"/>
            </a:solidFill>
            <a:prstDash val="solid"/>
          </a:ln>
        </p:spPr>
      </p:sp>
      <p:sp>
        <p:nvSpPr>
          <p:cNvPr id="25" name="Shape 23"/>
          <p:cNvSpPr/>
          <p:nvPr/>
        </p:nvSpPr>
        <p:spPr>
          <a:xfrm>
            <a:off x="9402775" y="2103120"/>
            <a:ext cx="502920" cy="502920"/>
          </a:xfrm>
          <a:prstGeom prst="ellipse">
            <a:avLst/>
          </a:prstGeom>
          <a:solidFill>
            <a:srgbClr val="0E746D"/>
          </a:solidFill>
          <a:ln w="12700">
            <a:solidFill>
              <a:srgbClr val="0E746D"/>
            </a:solidFill>
            <a:prstDash val="solid"/>
          </a:ln>
        </p:spPr>
      </p:sp>
      <p:sp>
        <p:nvSpPr>
          <p:cNvPr id="26" name="Text 24"/>
          <p:cNvSpPr txBox="1"/>
          <p:nvPr/>
        </p:nvSpPr>
        <p:spPr>
          <a:xfrm>
            <a:off x="9402775" y="21031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7" name="Text 25"/>
          <p:cNvSpPr txBox="1"/>
          <p:nvPr/>
        </p:nvSpPr>
        <p:spPr>
          <a:xfrm>
            <a:off x="9402775" y="2743200"/>
            <a:ext cx="1965960" cy="411480"/>
          </a:xfrm>
          <a:prstGeom prst="rect">
            <a:avLst/>
          </a:prstGeom>
          <a:noFill/>
          <a:ln/>
        </p:spPr>
        <p:txBody>
          <a:bodyPr wrap="square" lIns="0" tIns="0" rIns="0" bIns="0" rtlCol="0" anchor="t"/>
          <a:lstStyle/>
          <a:p>
            <a:pPr indent="0" marL="0">
              <a:buNone/>
            </a:pPr>
            <a:r>
              <a:rPr lang="en-US" sz="1900" b="1" dirty="0">
                <a:solidFill>
                  <a:schemeClr val="tx1"/>
                </a:solidFill>
              </a:rPr>
              <a:t>Prototype ESP32</a:t>
            </a:r>
            <a:endParaRPr lang="en-US" sz="1900" dirty="0"/>
          </a:p>
        </p:txBody>
      </p:sp>
      <p:sp>
        <p:nvSpPr>
          <p:cNvPr id="28" name="Text 26"/>
          <p:cNvSpPr txBox="1"/>
          <p:nvPr/>
        </p:nvSpPr>
        <p:spPr>
          <a:xfrm>
            <a:off x="9402775" y="3200400"/>
            <a:ext cx="2057400" cy="685800"/>
          </a:xfrm>
          <a:prstGeom prst="rect">
            <a:avLst/>
          </a:prstGeom>
          <a:noFill/>
          <a:ln/>
        </p:spPr>
        <p:txBody>
          <a:bodyPr wrap="square" lIns="0" tIns="0" rIns="0" bIns="0" rtlCol="0" anchor="t"/>
          <a:lstStyle/>
          <a:p>
            <a:pPr indent="0" marL="0">
              <a:buNone/>
            </a:pPr>
            <a:r>
              <a:rPr lang="en-US" sz="1600" dirty="0">
                <a:solidFill>
                  <a:schemeClr val="accent6"/>
                </a:solidFill>
              </a:rPr>
              <a:t>3 cartes et un broker sur un VPS</a:t>
            </a:r>
            <a:endParaRPr lang="en-US" sz="1600" dirty="0"/>
          </a:p>
        </p:txBody>
      </p:sp>
      <p:sp>
        <p:nvSpPr>
          <p:cNvPr id="29" name="Text 27"/>
          <p:cNvSpPr txBox="1"/>
          <p:nvPr/>
        </p:nvSpPr>
        <p:spPr>
          <a:xfrm>
            <a:off x="9402775" y="3822192"/>
            <a:ext cx="1965960" cy="274320"/>
          </a:xfrm>
          <a:prstGeom prst="rect">
            <a:avLst/>
          </a:prstGeom>
          <a:noFill/>
          <a:ln/>
        </p:spPr>
        <p:txBody>
          <a:bodyPr wrap="square" lIns="0" tIns="0" rIns="0" bIns="0" rtlCol="0" anchor="t"/>
          <a:lstStyle/>
          <a:p>
            <a:pPr indent="0" marL="0">
              <a:buNone/>
            </a:pPr>
            <a:r>
              <a:rPr lang="en-US" sz="1400" b="1" dirty="0">
                <a:solidFill>
                  <a:schemeClr val="accent6"/>
                </a:solidFill>
              </a:rPr>
              <a:t>montage en cours</a:t>
            </a:r>
            <a:endParaRPr lang="en-US" sz="1400" dirty="0"/>
          </a:p>
        </p:txBody>
      </p:sp>
      <p:sp>
        <p:nvSpPr>
          <p:cNvPr id="30" name="Shape 28"/>
          <p:cNvSpPr/>
          <p:nvPr/>
        </p:nvSpPr>
        <p:spPr>
          <a:xfrm>
            <a:off x="548640" y="4572000"/>
            <a:ext cx="11094415" cy="1325880"/>
          </a:xfrm>
          <a:prstGeom prst="rect">
            <a:avLst/>
          </a:prstGeom>
          <a:solidFill>
            <a:schemeClr val="accent5"/>
          </a:solidFill>
          <a:ln w="12700">
            <a:solidFill>
              <a:schemeClr val="accent5"/>
            </a:solidFill>
            <a:prstDash val="solid"/>
          </a:ln>
        </p:spPr>
      </p:sp>
      <p:sp>
        <p:nvSpPr>
          <p:cNvPr id="31" name="Text 29"/>
          <p:cNvSpPr txBox="1"/>
          <p:nvPr/>
        </p:nvSpPr>
        <p:spPr>
          <a:xfrm>
            <a:off x="868680" y="4572000"/>
            <a:ext cx="10454335" cy="1325880"/>
          </a:xfrm>
          <a:prstGeom prst="rect">
            <a:avLst/>
          </a:prstGeom>
          <a:noFill/>
          <a:ln/>
        </p:spPr>
        <p:txBody>
          <a:bodyPr wrap="square" lIns="0" tIns="0" rIns="0" bIns="0" rtlCol="0" anchor="ctr"/>
          <a:lstStyle/>
          <a:p>
            <a:pPr indent="0" marL="0">
              <a:buNone/>
            </a:pPr>
            <a:r>
              <a:rPr lang="en-US" sz="1800" b="1" dirty="0">
                <a:solidFill>
                  <a:schemeClr val="tx1"/>
                </a:solidFill>
              </a:rPr>
              <a:t>Pourquoi simuler d'abord ? </a:t>
            </a:r>
            <a:pPr indent="0" marL="0">
              <a:buNone/>
            </a:pPr>
            <a:r>
              <a:rPr lang="en-US" sz="1800" dirty="0">
                <a:solidFill>
                  <a:schemeClr val="tx1"/>
                </a:solidFill>
              </a:rPr>
              <a:t>Cooja émule les cartes de capteurs instruction par instruction : on rejoue chaque scénario de test sans matériel, autant de fois que nécessaire, avec les vraies distances de l'usine.</a:t>
            </a:r>
            <a:endParaRPr lang="en-US" sz="18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B6B7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3" type="title" hasCustomPrompt="1"/>
          </p:nvPr>
        </p:nvSpPr>
        <p:spPr>
          <a:xfrm>
            <a:off x="548640" y="713232"/>
            <a:ext cx="11094415" cy="868680"/>
          </a:xfrm>
          <a:prstGeom prst="rect">
            <a:avLst/>
          </a:prstGeom>
          <a:noFill/>
          <a:ln/>
        </p:spPr>
        <p:txBody>
          <a:bodyPr wrap="square" lIns="0" tIns="0" rIns="0" bIns="0" rtlCol="0" anchor="t"/>
          <a:lstStyle/>
          <a:p>
            <a:pPr algn="l" indent="0" marL="0">
              <a:buNone/>
            </a:pPr>
            <a:r>
              <a:rPr lang="en-US" sz="3000" b="1" dirty="0">
                <a:solidFill>
                  <a:srgbClr val="17293B"/>
                </a:solidFill>
              </a:rPr>
              <a:t>Les 10 cartes du plan forment seules un arbre de routage multi-saut</a:t>
            </a:r>
            <a:endParaRPr lang="en-US" sz="3000" dirty="0"/>
          </a:p>
        </p:txBody>
      </p:sp>
      <p:pic>
        <p:nvPicPr>
          <p:cNvPr id="3" name="Image 0" descr="D:\IFRI\Réseaux de capteurs\simulation\02_simulation_projet\rapport\figures\topologie.png">    </p:cNvPr>
          <p:cNvPicPr>
            <a:picLocks noChangeAspect="1"/>
          </p:cNvPicPr>
          <p:nvPr/>
        </p:nvPicPr>
        <p:blipFill>
          <a:blip r:embed="rId1"/>
          <a:stretch>
            <a:fillRect/>
          </a:stretch>
        </p:blipFill>
        <p:spPr>
          <a:xfrm>
            <a:off x="1066648" y="1691640"/>
            <a:ext cx="10058400" cy="3831771"/>
          </a:xfrm>
          <a:prstGeom prst="rect">
            <a:avLst/>
          </a:prstGeom>
        </p:spPr>
      </p:pic>
      <p:sp>
        <p:nvSpPr>
          <p:cNvPr id="4" name="Text 1"/>
          <p:cNvSpPr txBox="1"/>
          <p:nvPr/>
        </p:nvSpPr>
        <p:spPr>
          <a:xfrm>
            <a:off x="548640" y="5596128"/>
            <a:ext cx="11094415" cy="640080"/>
          </a:xfrm>
          <a:prstGeom prst="rect">
            <a:avLst/>
          </a:prstGeom>
          <a:noFill/>
          <a:ln/>
        </p:spPr>
        <p:txBody>
          <a:bodyPr wrap="square" lIns="0" tIns="0" rIns="0" bIns="0" rtlCol="0" anchor="t"/>
          <a:lstStyle/>
          <a:p>
            <a:pPr indent="0" marL="0">
              <a:buNone/>
            </a:pPr>
            <a:r>
              <a:rPr lang="en-US" sz="1800" dirty="0">
                <a:solidFill>
                  <a:schemeClr val="tx1"/>
                </a:solidFill>
              </a:rPr>
              <a:t>Portée radio de 20 m : P1, P2 et P3 ne voient pas la passerelle et passent par un relais (2 sauts). Après le retrait de T1, P1 passe par P2.</a:t>
            </a:r>
            <a:endParaRPr lang="en-US" sz="18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B6B7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p:nvPr>
            <p:ph idx="103" type="title" hasCustomPrompt="1"/>
          </p:nvPr>
        </p:nvSpPr>
        <p:spPr>
          <a:xfrm>
            <a:off x="548640" y="713232"/>
            <a:ext cx="11094415" cy="868680"/>
          </a:xfrm>
          <a:prstGeom prst="rect">
            <a:avLst/>
          </a:prstGeom>
          <a:noFill/>
          <a:ln/>
        </p:spPr>
        <p:txBody>
          <a:bodyPr wrap="square" lIns="0" tIns="0" rIns="0" bIns="0" rtlCol="0" anchor="t"/>
          <a:lstStyle/>
          <a:p>
            <a:pPr algn="l" indent="0" marL="0">
              <a:buNone/>
            </a:pPr>
            <a:r>
              <a:rPr lang="en-US" sz="3000" b="1" dirty="0">
                <a:solidFill>
                  <a:srgbClr val="17293B"/>
                </a:solidFill>
              </a:rPr>
              <a:t>8 tests automatiques vérifient 15 exigences : toutes sont conformes</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3840480"/>
                <a:gridCol w="1097280"/>
                <a:gridCol w="4846320"/>
                <a:gridCol w="1307592"/>
              </a:tblGrid>
              <a:tr h="41148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Exigence</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0E746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Test</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0E746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Valeur mesurée (simulation TinyOS)</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0E746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Verdict</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0E746D"/>
                    </a:solidFill>
                  </a:tcPr>
                </a:tc>
              </a:tr>
              <a:tr h="411480">
                <a:tc>
                  <a:txBody>
                    <a:bodyPr/>
                    <a:lstStyle/>
                    <a:p>
                      <a:pPr indent="0" marL="0">
                        <a:buNone/>
                      </a:pPr>
                      <a:r>
                        <a:rPr lang="en-US" sz="1500" b="1" dirty="0">
                          <a:solidFill>
                            <a:srgbClr val="17293B"/>
                          </a:solidFill>
                          <a:latin typeface="Calibri" pitchFamily="34" charset="0"/>
                          <a:ea typeface="Calibri" pitchFamily="34" charset="-122"/>
                          <a:cs typeface="Calibri" pitchFamily="34" charset="-120"/>
                        </a:rPr>
                        <a:t>EF1 · une mesure toutes les 30 s ± 2 s</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500" dirty="0">
                          <a:solidFill>
                            <a:srgbClr val="17293B"/>
                          </a:solidFill>
                          <a:latin typeface="Calibri" pitchFamily="34" charset="0"/>
                          <a:ea typeface="Calibri" pitchFamily="34" charset="-122"/>
                          <a:cs typeface="Calibri" pitchFamily="34" charset="-120"/>
                        </a:rPr>
                        <a:t>T1</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500" dirty="0">
                          <a:solidFill>
                            <a:srgbClr val="17293B"/>
                          </a:solidFill>
                          <a:latin typeface="Calibri" pitchFamily="34" charset="0"/>
                          <a:ea typeface="Calibri" pitchFamily="34" charset="-122"/>
                          <a:cs typeface="Calibri" pitchFamily="34" charset="-120"/>
                        </a:rPr>
                        <a:t>30,00 s sur 174 intervalles</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500" b="1" dirty="0">
                          <a:solidFill>
                            <a:srgbClr val="0E746D"/>
                          </a:solidFill>
                          <a:latin typeface="Calibri" pitchFamily="34" charset="0"/>
                          <a:ea typeface="Calibri" pitchFamily="34" charset="-122"/>
                          <a:cs typeface="Calibri" pitchFamily="34" charset="-120"/>
                        </a:rPr>
                        <a:t>conforme</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r>
              <a:tr h="411480">
                <a:tc>
                  <a:txBody>
                    <a:bodyPr/>
                    <a:lstStyle/>
                    <a:p>
                      <a:pPr indent="0" marL="0">
                        <a:buNone/>
                      </a:pPr>
                      <a:r>
                        <a:rPr lang="en-US" sz="1500" b="1" dirty="0">
                          <a:solidFill>
                            <a:srgbClr val="17293B"/>
                          </a:solidFill>
                          <a:latin typeface="Calibri" pitchFamily="34" charset="0"/>
                          <a:ea typeface="Calibri" pitchFamily="34" charset="-122"/>
                          <a:cs typeface="Calibri" pitchFamily="34" charset="-120"/>
                        </a:rPr>
                        <a:t>EF2 + ENF1 · M2 à 95 °C → alerte</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500" dirty="0">
                          <a:solidFill>
                            <a:srgbClr val="17293B"/>
                          </a:solidFill>
                          <a:latin typeface="Calibri" pitchFamily="34" charset="0"/>
                          <a:ea typeface="Calibri" pitchFamily="34" charset="-122"/>
                          <a:cs typeface="Calibri" pitchFamily="34" charset="-120"/>
                        </a:rPr>
                        <a:t>T2</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500" dirty="0">
                          <a:solidFill>
                            <a:srgbClr val="17293B"/>
                          </a:solidFill>
                          <a:latin typeface="Calibri" pitchFamily="34" charset="0"/>
                          <a:ea typeface="Calibri" pitchFamily="34" charset="-122"/>
                          <a:cs typeface="Calibri" pitchFamily="34" charset="-120"/>
                        </a:rPr>
                        <a:t>alerte 0,87 s après la mise à 95 °C</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500" b="1" dirty="0">
                          <a:solidFill>
                            <a:srgbClr val="0E746D"/>
                          </a:solidFill>
                          <a:latin typeface="Calibri" pitchFamily="34" charset="0"/>
                          <a:ea typeface="Calibri" pitchFamily="34" charset="-122"/>
                          <a:cs typeface="Calibri" pitchFamily="34" charset="-120"/>
                        </a:rPr>
                        <a:t>conforme</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r>
              <a:tr h="411480">
                <a:tc>
                  <a:txBody>
                    <a:bodyPr/>
                    <a:lstStyle/>
                    <a:p>
                      <a:pPr indent="0" marL="0">
                        <a:buNone/>
                      </a:pPr>
                      <a:r>
                        <a:rPr lang="en-US" sz="1500" b="1" dirty="0">
                          <a:solidFill>
                            <a:srgbClr val="17293B"/>
                          </a:solidFill>
                          <a:latin typeface="Calibri" pitchFamily="34" charset="0"/>
                          <a:ea typeface="Calibri" pitchFamily="34" charset="-122"/>
                          <a:cs typeface="Calibri" pitchFamily="34" charset="-120"/>
                        </a:rPr>
                        <a:t>EF2 · seuil propre à chaque machine</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500" dirty="0">
                          <a:solidFill>
                            <a:srgbClr val="17293B"/>
                          </a:solidFill>
                          <a:latin typeface="Calibri" pitchFamily="34" charset="0"/>
                          <a:ea typeface="Calibri" pitchFamily="34" charset="-122"/>
                          <a:cs typeface="Calibri" pitchFamily="34" charset="-120"/>
                        </a:rPr>
                        <a:t>T2</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500" dirty="0">
                          <a:solidFill>
                            <a:srgbClr val="17293B"/>
                          </a:solidFill>
                          <a:latin typeface="Calibri" pitchFamily="34" charset="0"/>
                          <a:ea typeface="Calibri" pitchFamily="34" charset="-122"/>
                          <a:cs typeface="Calibri" pitchFamily="34" charset="-120"/>
                        </a:rPr>
                        <a:t>four : 185 °C sans alerte, 225 °C → alerte en 0,32 s</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500" b="1" dirty="0">
                          <a:solidFill>
                            <a:srgbClr val="0E746D"/>
                          </a:solidFill>
                          <a:latin typeface="Calibri" pitchFamily="34" charset="0"/>
                          <a:ea typeface="Calibri" pitchFamily="34" charset="-122"/>
                          <a:cs typeface="Calibri" pitchFamily="34" charset="-120"/>
                        </a:rPr>
                        <a:t>conforme</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r>
              <a:tr h="411480">
                <a:tc>
                  <a:txBody>
                    <a:bodyPr/>
                    <a:lstStyle/>
                    <a:p>
                      <a:pPr indent="0" marL="0">
                        <a:buNone/>
                      </a:pPr>
                      <a:r>
                        <a:rPr lang="en-US" sz="1500" b="1" dirty="0">
                          <a:solidFill>
                            <a:srgbClr val="17293B"/>
                          </a:solidFill>
                          <a:latin typeface="Calibri" pitchFamily="34" charset="0"/>
                          <a:ea typeface="Calibri" pitchFamily="34" charset="-122"/>
                          <a:cs typeface="Calibri" pitchFamily="34" charset="-120"/>
                        </a:rPr>
                        <a:t>EF5 · 100 pièces → compteur = 100</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500" dirty="0">
                          <a:solidFill>
                            <a:srgbClr val="17293B"/>
                          </a:solidFill>
                          <a:latin typeface="Calibri" pitchFamily="34" charset="0"/>
                          <a:ea typeface="Calibri" pitchFamily="34" charset="-122"/>
                          <a:cs typeface="Calibri" pitchFamily="34" charset="-120"/>
                        </a:rPr>
                        <a:t>T4</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500" dirty="0">
                          <a:solidFill>
                            <a:srgbClr val="17293B"/>
                          </a:solidFill>
                          <a:latin typeface="Calibri" pitchFamily="34" charset="0"/>
                          <a:ea typeface="Calibri" pitchFamily="34" charset="-122"/>
                          <a:cs typeface="Calibri" pitchFamily="34" charset="-120"/>
                        </a:rPr>
                        <a:t>100 / 100 ; 42 pièces restaurées après redémarrage</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500" b="1" dirty="0">
                          <a:solidFill>
                            <a:srgbClr val="0E746D"/>
                          </a:solidFill>
                          <a:latin typeface="Calibri" pitchFamily="34" charset="0"/>
                          <a:ea typeface="Calibri" pitchFamily="34" charset="-122"/>
                          <a:cs typeface="Calibri" pitchFamily="34" charset="-120"/>
                        </a:rPr>
                        <a:t>conforme</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r>
              <a:tr h="411480">
                <a:tc>
                  <a:txBody>
                    <a:bodyPr/>
                    <a:lstStyle/>
                    <a:p>
                      <a:pPr indent="0" marL="0">
                        <a:buNone/>
                      </a:pPr>
                      <a:r>
                        <a:rPr lang="en-US" sz="1500" b="1" dirty="0">
                          <a:solidFill>
                            <a:srgbClr val="17293B"/>
                          </a:solidFill>
                          <a:latin typeface="Calibri" pitchFamily="34" charset="0"/>
                          <a:ea typeface="Calibri" pitchFamily="34" charset="-122"/>
                          <a:cs typeface="Calibri" pitchFamily="34" charset="-120"/>
                        </a:rPr>
                        <a:t>EF6 · présence de nuit → alerte</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500" dirty="0">
                          <a:solidFill>
                            <a:srgbClr val="17293B"/>
                          </a:solidFill>
                          <a:latin typeface="Calibri" pitchFamily="34" charset="0"/>
                          <a:ea typeface="Calibri" pitchFamily="34" charset="-122"/>
                          <a:cs typeface="Calibri" pitchFamily="34" charset="-120"/>
                        </a:rPr>
                        <a:t>T5</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500" dirty="0">
                          <a:solidFill>
                            <a:srgbClr val="17293B"/>
                          </a:solidFill>
                          <a:latin typeface="Calibri" pitchFamily="34" charset="0"/>
                          <a:ea typeface="Calibri" pitchFamily="34" charset="-122"/>
                          <a:cs typeface="Calibri" pitchFamily="34" charset="-120"/>
                        </a:rPr>
                        <a:t>0,05 s au pire, buzzer actif ; 0 alerte de jour</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500" b="1" dirty="0">
                          <a:solidFill>
                            <a:srgbClr val="0E746D"/>
                          </a:solidFill>
                          <a:latin typeface="Calibri" pitchFamily="34" charset="0"/>
                          <a:ea typeface="Calibri" pitchFamily="34" charset="-122"/>
                          <a:cs typeface="Calibri" pitchFamily="34" charset="-120"/>
                        </a:rPr>
                        <a:t>conforme</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r>
              <a:tr h="411480">
                <a:tc>
                  <a:txBody>
                    <a:bodyPr/>
                    <a:lstStyle/>
                    <a:p>
                      <a:pPr indent="0" marL="0">
                        <a:buNone/>
                      </a:pPr>
                      <a:r>
                        <a:rPr lang="en-US" sz="1500" b="1" dirty="0">
                          <a:solidFill>
                            <a:srgbClr val="17293B"/>
                          </a:solidFill>
                          <a:latin typeface="Calibri" pitchFamily="34" charset="0"/>
                          <a:ea typeface="Calibri" pitchFamily="34" charset="-122"/>
                          <a:cs typeface="Calibri" pitchFamily="34" charset="-120"/>
                        </a:rPr>
                        <a:t>ENF1 · latence capteur → passerelle</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500" dirty="0">
                          <a:solidFill>
                            <a:srgbClr val="17293B"/>
                          </a:solidFill>
                          <a:latin typeface="Calibri" pitchFamily="34" charset="0"/>
                          <a:ea typeface="Calibri" pitchFamily="34" charset="-122"/>
                          <a:cs typeface="Calibri" pitchFamily="34" charset="-120"/>
                        </a:rPr>
                        <a:t>T6</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500" dirty="0">
                          <a:solidFill>
                            <a:srgbClr val="17293B"/>
                          </a:solidFill>
                          <a:latin typeface="Calibri" pitchFamily="34" charset="0"/>
                          <a:ea typeface="Calibri" pitchFamily="34" charset="-122"/>
                          <a:cs typeface="Calibri" pitchFamily="34" charset="-120"/>
                        </a:rPr>
                        <a:t>moyenne 30,4 ms, max 47 ms (360 rapports)</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500" b="1" dirty="0">
                          <a:solidFill>
                            <a:srgbClr val="0E746D"/>
                          </a:solidFill>
                          <a:latin typeface="Calibri" pitchFamily="34" charset="0"/>
                          <a:ea typeface="Calibri" pitchFamily="34" charset="-122"/>
                          <a:cs typeface="Calibri" pitchFamily="34" charset="-120"/>
                        </a:rPr>
                        <a:t>conforme</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r>
              <a:tr h="411480">
                <a:tc>
                  <a:txBody>
                    <a:bodyPr/>
                    <a:lstStyle/>
                    <a:p>
                      <a:pPr indent="0" marL="0">
                        <a:buNone/>
                      </a:pPr>
                      <a:r>
                        <a:rPr lang="en-US" sz="1500" b="1" dirty="0">
                          <a:solidFill>
                            <a:srgbClr val="17293B"/>
                          </a:solidFill>
                          <a:latin typeface="Calibri" pitchFamily="34" charset="0"/>
                          <a:ea typeface="Calibri" pitchFamily="34" charset="-122"/>
                          <a:cs typeface="Calibri" pitchFamily="34" charset="-120"/>
                        </a:rPr>
                        <a:t>B3 · taux de livraison</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500" dirty="0">
                          <a:solidFill>
                            <a:srgbClr val="17293B"/>
                          </a:solidFill>
                          <a:latin typeface="Calibri" pitchFamily="34" charset="0"/>
                          <a:ea typeface="Calibri" pitchFamily="34" charset="-122"/>
                          <a:cs typeface="Calibri" pitchFamily="34" charset="-120"/>
                        </a:rPr>
                        <a:t>T6 / T6b</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500" dirty="0">
                          <a:solidFill>
                            <a:srgbClr val="17293B"/>
                          </a:solidFill>
                          <a:latin typeface="Calibri" pitchFamily="34" charset="0"/>
                          <a:ea typeface="Calibri" pitchFamily="34" charset="-122"/>
                          <a:cs typeface="Calibri" pitchFamily="34" charset="-120"/>
                        </a:rPr>
                        <a:t>100 % avec liens parfaits et dégradés</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500" b="1" dirty="0">
                          <a:solidFill>
                            <a:srgbClr val="0E746D"/>
                          </a:solidFill>
                          <a:latin typeface="Calibri" pitchFamily="34" charset="0"/>
                          <a:ea typeface="Calibri" pitchFamily="34" charset="-122"/>
                          <a:cs typeface="Calibri" pitchFamily="34" charset="-120"/>
                        </a:rPr>
                        <a:t>conforme</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r>
              <a:tr h="411480">
                <a:tc>
                  <a:txBody>
                    <a:bodyPr/>
                    <a:lstStyle/>
                    <a:p>
                      <a:pPr indent="0" marL="0">
                        <a:buNone/>
                      </a:pPr>
                      <a:r>
                        <a:rPr lang="en-US" sz="1500" b="1" dirty="0">
                          <a:solidFill>
                            <a:srgbClr val="17293B"/>
                          </a:solidFill>
                          <a:latin typeface="Calibri" pitchFamily="34" charset="0"/>
                          <a:ea typeface="Calibri" pitchFamily="34" charset="-122"/>
                          <a:cs typeface="Calibri" pitchFamily="34" charset="-120"/>
                        </a:rPr>
                        <a:t>ENF8 · le relais T1 est retiré</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500" dirty="0">
                          <a:solidFill>
                            <a:srgbClr val="17293B"/>
                          </a:solidFill>
                          <a:latin typeface="Calibri" pitchFamily="34" charset="0"/>
                          <a:ea typeface="Calibri" pitchFamily="34" charset="-122"/>
                          <a:cs typeface="Calibri" pitchFamily="34" charset="-120"/>
                        </a:rPr>
                        <a:t>T9</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500" dirty="0">
                          <a:solidFill>
                            <a:srgbClr val="17293B"/>
                          </a:solidFill>
                          <a:latin typeface="Calibri" pitchFamily="34" charset="0"/>
                          <a:ea typeface="Calibri" pitchFamily="34" charset="-122"/>
                          <a:cs typeface="Calibri" pitchFamily="34" charset="-120"/>
                        </a:rPr>
                        <a:t>8/8 capteurs continuent ; P1 rétabli en 44,0 s</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500" b="1" dirty="0">
                          <a:solidFill>
                            <a:srgbClr val="0E746D"/>
                          </a:solidFill>
                          <a:latin typeface="Calibri" pitchFamily="34" charset="0"/>
                          <a:ea typeface="Calibri" pitchFamily="34" charset="-122"/>
                          <a:cs typeface="Calibri" pitchFamily="34" charset="-120"/>
                        </a:rPr>
                        <a:t>conforme</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r>
              <a:tr h="411480">
                <a:tc>
                  <a:txBody>
                    <a:bodyPr/>
                    <a:lstStyle/>
                    <a:p>
                      <a:pPr indent="0" marL="0">
                        <a:buNone/>
                      </a:pPr>
                      <a:r>
                        <a:rPr lang="en-US" sz="1500" b="1" dirty="0">
                          <a:solidFill>
                            <a:srgbClr val="17293B"/>
                          </a:solidFill>
                          <a:latin typeface="Calibri" pitchFamily="34" charset="0"/>
                          <a:ea typeface="Calibri" pitchFamily="34" charset="-122"/>
                          <a:cs typeface="Calibri" pitchFamily="34" charset="-120"/>
                        </a:rPr>
                        <a:t>ENF6 · un intrus sans la clé</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500" dirty="0">
                          <a:solidFill>
                            <a:srgbClr val="17293B"/>
                          </a:solidFill>
                          <a:latin typeface="Calibri" pitchFamily="34" charset="0"/>
                          <a:ea typeface="Calibri" pitchFamily="34" charset="-122"/>
                          <a:cs typeface="Calibri" pitchFamily="34" charset="-120"/>
                        </a:rPr>
                        <a:t>ENF6</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500" dirty="0">
                          <a:solidFill>
                            <a:srgbClr val="17293B"/>
                          </a:solidFill>
                          <a:latin typeface="Calibri" pitchFamily="34" charset="0"/>
                          <a:ea typeface="Calibri" pitchFamily="34" charset="-122"/>
                          <a:cs typeface="Calibri" pitchFamily="34" charset="-120"/>
                        </a:rPr>
                        <a:t>10 rapports rejetés, 0 rapport légitime rejeté</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500" b="1" dirty="0">
                          <a:solidFill>
                            <a:srgbClr val="0E746D"/>
                          </a:solidFill>
                          <a:latin typeface="Calibri" pitchFamily="34" charset="0"/>
                          <a:ea typeface="Calibri" pitchFamily="34" charset="-122"/>
                          <a:cs typeface="Calibri" pitchFamily="34" charset="-120"/>
                        </a:rPr>
                        <a:t>conforme</a:t>
                      </a:r>
                      <a:endParaRPr lang="en-US" sz="15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200" dirty="0">
                <a:solidFill>
                  <a:schemeClr val="accent6"/>
                </a:solidFill>
              </a:rPr>
              <a:t>Source : rapport_simulation.html et journaux resultats/*.log (lignes MESURE et VERDICT). Le tableau regroupe les 15 vérifications du rapport.</a:t>
            </a:r>
            <a:endParaRPr lang="en-US" sz="12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B6B7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p:nvPr>
            <p:ph idx="103" type="title" hasCustomPrompt="1"/>
          </p:nvPr>
        </p:nvSpPr>
        <p:spPr>
          <a:xfrm>
            <a:off x="548640" y="713232"/>
            <a:ext cx="11094415" cy="868680"/>
          </a:xfrm>
          <a:prstGeom prst="rect">
            <a:avLst/>
          </a:prstGeom>
          <a:noFill/>
          <a:ln/>
        </p:spPr>
        <p:txBody>
          <a:bodyPr wrap="square" lIns="0" tIns="0" rIns="0" bIns="0" rtlCol="0" anchor="t"/>
          <a:lstStyle/>
          <a:p>
            <a:pPr algn="l" indent="0" marL="0">
              <a:buNone/>
            </a:pPr>
            <a:r>
              <a:rPr lang="en-US" sz="3000" b="1" dirty="0">
                <a:solidFill>
                  <a:srgbClr val="17293B"/>
                </a:solidFill>
              </a:rPr>
              <a:t>Les alertes arrivent en moins d'une seconde, loin de la limite de 10 s</a:t>
            </a:r>
            <a:endParaRPr lang="en-US" sz="3000" dirty="0"/>
          </a:p>
        </p:txBody>
      </p:sp>
      <p:sp>
        <p:nvSpPr>
          <p:cNvPr id="3" name="Shape 1"/>
          <p:cNvSpPr/>
          <p:nvPr/>
        </p:nvSpPr>
        <p:spPr>
          <a:xfrm>
            <a:off x="548640" y="1737360"/>
            <a:ext cx="2606040" cy="1600200"/>
          </a:xfrm>
          <a:prstGeom prst="rect">
            <a:avLst/>
          </a:prstGeom>
          <a:solidFill>
            <a:schemeClr val="bg2"/>
          </a:solidFill>
          <a:ln w="12700">
            <a:solidFill>
              <a:schemeClr val="bg2"/>
            </a:solidFill>
            <a:prstDash val="solid"/>
          </a:ln>
        </p:spPr>
      </p:sp>
      <p:sp>
        <p:nvSpPr>
          <p:cNvPr id="4" name="Text 2"/>
          <p:cNvSpPr txBox="1"/>
          <p:nvPr/>
        </p:nvSpPr>
        <p:spPr>
          <a:xfrm>
            <a:off x="777240" y="1874520"/>
            <a:ext cx="2148840" cy="685800"/>
          </a:xfrm>
          <a:prstGeom prst="rect">
            <a:avLst/>
          </a:prstGeom>
          <a:noFill/>
          <a:ln/>
        </p:spPr>
        <p:txBody>
          <a:bodyPr wrap="square" lIns="0" tIns="0" rIns="0" bIns="0" rtlCol="0" anchor="ctr"/>
          <a:lstStyle/>
          <a:p>
            <a:pPr indent="0" marL="0">
              <a:buNone/>
            </a:pPr>
            <a:r>
              <a:rPr lang="en-US" sz="4000" b="1" dirty="0">
                <a:solidFill>
                  <a:schemeClr val="accent1"/>
                </a:solidFill>
              </a:rPr>
              <a:t>0,87 s</a:t>
            </a:r>
            <a:endParaRPr lang="en-US" sz="4000" dirty="0"/>
          </a:p>
        </p:txBody>
      </p:sp>
      <p:sp>
        <p:nvSpPr>
          <p:cNvPr id="5" name="Text 3"/>
          <p:cNvSpPr txBox="1"/>
          <p:nvPr/>
        </p:nvSpPr>
        <p:spPr>
          <a:xfrm>
            <a:off x="777240" y="2578608"/>
            <a:ext cx="2194560" cy="685800"/>
          </a:xfrm>
          <a:prstGeom prst="rect">
            <a:avLst/>
          </a:prstGeom>
          <a:noFill/>
          <a:ln/>
        </p:spPr>
        <p:txBody>
          <a:bodyPr wrap="square" lIns="0" tIns="0" rIns="0" bIns="0" rtlCol="0" anchor="t"/>
          <a:lstStyle/>
          <a:p>
            <a:pPr indent="0" marL="0">
              <a:buNone/>
            </a:pPr>
            <a:r>
              <a:rPr lang="en-US" sz="1500" dirty="0">
                <a:solidFill>
                  <a:schemeClr val="tx1"/>
                </a:solidFill>
              </a:rPr>
              <a:t>surchauffe de M2 → alerte, pour une limite de 10 s</a:t>
            </a:r>
            <a:endParaRPr lang="en-US" sz="1500" dirty="0"/>
          </a:p>
        </p:txBody>
      </p:sp>
      <p:sp>
        <p:nvSpPr>
          <p:cNvPr id="6" name="Shape 4"/>
          <p:cNvSpPr/>
          <p:nvPr/>
        </p:nvSpPr>
        <p:spPr>
          <a:xfrm>
            <a:off x="3378098" y="1737360"/>
            <a:ext cx="2606040" cy="1600200"/>
          </a:xfrm>
          <a:prstGeom prst="rect">
            <a:avLst/>
          </a:prstGeom>
          <a:solidFill>
            <a:schemeClr val="bg2"/>
          </a:solidFill>
          <a:ln w="12700">
            <a:solidFill>
              <a:schemeClr val="bg2"/>
            </a:solidFill>
            <a:prstDash val="solid"/>
          </a:ln>
        </p:spPr>
      </p:sp>
      <p:sp>
        <p:nvSpPr>
          <p:cNvPr id="7" name="Text 5"/>
          <p:cNvSpPr txBox="1"/>
          <p:nvPr/>
        </p:nvSpPr>
        <p:spPr>
          <a:xfrm>
            <a:off x="3606698" y="1874520"/>
            <a:ext cx="2148840" cy="685800"/>
          </a:xfrm>
          <a:prstGeom prst="rect">
            <a:avLst/>
          </a:prstGeom>
          <a:noFill/>
          <a:ln/>
        </p:spPr>
        <p:txBody>
          <a:bodyPr wrap="square" lIns="0" tIns="0" rIns="0" bIns="0" rtlCol="0" anchor="ctr"/>
          <a:lstStyle/>
          <a:p>
            <a:pPr indent="0" marL="0">
              <a:buNone/>
            </a:pPr>
            <a:r>
              <a:rPr lang="en-US" sz="4000" b="1" dirty="0">
                <a:solidFill>
                  <a:schemeClr val="accent1"/>
                </a:solidFill>
              </a:rPr>
              <a:t>30 ms</a:t>
            </a:r>
            <a:endParaRPr lang="en-US" sz="4000" dirty="0"/>
          </a:p>
        </p:txBody>
      </p:sp>
      <p:sp>
        <p:nvSpPr>
          <p:cNvPr id="8" name="Text 6"/>
          <p:cNvSpPr txBox="1"/>
          <p:nvPr/>
        </p:nvSpPr>
        <p:spPr>
          <a:xfrm>
            <a:off x="3606698" y="2578608"/>
            <a:ext cx="2194560" cy="685800"/>
          </a:xfrm>
          <a:prstGeom prst="rect">
            <a:avLst/>
          </a:prstGeom>
          <a:noFill/>
          <a:ln/>
        </p:spPr>
        <p:txBody>
          <a:bodyPr wrap="square" lIns="0" tIns="0" rIns="0" bIns="0" rtlCol="0" anchor="t"/>
          <a:lstStyle/>
          <a:p>
            <a:pPr indent="0" marL="0">
              <a:buNone/>
            </a:pPr>
            <a:r>
              <a:rPr lang="en-US" sz="1500" dirty="0">
                <a:solidFill>
                  <a:schemeClr val="tx1"/>
                </a:solidFill>
              </a:rPr>
              <a:t>latence moyenne capteur → passerelle (max 47 ms)</a:t>
            </a:r>
            <a:endParaRPr lang="en-US" sz="1500" dirty="0"/>
          </a:p>
        </p:txBody>
      </p:sp>
      <p:sp>
        <p:nvSpPr>
          <p:cNvPr id="9" name="Shape 7"/>
          <p:cNvSpPr/>
          <p:nvPr/>
        </p:nvSpPr>
        <p:spPr>
          <a:xfrm>
            <a:off x="6207557" y="1737360"/>
            <a:ext cx="2606040" cy="1600200"/>
          </a:xfrm>
          <a:prstGeom prst="rect">
            <a:avLst/>
          </a:prstGeom>
          <a:solidFill>
            <a:schemeClr val="bg2"/>
          </a:solidFill>
          <a:ln w="12700">
            <a:solidFill>
              <a:schemeClr val="bg2"/>
            </a:solidFill>
            <a:prstDash val="solid"/>
          </a:ln>
        </p:spPr>
      </p:sp>
      <p:sp>
        <p:nvSpPr>
          <p:cNvPr id="10" name="Text 8"/>
          <p:cNvSpPr txBox="1"/>
          <p:nvPr/>
        </p:nvSpPr>
        <p:spPr>
          <a:xfrm>
            <a:off x="6436157" y="1874520"/>
            <a:ext cx="2148840" cy="685800"/>
          </a:xfrm>
          <a:prstGeom prst="rect">
            <a:avLst/>
          </a:prstGeom>
          <a:noFill/>
          <a:ln/>
        </p:spPr>
        <p:txBody>
          <a:bodyPr wrap="square" lIns="0" tIns="0" rIns="0" bIns="0" rtlCol="0" anchor="ctr"/>
          <a:lstStyle/>
          <a:p>
            <a:pPr indent="0" marL="0">
              <a:buNone/>
            </a:pPr>
            <a:r>
              <a:rPr lang="en-US" sz="4000" b="1" dirty="0">
                <a:solidFill>
                  <a:schemeClr val="accent1"/>
                </a:solidFill>
              </a:rPr>
              <a:t>44 s</a:t>
            </a:r>
            <a:endParaRPr lang="en-US" sz="4000" dirty="0"/>
          </a:p>
        </p:txBody>
      </p:sp>
      <p:sp>
        <p:nvSpPr>
          <p:cNvPr id="11" name="Text 9"/>
          <p:cNvSpPr txBox="1"/>
          <p:nvPr/>
        </p:nvSpPr>
        <p:spPr>
          <a:xfrm>
            <a:off x="6436157" y="2578608"/>
            <a:ext cx="2194560" cy="685800"/>
          </a:xfrm>
          <a:prstGeom prst="rect">
            <a:avLst/>
          </a:prstGeom>
          <a:noFill/>
          <a:ln/>
        </p:spPr>
        <p:txBody>
          <a:bodyPr wrap="square" lIns="0" tIns="0" rIns="0" bIns="0" rtlCol="0" anchor="t"/>
          <a:lstStyle/>
          <a:p>
            <a:pPr indent="0" marL="0">
              <a:buNone/>
            </a:pPr>
            <a:r>
              <a:rPr lang="en-US" sz="1500" dirty="0">
                <a:solidFill>
                  <a:schemeClr val="tx1"/>
                </a:solidFill>
              </a:rPr>
              <a:t>pour rétablir les rapports de P1 après la panne de T1</a:t>
            </a:r>
            <a:endParaRPr lang="en-US" sz="1500" dirty="0"/>
          </a:p>
        </p:txBody>
      </p:sp>
      <p:sp>
        <p:nvSpPr>
          <p:cNvPr id="12" name="Shape 10"/>
          <p:cNvSpPr/>
          <p:nvPr/>
        </p:nvSpPr>
        <p:spPr>
          <a:xfrm>
            <a:off x="9037015" y="1737360"/>
            <a:ext cx="2606040" cy="1600200"/>
          </a:xfrm>
          <a:prstGeom prst="rect">
            <a:avLst/>
          </a:prstGeom>
          <a:solidFill>
            <a:schemeClr val="bg2"/>
          </a:solidFill>
          <a:ln w="12700">
            <a:solidFill>
              <a:schemeClr val="bg2"/>
            </a:solidFill>
            <a:prstDash val="solid"/>
          </a:ln>
        </p:spPr>
      </p:sp>
      <p:sp>
        <p:nvSpPr>
          <p:cNvPr id="13" name="Text 11"/>
          <p:cNvSpPr txBox="1"/>
          <p:nvPr/>
        </p:nvSpPr>
        <p:spPr>
          <a:xfrm>
            <a:off x="9265615" y="1874520"/>
            <a:ext cx="2148840" cy="685800"/>
          </a:xfrm>
          <a:prstGeom prst="rect">
            <a:avLst/>
          </a:prstGeom>
          <a:noFill/>
          <a:ln/>
        </p:spPr>
        <p:txBody>
          <a:bodyPr wrap="square" lIns="0" tIns="0" rIns="0" bIns="0" rtlCol="0" anchor="ctr"/>
          <a:lstStyle/>
          <a:p>
            <a:pPr indent="0" marL="0">
              <a:buNone/>
            </a:pPr>
            <a:r>
              <a:rPr lang="en-US" sz="4000" b="1" dirty="0">
                <a:solidFill>
                  <a:schemeClr val="accent1"/>
                </a:solidFill>
              </a:rPr>
              <a:t>10 / 10</a:t>
            </a:r>
            <a:endParaRPr lang="en-US" sz="4000" dirty="0"/>
          </a:p>
        </p:txBody>
      </p:sp>
      <p:sp>
        <p:nvSpPr>
          <p:cNvPr id="14" name="Text 12"/>
          <p:cNvSpPr txBox="1"/>
          <p:nvPr/>
        </p:nvSpPr>
        <p:spPr>
          <a:xfrm>
            <a:off x="9265615" y="2578608"/>
            <a:ext cx="2194560" cy="685800"/>
          </a:xfrm>
          <a:prstGeom prst="rect">
            <a:avLst/>
          </a:prstGeom>
          <a:noFill/>
          <a:ln/>
        </p:spPr>
        <p:txBody>
          <a:bodyPr wrap="square" lIns="0" tIns="0" rIns="0" bIns="0" rtlCol="0" anchor="t"/>
          <a:lstStyle/>
          <a:p>
            <a:pPr indent="0" marL="0">
              <a:buNone/>
            </a:pPr>
            <a:r>
              <a:rPr lang="en-US" sz="1500" dirty="0">
                <a:solidFill>
                  <a:schemeClr val="tx1"/>
                </a:solidFill>
              </a:rPr>
              <a:t>rapports de l'intrus rejetés par la passerelle</a:t>
            </a:r>
            <a:endParaRPr lang="en-US" sz="1500" dirty="0"/>
          </a:p>
        </p:txBody>
      </p:sp>
      <p:pic>
        <p:nvPicPr>
          <p:cNvPr id="15" name="Image 0" descr="D:\IFRI\Réseaux de capteurs\simulation\02_simulation_projet\rapport\figures\t2_temperatures.png">    </p:cNvPr>
          <p:cNvPicPr>
            <a:picLocks noChangeAspect="1"/>
          </p:cNvPicPr>
          <p:nvPr/>
        </p:nvPicPr>
        <p:blipFill>
          <a:blip r:embed="rId1"/>
          <a:stretch>
            <a:fillRect/>
          </a:stretch>
        </p:blipFill>
        <p:spPr>
          <a:xfrm>
            <a:off x="2209648" y="3547872"/>
            <a:ext cx="7772400" cy="2697155"/>
          </a:xfrm>
          <a:prstGeom prst="rect">
            <a:avLst/>
          </a:prstGeom>
        </p:spPr>
      </p:pic>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B6B7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p:nvPr>
            <p:ph idx="103" type="title" hasCustomPrompt="1"/>
          </p:nvPr>
        </p:nvSpPr>
        <p:spPr>
          <a:xfrm>
            <a:off x="548640" y="713232"/>
            <a:ext cx="11094415" cy="868680"/>
          </a:xfrm>
          <a:prstGeom prst="rect">
            <a:avLst/>
          </a:prstGeom>
          <a:noFill/>
          <a:ln/>
        </p:spPr>
        <p:txBody>
          <a:bodyPr wrap="square" lIns="0" tIns="0" rIns="0" bIns="0" rtlCol="0" anchor="t"/>
          <a:lstStyle/>
          <a:p>
            <a:pPr algn="l" indent="0" marL="0">
              <a:buNone/>
            </a:pPr>
            <a:r>
              <a:rPr lang="en-US" sz="3000" b="1" dirty="0">
                <a:solidFill>
                  <a:srgbClr val="17293B"/>
                </a:solidFill>
              </a:rPr>
              <a:t>Sous Contiki-NG, les tests passent et RPL se rétablit plus vite</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1188720"/>
                <a:gridCol w="3291840"/>
                <a:gridCol w="3017520"/>
                <a:gridCol w="3593592"/>
              </a:tblGrid>
              <a:tr h="41148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Test</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0E746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Exigence</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0E746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TinyOS · CTP</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0E746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Contiki-NG · RPL + UDP</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0E746D"/>
                    </a:solidFill>
                  </a:tcPr>
                </a:tc>
              </a:tr>
              <a:tr h="411480">
                <a:tc>
                  <a:txBody>
                    <a:bodyPr/>
                    <a:lstStyle/>
                    <a:p>
                      <a:pPr indent="0" marL="0">
                        <a:buNone/>
                      </a:pPr>
                      <a:r>
                        <a:rPr lang="en-US" sz="1600" b="1" dirty="0">
                          <a:solidFill>
                            <a:srgbClr val="17293B"/>
                          </a:solidFill>
                          <a:latin typeface="Calibri" pitchFamily="34" charset="0"/>
                          <a:ea typeface="Calibri" pitchFamily="34" charset="-122"/>
                          <a:cs typeface="Calibri" pitchFamily="34" charset="-120"/>
                        </a:rPr>
                        <a:t>T1</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période 30 s ± 2 s</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30,00 s</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30,00 s</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r>
              <a:tr h="411480">
                <a:tc>
                  <a:txBody>
                    <a:bodyPr/>
                    <a:lstStyle/>
                    <a:p>
                      <a:pPr indent="0" marL="0">
                        <a:buNone/>
                      </a:pPr>
                      <a:r>
                        <a:rPr lang="en-US" sz="1600" b="1" dirty="0">
                          <a:solidFill>
                            <a:srgbClr val="17293B"/>
                          </a:solidFill>
                          <a:latin typeface="Calibri" pitchFamily="34" charset="0"/>
                          <a:ea typeface="Calibri" pitchFamily="34" charset="-122"/>
                          <a:cs typeface="Calibri" pitchFamily="34" charset="-120"/>
                        </a:rPr>
                        <a:t>T2</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95 °C → alerte &lt; 10 s</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0,87 s</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0,86 s</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r>
              <a:tr h="411480">
                <a:tc>
                  <a:txBody>
                    <a:bodyPr/>
                    <a:lstStyle/>
                    <a:p>
                      <a:pPr indent="0" marL="0">
                        <a:buNone/>
                      </a:pPr>
                      <a:r>
                        <a:rPr lang="en-US" sz="1600" b="1" dirty="0">
                          <a:solidFill>
                            <a:srgbClr val="17293B"/>
                          </a:solidFill>
                          <a:latin typeface="Calibri" pitchFamily="34" charset="0"/>
                          <a:ea typeface="Calibri" pitchFamily="34" charset="-122"/>
                          <a:cs typeface="Calibri" pitchFamily="34" charset="-120"/>
                        </a:rPr>
                        <a:t>T4</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100 pièces → 100</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100 / 100</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100 / 100</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r>
              <a:tr h="411480">
                <a:tc>
                  <a:txBody>
                    <a:bodyPr/>
                    <a:lstStyle/>
                    <a:p>
                      <a:pPr indent="0" marL="0">
                        <a:buNone/>
                      </a:pPr>
                      <a:r>
                        <a:rPr lang="en-US" sz="1600" b="1" dirty="0">
                          <a:solidFill>
                            <a:srgbClr val="17293B"/>
                          </a:solidFill>
                          <a:latin typeface="Calibri" pitchFamily="34" charset="0"/>
                          <a:ea typeface="Calibri" pitchFamily="34" charset="-122"/>
                          <a:cs typeface="Calibri" pitchFamily="34" charset="-120"/>
                        </a:rPr>
                        <a:t>T5</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intrusion de nuit &lt; 5 s</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0,05 s</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0,03 à 0,05 s</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r>
              <a:tr h="411480">
                <a:tc>
                  <a:txBody>
                    <a:bodyPr/>
                    <a:lstStyle/>
                    <a:p>
                      <a:pPr indent="0" marL="0">
                        <a:buNone/>
                      </a:pPr>
                      <a:r>
                        <a:rPr lang="en-US" sz="1600" b="1" dirty="0">
                          <a:solidFill>
                            <a:srgbClr val="17293B"/>
                          </a:solidFill>
                          <a:latin typeface="Calibri" pitchFamily="34" charset="0"/>
                          <a:ea typeface="Calibri" pitchFamily="34" charset="-122"/>
                          <a:cs typeface="Calibri" pitchFamily="34" charset="-120"/>
                        </a:rPr>
                        <a:t>T6</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latence capteur → passerelle</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moy. 30 ms, max 47 ms</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moy. 50 ms, 95 % &lt; 72 ms *</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r>
              <a:tr h="411480">
                <a:tc>
                  <a:txBody>
                    <a:bodyPr/>
                    <a:lstStyle/>
                    <a:p>
                      <a:pPr indent="0" marL="0">
                        <a:buNone/>
                      </a:pPr>
                      <a:r>
                        <a:rPr lang="en-US" sz="1600" b="1" dirty="0">
                          <a:solidFill>
                            <a:srgbClr val="17293B"/>
                          </a:solidFill>
                          <a:latin typeface="Calibri" pitchFamily="34" charset="0"/>
                          <a:ea typeface="Calibri" pitchFamily="34" charset="-122"/>
                          <a:cs typeface="Calibri" pitchFamily="34" charset="-120"/>
                        </a:rPr>
                        <a:t>T6 / T6b</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taux de livraison</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100 % / 100 %</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100 % / 100 %</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r>
              <a:tr h="411480">
                <a:tc>
                  <a:txBody>
                    <a:bodyPr/>
                    <a:lstStyle/>
                    <a:p>
                      <a:pPr indent="0" marL="0">
                        <a:buNone/>
                      </a:pPr>
                      <a:r>
                        <a:rPr lang="en-US" sz="1600" b="1" dirty="0">
                          <a:solidFill>
                            <a:srgbClr val="17293B"/>
                          </a:solidFill>
                          <a:latin typeface="Calibri" pitchFamily="34" charset="0"/>
                          <a:ea typeface="Calibri" pitchFamily="34" charset="-122"/>
                          <a:cs typeface="Calibri" pitchFamily="34" charset="-120"/>
                        </a:rPr>
                        <a:t>T9</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relais T1 retiré</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b="1" dirty="0">
                          <a:solidFill>
                            <a:srgbClr val="17293B"/>
                          </a:solidFill>
                          <a:latin typeface="Calibri" pitchFamily="34" charset="0"/>
                          <a:ea typeface="Calibri" pitchFamily="34" charset="-122"/>
                          <a:cs typeface="Calibri" pitchFamily="34" charset="-120"/>
                        </a:rPr>
                        <a:t>rapports de P1 en 44 s</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b="1" dirty="0">
                          <a:solidFill>
                            <a:srgbClr val="17293B"/>
                          </a:solidFill>
                          <a:latin typeface="Calibri" pitchFamily="34" charset="0"/>
                          <a:ea typeface="Calibri" pitchFamily="34" charset="-122"/>
                          <a:cs typeface="Calibri" pitchFamily="34" charset="-120"/>
                        </a:rPr>
                        <a:t>rapports de P1 en 15 s</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r>
              <a:tr h="411480">
                <a:tc>
                  <a:txBody>
                    <a:bodyPr/>
                    <a:lstStyle/>
                    <a:p>
                      <a:pPr indent="0" marL="0">
                        <a:buNone/>
                      </a:pPr>
                      <a:r>
                        <a:rPr lang="en-US" sz="1600" b="1" dirty="0">
                          <a:solidFill>
                            <a:srgbClr val="17293B"/>
                          </a:solidFill>
                          <a:latin typeface="Calibri" pitchFamily="34" charset="0"/>
                          <a:ea typeface="Calibri" pitchFamily="34" charset="-122"/>
                          <a:cs typeface="Calibri" pitchFamily="34" charset="-120"/>
                        </a:rPr>
                        <a:t>ENF6</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intrus rejeté</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10 rapports rejetés</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96 envois rejetés</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r>
            </a:tbl>
          </a:graphicData>
        </a:graphic>
      </p:graphicFrame>
      <p:sp>
        <p:nvSpPr>
          <p:cNvPr id="4" name="Text 1"/>
          <p:cNvSpPr txBox="1"/>
          <p:nvPr/>
        </p:nvSpPr>
        <p:spPr>
          <a:xfrm>
            <a:off x="548640" y="5532120"/>
            <a:ext cx="11094415" cy="731520"/>
          </a:xfrm>
          <a:prstGeom prst="rect">
            <a:avLst/>
          </a:prstGeom>
          <a:noFill/>
          <a:ln/>
        </p:spPr>
        <p:txBody>
          <a:bodyPr wrap="square" lIns="0" tIns="0" rIns="0" bIns="0" rtlCol="0" anchor="t"/>
          <a:lstStyle/>
          <a:p>
            <a:pPr indent="0" marL="0">
              <a:buNone/>
            </a:pPr>
            <a:r>
              <a:rPr lang="en-US" sz="1500" dirty="0">
                <a:solidFill>
                  <a:schemeClr val="accent6"/>
                </a:solidFill>
              </a:rPr>
              <a:t>* Maximum de 4,9 s pour le tout premier rapport, le temps que RPL rattache le nœud ; ensuite, aucun rapport ne dépasse 200 ms. RPL entre plus lentement dans le réseau, mais son acquittement de bout en bout le fait reconverger plus vite.</a:t>
            </a:r>
            <a:endParaRPr lang="en-US" sz="15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B6B7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p:nvPr>
            <p:ph idx="103" type="title" hasCustomPrompt="1"/>
          </p:nvPr>
        </p:nvSpPr>
        <p:spPr>
          <a:xfrm>
            <a:off x="548640" y="713232"/>
            <a:ext cx="11094415" cy="868680"/>
          </a:xfrm>
          <a:prstGeom prst="rect">
            <a:avLst/>
          </a:prstGeom>
          <a:noFill/>
          <a:ln/>
        </p:spPr>
        <p:txBody>
          <a:bodyPr wrap="square" lIns="0" tIns="0" rIns="0" bIns="0" rtlCol="0" anchor="t"/>
          <a:lstStyle/>
          <a:p>
            <a:pPr algn="l" indent="0" marL="0">
              <a:buNone/>
            </a:pPr>
            <a:r>
              <a:rPr lang="en-US" sz="3000" b="1" dirty="0">
                <a:solidFill>
                  <a:srgbClr val="17293B"/>
                </a:solidFill>
              </a:rPr>
              <a:t>Le prototype relie 3 ESP32 à un broker Mosquitto hébergé sur un VPS</a:t>
            </a:r>
            <a:endParaRPr lang="en-US" sz="3000" dirty="0"/>
          </a:p>
        </p:txBody>
      </p:sp>
      <p:sp>
        <p:nvSpPr>
          <p:cNvPr id="3" name="Shape 1"/>
          <p:cNvSpPr/>
          <p:nvPr/>
        </p:nvSpPr>
        <p:spPr>
          <a:xfrm>
            <a:off x="548640" y="1783080"/>
            <a:ext cx="3154680" cy="868680"/>
          </a:xfrm>
          <a:prstGeom prst="roundRect">
            <a:avLst>
              <a:gd name="adj" fmla="val 8421"/>
            </a:avLst>
          </a:prstGeom>
          <a:solidFill>
            <a:schemeClr val="bg1"/>
          </a:solidFill>
          <a:ln w="12700">
            <a:solidFill>
              <a:srgbClr val="CBD3DB"/>
            </a:solidFill>
            <a:prstDash val="solid"/>
          </a:ln>
        </p:spPr>
      </p:sp>
      <p:sp>
        <p:nvSpPr>
          <p:cNvPr id="4" name="Shape 2"/>
          <p:cNvSpPr/>
          <p:nvPr/>
        </p:nvSpPr>
        <p:spPr>
          <a:xfrm>
            <a:off x="731520" y="2048256"/>
            <a:ext cx="347472" cy="347472"/>
          </a:xfrm>
          <a:prstGeom prst="ellipse">
            <a:avLst/>
          </a:prstGeom>
          <a:solidFill>
            <a:srgbClr val="C63F29"/>
          </a:solidFill>
          <a:ln w="12700">
            <a:solidFill>
              <a:srgbClr val="C63F29"/>
            </a:solidFill>
            <a:prstDash val="solid"/>
          </a:ln>
        </p:spPr>
      </p:sp>
      <p:sp>
        <p:nvSpPr>
          <p:cNvPr id="5" name="Text 3"/>
          <p:cNvSpPr txBox="1"/>
          <p:nvPr/>
        </p:nvSpPr>
        <p:spPr>
          <a:xfrm>
            <a:off x="731520" y="2048256"/>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 </a:t>
            </a:r>
            <a:endParaRPr lang="en-US" sz="1100" dirty="0"/>
          </a:p>
        </p:txBody>
      </p:sp>
      <p:sp>
        <p:nvSpPr>
          <p:cNvPr id="6" name="Text 4"/>
          <p:cNvSpPr txBox="1"/>
          <p:nvPr/>
        </p:nvSpPr>
        <p:spPr>
          <a:xfrm>
            <a:off x="1234440" y="1783080"/>
            <a:ext cx="2377440" cy="868680"/>
          </a:xfrm>
          <a:prstGeom prst="rect">
            <a:avLst/>
          </a:prstGeom>
          <a:noFill/>
          <a:ln/>
        </p:spPr>
        <p:txBody>
          <a:bodyPr wrap="square" lIns="0" tIns="0" rIns="0" bIns="0" rtlCol="0" anchor="ctr"/>
          <a:lstStyle/>
          <a:p>
            <a:pPr indent="0" marL="0">
              <a:buNone/>
            </a:pPr>
            <a:r>
              <a:rPr lang="en-US" sz="1700" b="1" dirty="0">
                <a:solidFill>
                  <a:schemeClr val="tx1"/>
                </a:solidFill>
              </a:rPr>
              <a:t>ESP32 n°1 · DHT11</a:t>
            </a:r>
            <a:endParaRPr lang="en-US" sz="1700" dirty="0"/>
          </a:p>
          <a:p>
            <a:pPr indent="0" marL="0">
              <a:buNone/>
            </a:pPr>
            <a:r>
              <a:rPr lang="en-US" sz="1300" dirty="0">
                <a:solidFill>
                  <a:schemeClr val="accent6"/>
                </a:solidFill>
              </a:rPr>
              <a:t>factory/machines/MACHINE_01</a:t>
            </a:r>
            <a:endParaRPr lang="en-US" sz="1700" dirty="0"/>
          </a:p>
        </p:txBody>
      </p:sp>
      <p:sp>
        <p:nvSpPr>
          <p:cNvPr id="7" name="Shape 5"/>
          <p:cNvSpPr/>
          <p:nvPr/>
        </p:nvSpPr>
        <p:spPr>
          <a:xfrm>
            <a:off x="548640" y="2926080"/>
            <a:ext cx="3154680" cy="868680"/>
          </a:xfrm>
          <a:prstGeom prst="roundRect">
            <a:avLst>
              <a:gd name="adj" fmla="val 8421"/>
            </a:avLst>
          </a:prstGeom>
          <a:solidFill>
            <a:schemeClr val="bg1"/>
          </a:solidFill>
          <a:ln w="12700">
            <a:solidFill>
              <a:srgbClr val="CBD3DB"/>
            </a:solidFill>
            <a:prstDash val="solid"/>
          </a:ln>
        </p:spPr>
      </p:sp>
      <p:sp>
        <p:nvSpPr>
          <p:cNvPr id="8" name="Shape 6"/>
          <p:cNvSpPr/>
          <p:nvPr/>
        </p:nvSpPr>
        <p:spPr>
          <a:xfrm>
            <a:off x="731520" y="3191256"/>
            <a:ext cx="347472" cy="347472"/>
          </a:xfrm>
          <a:prstGeom prst="rect">
            <a:avLst/>
          </a:prstGeom>
          <a:solidFill>
            <a:srgbClr val="1F66AE"/>
          </a:solidFill>
          <a:ln w="12700">
            <a:solidFill>
              <a:srgbClr val="1F66AE"/>
            </a:solidFill>
            <a:prstDash val="solid"/>
          </a:ln>
        </p:spPr>
      </p:sp>
      <p:sp>
        <p:nvSpPr>
          <p:cNvPr id="9" name="Text 7"/>
          <p:cNvSpPr txBox="1"/>
          <p:nvPr/>
        </p:nvSpPr>
        <p:spPr>
          <a:xfrm>
            <a:off x="731520" y="3191256"/>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 </a:t>
            </a:r>
            <a:endParaRPr lang="en-US" sz="1100" dirty="0"/>
          </a:p>
        </p:txBody>
      </p:sp>
      <p:sp>
        <p:nvSpPr>
          <p:cNvPr id="10" name="Text 8"/>
          <p:cNvSpPr txBox="1"/>
          <p:nvPr/>
        </p:nvSpPr>
        <p:spPr>
          <a:xfrm>
            <a:off x="1234440" y="2926080"/>
            <a:ext cx="2377440" cy="868680"/>
          </a:xfrm>
          <a:prstGeom prst="rect">
            <a:avLst/>
          </a:prstGeom>
          <a:noFill/>
          <a:ln/>
        </p:spPr>
        <p:txBody>
          <a:bodyPr wrap="square" lIns="0" tIns="0" rIns="0" bIns="0" rtlCol="0" anchor="ctr"/>
          <a:lstStyle/>
          <a:p>
            <a:pPr indent="0" marL="0">
              <a:buNone/>
            </a:pPr>
            <a:r>
              <a:rPr lang="en-US" sz="1700" b="1" dirty="0">
                <a:solidFill>
                  <a:schemeClr val="tx1"/>
                </a:solidFill>
              </a:rPr>
              <a:t>ESP32 n°2 · capteur IR</a:t>
            </a:r>
            <a:endParaRPr lang="en-US" sz="1700" dirty="0"/>
          </a:p>
          <a:p>
            <a:pPr indent="0" marL="0">
              <a:buNone/>
            </a:pPr>
            <a:r>
              <a:rPr lang="en-US" sz="1300" dirty="0">
                <a:solidFill>
                  <a:schemeClr val="accent6"/>
                </a:solidFill>
              </a:rPr>
              <a:t>factory/production/POSTE_01</a:t>
            </a:r>
            <a:endParaRPr lang="en-US" sz="1700" dirty="0"/>
          </a:p>
        </p:txBody>
      </p:sp>
      <p:sp>
        <p:nvSpPr>
          <p:cNvPr id="11" name="Shape 9"/>
          <p:cNvSpPr/>
          <p:nvPr/>
        </p:nvSpPr>
        <p:spPr>
          <a:xfrm>
            <a:off x="548640" y="4069080"/>
            <a:ext cx="3154680" cy="868680"/>
          </a:xfrm>
          <a:prstGeom prst="roundRect">
            <a:avLst>
              <a:gd name="adj" fmla="val 8421"/>
            </a:avLst>
          </a:prstGeom>
          <a:solidFill>
            <a:schemeClr val="bg1"/>
          </a:solidFill>
          <a:ln w="12700">
            <a:solidFill>
              <a:srgbClr val="CBD3DB"/>
            </a:solidFill>
            <a:prstDash val="solid"/>
          </a:ln>
        </p:spPr>
      </p:sp>
      <p:sp>
        <p:nvSpPr>
          <p:cNvPr id="12" name="Shape 10"/>
          <p:cNvSpPr/>
          <p:nvPr/>
        </p:nvSpPr>
        <p:spPr>
          <a:xfrm>
            <a:off x="731520" y="4334256"/>
            <a:ext cx="347472" cy="347472"/>
          </a:xfrm>
          <a:prstGeom prst="diamond">
            <a:avLst/>
          </a:prstGeom>
          <a:solidFill>
            <a:srgbClr val="7B3FAF"/>
          </a:solidFill>
          <a:ln w="12700">
            <a:solidFill>
              <a:srgbClr val="7B3FAF"/>
            </a:solidFill>
            <a:prstDash val="solid"/>
          </a:ln>
        </p:spPr>
      </p:sp>
      <p:sp>
        <p:nvSpPr>
          <p:cNvPr id="13" name="Text 11"/>
          <p:cNvSpPr txBox="1"/>
          <p:nvPr/>
        </p:nvSpPr>
        <p:spPr>
          <a:xfrm>
            <a:off x="731520" y="4334256"/>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 </a:t>
            </a:r>
            <a:endParaRPr lang="en-US" sz="1100" dirty="0"/>
          </a:p>
        </p:txBody>
      </p:sp>
      <p:sp>
        <p:nvSpPr>
          <p:cNvPr id="14" name="Text 12"/>
          <p:cNvSpPr txBox="1"/>
          <p:nvPr/>
        </p:nvSpPr>
        <p:spPr>
          <a:xfrm>
            <a:off x="1234440" y="4069080"/>
            <a:ext cx="2377440" cy="868680"/>
          </a:xfrm>
          <a:prstGeom prst="rect">
            <a:avLst/>
          </a:prstGeom>
          <a:noFill/>
          <a:ln/>
        </p:spPr>
        <p:txBody>
          <a:bodyPr wrap="square" lIns="0" tIns="0" rIns="0" bIns="0" rtlCol="0" anchor="ctr"/>
          <a:lstStyle/>
          <a:p>
            <a:pPr indent="0" marL="0">
              <a:buNone/>
            </a:pPr>
            <a:r>
              <a:rPr lang="en-US" sz="1700" b="1" dirty="0">
                <a:solidFill>
                  <a:schemeClr val="tx1"/>
                </a:solidFill>
              </a:rPr>
              <a:t>ESP32 n°3 · PIR + buzzer</a:t>
            </a:r>
            <a:endParaRPr lang="en-US" sz="1700" dirty="0"/>
          </a:p>
          <a:p>
            <a:pPr indent="0" marL="0">
              <a:buNone/>
            </a:pPr>
            <a:r>
              <a:rPr lang="en-US" sz="1300" dirty="0">
                <a:solidFill>
                  <a:schemeClr val="accent6"/>
                </a:solidFill>
              </a:rPr>
              <a:t>factory/security/ZONE_01</a:t>
            </a:r>
            <a:endParaRPr lang="en-US" sz="1700" dirty="0"/>
          </a:p>
        </p:txBody>
      </p:sp>
      <p:sp>
        <p:nvSpPr>
          <p:cNvPr id="15" name="Shape 13"/>
          <p:cNvSpPr/>
          <p:nvPr/>
        </p:nvSpPr>
        <p:spPr>
          <a:xfrm>
            <a:off x="4160520" y="1783080"/>
            <a:ext cx="1234440" cy="3154680"/>
          </a:xfrm>
          <a:prstGeom prst="roundRect">
            <a:avLst>
              <a:gd name="adj" fmla="val 5926"/>
            </a:avLst>
          </a:prstGeom>
          <a:solidFill>
            <a:schemeClr val="bg1"/>
          </a:solidFill>
          <a:ln w="12700">
            <a:solidFill>
              <a:srgbClr val="CBD3DB"/>
            </a:solidFill>
            <a:prstDash val="solid"/>
          </a:ln>
        </p:spPr>
      </p:sp>
      <p:sp>
        <p:nvSpPr>
          <p:cNvPr id="16" name="Text 14"/>
          <p:cNvSpPr txBox="1"/>
          <p:nvPr/>
        </p:nvSpPr>
        <p:spPr>
          <a:xfrm>
            <a:off x="4251960" y="1783080"/>
            <a:ext cx="1051560" cy="3154680"/>
          </a:xfrm>
          <a:prstGeom prst="rect">
            <a:avLst/>
          </a:prstGeom>
          <a:noFill/>
          <a:ln/>
        </p:spPr>
        <p:txBody>
          <a:bodyPr wrap="square" lIns="0" tIns="0" rIns="0" bIns="0" rtlCol="0" anchor="ctr"/>
          <a:lstStyle/>
          <a:p>
            <a:pPr algn="ctr" indent="0" marL="0">
              <a:spcAft>
                <a:spcPts val="200"/>
              </a:spcAft>
              <a:buNone/>
            </a:pPr>
            <a:r>
              <a:rPr lang="en-US" sz="1700" b="1" dirty="0">
                <a:solidFill>
                  <a:schemeClr val="tx1"/>
                </a:solidFill>
              </a:rPr>
              <a:t>Wi-Fi</a:t>
            </a:r>
            <a:endParaRPr lang="en-US" sz="1800" dirty="0"/>
          </a:p>
          <a:p>
            <a:pPr algn="ctr" indent="0" marL="0">
              <a:spcAft>
                <a:spcPts val="200"/>
              </a:spcAft>
              <a:buNone/>
            </a:pPr>
            <a:r>
              <a:rPr lang="en-US" sz="1400" dirty="0">
                <a:solidFill>
                  <a:schemeClr val="accent6"/>
                </a:solidFill>
              </a:rPr>
              <a:t>2,4 GHz</a:t>
            </a:r>
            <a:endParaRPr lang="en-US" sz="1800" dirty="0"/>
          </a:p>
          <a:p>
            <a:pPr algn="ctr" indent="0" marL="0">
              <a:spcAft>
                <a:spcPts val="200"/>
              </a:spcAft>
              <a:buNone/>
            </a:pPr>
            <a:r>
              <a:rPr lang="en-US" sz="1400" dirty="0">
                <a:solidFill>
                  <a:schemeClr val="accent6"/>
                </a:solidFill>
              </a:rPr>
              <a:t>puis Internet</a:t>
            </a:r>
            <a:endParaRPr lang="en-US" sz="1800" dirty="0"/>
          </a:p>
        </p:txBody>
      </p:sp>
      <p:sp>
        <p:nvSpPr>
          <p:cNvPr id="17" name="Shape 15"/>
          <p:cNvSpPr/>
          <p:nvPr/>
        </p:nvSpPr>
        <p:spPr>
          <a:xfrm>
            <a:off x="3749040" y="2217420"/>
            <a:ext cx="365760" cy="0"/>
          </a:xfrm>
          <a:prstGeom prst="line">
            <a:avLst/>
          </a:prstGeom>
          <a:noFill/>
          <a:ln w="19050">
            <a:solidFill>
              <a:srgbClr val="17293B"/>
            </a:solidFill>
            <a:prstDash val="solid"/>
            <a:tailEnd type="triangle"/>
          </a:ln>
        </p:spPr>
      </p:sp>
      <p:sp>
        <p:nvSpPr>
          <p:cNvPr id="18" name="Shape 16"/>
          <p:cNvSpPr/>
          <p:nvPr/>
        </p:nvSpPr>
        <p:spPr>
          <a:xfrm>
            <a:off x="3749040" y="3360420"/>
            <a:ext cx="365760" cy="0"/>
          </a:xfrm>
          <a:prstGeom prst="line">
            <a:avLst/>
          </a:prstGeom>
          <a:noFill/>
          <a:ln w="19050">
            <a:solidFill>
              <a:srgbClr val="17293B"/>
            </a:solidFill>
            <a:prstDash val="solid"/>
            <a:tailEnd type="triangle"/>
          </a:ln>
        </p:spPr>
      </p:sp>
      <p:sp>
        <p:nvSpPr>
          <p:cNvPr id="19" name="Shape 17"/>
          <p:cNvSpPr/>
          <p:nvPr/>
        </p:nvSpPr>
        <p:spPr>
          <a:xfrm>
            <a:off x="3749040" y="4503420"/>
            <a:ext cx="365760" cy="0"/>
          </a:xfrm>
          <a:prstGeom prst="line">
            <a:avLst/>
          </a:prstGeom>
          <a:noFill/>
          <a:ln w="19050">
            <a:solidFill>
              <a:srgbClr val="17293B"/>
            </a:solidFill>
            <a:prstDash val="solid"/>
            <a:tailEnd type="triangle"/>
          </a:ln>
        </p:spPr>
      </p:sp>
      <p:sp>
        <p:nvSpPr>
          <p:cNvPr id="20" name="Shape 18"/>
          <p:cNvSpPr/>
          <p:nvPr/>
        </p:nvSpPr>
        <p:spPr>
          <a:xfrm>
            <a:off x="5852160" y="2583180"/>
            <a:ext cx="1783080" cy="1554480"/>
          </a:xfrm>
          <a:prstGeom prst="roundRect">
            <a:avLst>
              <a:gd name="adj" fmla="val 4706"/>
            </a:avLst>
          </a:prstGeom>
          <a:solidFill>
            <a:schemeClr val="accent5"/>
          </a:solidFill>
          <a:ln w="12700">
            <a:solidFill>
              <a:srgbClr val="0E746D"/>
            </a:solidFill>
            <a:prstDash val="solid"/>
          </a:ln>
        </p:spPr>
      </p:sp>
      <p:sp>
        <p:nvSpPr>
          <p:cNvPr id="21" name="Text 19"/>
          <p:cNvSpPr txBox="1"/>
          <p:nvPr/>
        </p:nvSpPr>
        <p:spPr>
          <a:xfrm>
            <a:off x="5943600" y="2583180"/>
            <a:ext cx="1600200" cy="1554480"/>
          </a:xfrm>
          <a:prstGeom prst="rect">
            <a:avLst/>
          </a:prstGeom>
          <a:noFill/>
          <a:ln/>
        </p:spPr>
        <p:txBody>
          <a:bodyPr wrap="square" lIns="0" tIns="0" rIns="0" bIns="0" rtlCol="0" anchor="ctr"/>
          <a:lstStyle/>
          <a:p>
            <a:pPr algn="ctr" indent="0" marL="0">
              <a:spcAft>
                <a:spcPts val="200"/>
              </a:spcAft>
              <a:buNone/>
            </a:pPr>
            <a:r>
              <a:rPr lang="en-US" sz="1800" b="1" dirty="0">
                <a:solidFill>
                  <a:schemeClr val="tx1"/>
                </a:solidFill>
              </a:rPr>
              <a:t>VPS</a:t>
            </a:r>
            <a:endParaRPr lang="en-US" sz="1800" dirty="0"/>
          </a:p>
          <a:p>
            <a:pPr algn="ctr" indent="0" marL="0">
              <a:spcAft>
                <a:spcPts val="200"/>
              </a:spcAft>
              <a:buNone/>
            </a:pPr>
            <a:r>
              <a:rPr lang="en-US" sz="1400" dirty="0">
                <a:solidFill>
                  <a:schemeClr val="accent6"/>
                </a:solidFill>
              </a:rPr>
              <a:t>Mosquitto (MQTT)</a:t>
            </a:r>
            <a:endParaRPr lang="en-US" sz="1800" dirty="0"/>
          </a:p>
          <a:p>
            <a:pPr algn="ctr" indent="0" marL="0">
              <a:spcAft>
                <a:spcPts val="200"/>
              </a:spcAft>
              <a:buNone/>
            </a:pPr>
            <a:r>
              <a:rPr lang="en-US" sz="1400" dirty="0">
                <a:solidFill>
                  <a:schemeClr val="accent6"/>
                </a:solidFill>
              </a:rPr>
              <a:t>comptes + ACL</a:t>
            </a:r>
            <a:endParaRPr lang="en-US" sz="1800" dirty="0"/>
          </a:p>
        </p:txBody>
      </p:sp>
      <p:sp>
        <p:nvSpPr>
          <p:cNvPr id="22" name="Shape 20"/>
          <p:cNvSpPr/>
          <p:nvPr/>
        </p:nvSpPr>
        <p:spPr>
          <a:xfrm>
            <a:off x="5440680" y="3131820"/>
            <a:ext cx="365760" cy="0"/>
          </a:xfrm>
          <a:prstGeom prst="line">
            <a:avLst/>
          </a:prstGeom>
          <a:noFill/>
          <a:ln w="19050">
            <a:solidFill>
              <a:srgbClr val="17293B"/>
            </a:solidFill>
            <a:prstDash val="solid"/>
            <a:tailEnd type="triangle"/>
          </a:ln>
        </p:spPr>
      </p:sp>
      <p:sp>
        <p:nvSpPr>
          <p:cNvPr id="23" name="Shape 21"/>
          <p:cNvSpPr/>
          <p:nvPr/>
        </p:nvSpPr>
        <p:spPr>
          <a:xfrm flipH="1">
            <a:off x="5440680" y="3589020"/>
            <a:ext cx="365760" cy="0"/>
          </a:xfrm>
          <a:prstGeom prst="line">
            <a:avLst/>
          </a:prstGeom>
          <a:noFill/>
          <a:ln w="19050">
            <a:solidFill>
              <a:srgbClr val="5B6B7B"/>
            </a:solidFill>
            <a:prstDash val="dash"/>
            <a:tailEnd type="triangle"/>
          </a:ln>
        </p:spPr>
      </p:sp>
      <p:sp>
        <p:nvSpPr>
          <p:cNvPr id="24" name="Text 22"/>
          <p:cNvSpPr txBox="1"/>
          <p:nvPr/>
        </p:nvSpPr>
        <p:spPr>
          <a:xfrm>
            <a:off x="5577840" y="4229100"/>
            <a:ext cx="2331720" cy="457200"/>
          </a:xfrm>
          <a:prstGeom prst="rect">
            <a:avLst/>
          </a:prstGeom>
          <a:noFill/>
          <a:ln/>
        </p:spPr>
        <p:txBody>
          <a:bodyPr wrap="square" lIns="0" tIns="0" rIns="0" bIns="0" rtlCol="0" anchor="t"/>
          <a:lstStyle/>
          <a:p>
            <a:pPr algn="ctr" indent="0" marL="0">
              <a:buNone/>
            </a:pPr>
            <a:r>
              <a:rPr lang="en-US" sz="1300" dirty="0">
                <a:solidFill>
                  <a:schemeClr val="accent6"/>
                </a:solidFill>
              </a:rPr>
              <a:t>pointillé : commandes</a:t>
            </a:r>
            <a:endParaRPr lang="en-US" sz="1300" dirty="0"/>
          </a:p>
          <a:p>
            <a:pPr algn="ctr" indent="0" marL="0">
              <a:buNone/>
            </a:pPr>
            <a:r>
              <a:rPr lang="en-US" sz="1300" dirty="0">
                <a:solidFill>
                  <a:schemeClr val="accent6"/>
                </a:solidFill>
              </a:rPr>
              <a:t>factory/cmd/&lt;NODE_ID&gt;</a:t>
            </a:r>
            <a:endParaRPr lang="en-US" sz="1300" dirty="0"/>
          </a:p>
        </p:txBody>
      </p:sp>
      <p:sp>
        <p:nvSpPr>
          <p:cNvPr id="25" name="Text 23"/>
          <p:cNvSpPr txBox="1"/>
          <p:nvPr/>
        </p:nvSpPr>
        <p:spPr>
          <a:xfrm>
            <a:off x="8092440" y="1783080"/>
            <a:ext cx="3550615" cy="365760"/>
          </a:xfrm>
          <a:prstGeom prst="rect">
            <a:avLst/>
          </a:prstGeom>
          <a:noFill/>
          <a:ln/>
        </p:spPr>
        <p:txBody>
          <a:bodyPr wrap="square" lIns="0" tIns="0" rIns="0" bIns="0" rtlCol="0" anchor="t"/>
          <a:lstStyle/>
          <a:p>
            <a:pPr indent="0" marL="0">
              <a:buNone/>
            </a:pPr>
            <a:r>
              <a:rPr lang="en-US" sz="2000" b="1" dirty="0">
                <a:solidFill>
                  <a:schemeClr val="tx1"/>
                </a:solidFill>
              </a:rPr>
              <a:t>Câblage</a:t>
            </a:r>
            <a:endParaRPr lang="en-US" sz="2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092440" y="2240280"/>
          <a:ext cx="3550615" cy="914400"/>
        </p:xfrm>
        <a:graphic>
          <a:graphicData uri="http://schemas.openxmlformats.org/drawingml/2006/table">
            <a:tbl>
              <a:tblPr/>
              <a:tblGrid>
                <a:gridCol w="1508760"/>
                <a:gridCol w="1005840"/>
                <a:gridCol w="103601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Capteur</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0E746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Alim.</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0E746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Sortie</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0E746D"/>
                    </a:solidFill>
                  </a:tcPr>
                </a:tc>
              </a:tr>
              <a:tr h="457200">
                <a:tc>
                  <a:txBody>
                    <a:bodyPr/>
                    <a:lstStyle/>
                    <a:p>
                      <a:pPr indent="0" marL="0">
                        <a:buNone/>
                      </a:pPr>
                      <a:r>
                        <a:rPr lang="en-US" sz="1600" b="1" dirty="0">
                          <a:solidFill>
                            <a:srgbClr val="17293B"/>
                          </a:solidFill>
                          <a:latin typeface="Calibri" pitchFamily="34" charset="0"/>
                          <a:ea typeface="Calibri" pitchFamily="34" charset="-122"/>
                          <a:cs typeface="Calibri" pitchFamily="34" charset="-120"/>
                        </a:rPr>
                        <a:t>DHT11</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3V3</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GPIO 4</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r>
              <a:tr h="457200">
                <a:tc>
                  <a:txBody>
                    <a:bodyPr/>
                    <a:lstStyle/>
                    <a:p>
                      <a:pPr indent="0" marL="0">
                        <a:buNone/>
                      </a:pPr>
                      <a:r>
                        <a:rPr lang="en-US" sz="1600" b="1" dirty="0">
                          <a:solidFill>
                            <a:srgbClr val="17293B"/>
                          </a:solidFill>
                          <a:latin typeface="Calibri" pitchFamily="34" charset="0"/>
                          <a:ea typeface="Calibri" pitchFamily="34" charset="-122"/>
                          <a:cs typeface="Calibri" pitchFamily="34" charset="-120"/>
                        </a:rPr>
                        <a:t>IR FC-51</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3V3</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GPIO 27</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r>
              <a:tr h="457200">
                <a:tc>
                  <a:txBody>
                    <a:bodyPr/>
                    <a:lstStyle/>
                    <a:p>
                      <a:pPr indent="0" marL="0">
                        <a:buNone/>
                      </a:pPr>
                      <a:r>
                        <a:rPr lang="en-US" sz="1600" b="1" dirty="0">
                          <a:solidFill>
                            <a:srgbClr val="17293B"/>
                          </a:solidFill>
                          <a:latin typeface="Calibri" pitchFamily="34" charset="0"/>
                          <a:ea typeface="Calibri" pitchFamily="34" charset="-122"/>
                          <a:cs typeface="Calibri" pitchFamily="34" charset="-120"/>
                        </a:rPr>
                        <a:t>PIR HC-SR501</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VIN 5 V</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GPIO 26</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r>
            </a:tbl>
          </a:graphicData>
        </a:graphic>
      </p:graphicFrame>
      <p:sp>
        <p:nvSpPr>
          <p:cNvPr id="27" name="Text 24"/>
          <p:cNvSpPr txBox="1"/>
          <p:nvPr/>
        </p:nvSpPr>
        <p:spPr>
          <a:xfrm>
            <a:off x="8092440" y="4160520"/>
            <a:ext cx="3550615" cy="457200"/>
          </a:xfrm>
          <a:prstGeom prst="rect">
            <a:avLst/>
          </a:prstGeom>
          <a:noFill/>
          <a:ln/>
        </p:spPr>
        <p:txBody>
          <a:bodyPr wrap="square" lIns="0" tIns="0" rIns="0" bIns="0" rtlCol="0" anchor="t"/>
          <a:lstStyle/>
          <a:p>
            <a:pPr indent="0" marL="0">
              <a:buNone/>
            </a:pPr>
            <a:r>
              <a:rPr lang="en-US" sz="1400" dirty="0">
                <a:solidFill>
                  <a:schemeClr val="accent6"/>
                </a:solidFill>
              </a:rPr>
              <a:t>Tous les GND à la masse. PIR : ~60 s de chauffe au démarrage.</a:t>
            </a:r>
            <a:endParaRPr lang="en-US" sz="1400" dirty="0"/>
          </a:p>
        </p:txBody>
      </p:sp>
      <p:pic>
        <p:nvPicPr>
          <p:cNvPr id="28" name="Image 0" descr="Carte de développement ESP32 (ESP-WROOM-32)">    </p:cNvPr>
          <p:cNvPicPr>
            <a:picLocks noChangeAspect="1"/>
          </p:cNvPicPr>
          <p:nvPr/>
        </p:nvPicPr>
        <p:blipFill>
          <a:blip r:embed="rId1"/>
          <a:stretch>
            <a:fillRect/>
          </a:stretch>
        </p:blipFill>
        <p:spPr>
          <a:xfrm>
            <a:off x="8953348" y="4835144"/>
            <a:ext cx="1828800" cy="1428496"/>
          </a:xfrm>
          <a:prstGeom prst="rect">
            <a:avLst/>
          </a:prstGeom>
        </p:spPr>
      </p:pic>
      <p:sp>
        <p:nvSpPr>
          <p:cNvPr id="29" name="Shape 25"/>
          <p:cNvSpPr/>
          <p:nvPr/>
        </p:nvSpPr>
        <p:spPr>
          <a:xfrm>
            <a:off x="548640" y="5257800"/>
            <a:ext cx="7178040" cy="777240"/>
          </a:xfrm>
          <a:prstGeom prst="rect">
            <a:avLst/>
          </a:prstGeom>
          <a:solidFill>
            <a:schemeClr val="accent5"/>
          </a:solidFill>
          <a:ln w="12700">
            <a:solidFill>
              <a:schemeClr val="accent5"/>
            </a:solidFill>
            <a:prstDash val="solid"/>
          </a:ln>
        </p:spPr>
      </p:sp>
      <p:sp>
        <p:nvSpPr>
          <p:cNvPr id="30" name="Text 26"/>
          <p:cNvSpPr txBox="1"/>
          <p:nvPr/>
        </p:nvSpPr>
        <p:spPr>
          <a:xfrm>
            <a:off x="868680" y="5257800"/>
            <a:ext cx="6537960" cy="777240"/>
          </a:xfrm>
          <a:prstGeom prst="rect">
            <a:avLst/>
          </a:prstGeom>
          <a:noFill/>
          <a:ln/>
        </p:spPr>
        <p:txBody>
          <a:bodyPr wrap="square" lIns="0" tIns="0" rIns="0" bIns="0" rtlCol="0" anchor="ctr"/>
          <a:lstStyle/>
          <a:p>
            <a:pPr indent="0" marL="0">
              <a:buNone/>
            </a:pPr>
            <a:r>
              <a:rPr lang="en-US" sz="1800" b="1" dirty="0">
                <a:solidFill>
                  <a:schemeClr val="tx1"/>
                </a:solidFill>
              </a:rPr>
              <a:t>Montage en cours. </a:t>
            </a:r>
            <a:pPr indent="0" marL="0">
              <a:buNone/>
            </a:pPr>
            <a:r>
              <a:rPr lang="en-US" sz="1800" dirty="0">
                <a:solidFill>
                  <a:schemeClr val="tx1"/>
                </a:solidFill>
              </a:rPr>
              <a:t>Photos du montage et des messages reçus après les essais.</a:t>
            </a:r>
            <a:endParaRPr lang="en-US" sz="18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B6B7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3"/>
          <p:cNvSpPr/>
          <p:nvPr>
            <p:ph idx="103" type="title" hasCustomPrompt="1"/>
          </p:nvPr>
        </p:nvSpPr>
        <p:spPr>
          <a:xfrm>
            <a:off x="548640" y="713232"/>
            <a:ext cx="11094415" cy="868680"/>
          </a:xfrm>
          <a:prstGeom prst="rect">
            <a:avLst/>
          </a:prstGeom>
          <a:noFill/>
          <a:ln/>
        </p:spPr>
        <p:txBody>
          <a:bodyPr wrap="square" lIns="0" tIns="0" rIns="0" bIns="0" rtlCol="0" anchor="t"/>
          <a:lstStyle/>
          <a:p>
            <a:pPr algn="l" indent="0" marL="0">
              <a:buNone/>
            </a:pPr>
            <a:r>
              <a:rPr lang="en-US" sz="3000" b="1" dirty="0">
                <a:solidFill>
                  <a:srgbClr val="17293B"/>
                </a:solidFill>
              </a:rPr>
              <a:t>Le prototype couvre les mêmes exigences avec les outils de MQTT</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1234440"/>
                <a:gridCol w="4754880"/>
                <a:gridCol w="5102352"/>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Exigence</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0E746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Mécanisme dans le prototype</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0E746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Test prévu → résultat attendu</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0E746D"/>
                    </a:solidFill>
                  </a:tcPr>
                </a:tc>
              </a:tr>
              <a:tr h="731520">
                <a:tc>
                  <a:txBody>
                    <a:bodyPr/>
                    <a:lstStyle/>
                    <a:p>
                      <a:pPr indent="0" marL="0">
                        <a:buNone/>
                      </a:pPr>
                      <a:r>
                        <a:rPr lang="en-US" sz="1600" b="1" dirty="0">
                          <a:solidFill>
                            <a:srgbClr val="17293B"/>
                          </a:solidFill>
                          <a:latin typeface="Calibri" pitchFamily="34" charset="0"/>
                          <a:ea typeface="Calibri" pitchFamily="34" charset="-122"/>
                          <a:cs typeface="Calibri" pitchFamily="34" charset="-120"/>
                        </a:rPr>
                        <a:t>ENF1</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alertes publiées dès la détection, sans attendre le rapport de 30 s</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pincer le DHT11 → "status":"ALERTE" immédiat</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r>
              <a:tr h="731520">
                <a:tc>
                  <a:txBody>
                    <a:bodyPr/>
                    <a:lstStyle/>
                    <a:p>
                      <a:pPr indent="0" marL="0">
                        <a:buNone/>
                      </a:pPr>
                      <a:r>
                        <a:rPr lang="en-US" sz="1600" b="1" dirty="0">
                          <a:solidFill>
                            <a:srgbClr val="17293B"/>
                          </a:solidFill>
                          <a:latin typeface="Calibri" pitchFamily="34" charset="0"/>
                          <a:ea typeface="Calibri" pitchFamily="34" charset="-122"/>
                          <a:cs typeface="Calibri" pitchFamily="34" charset="-120"/>
                        </a:rPr>
                        <a:t>ENF6</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un compte Mosquitto et une ACL par nœud</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mauvais mot de passe → échec (code 5), rien publié</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r>
              <a:tr h="731520">
                <a:tc>
                  <a:txBody>
                    <a:bodyPr/>
                    <a:lstStyle/>
                    <a:p>
                      <a:pPr indent="0" marL="0">
                        <a:buNone/>
                      </a:pPr>
                      <a:r>
                        <a:rPr lang="en-US" sz="1600" b="1" dirty="0">
                          <a:solidFill>
                            <a:srgbClr val="17293B"/>
                          </a:solidFill>
                          <a:latin typeface="Calibri" pitchFamily="34" charset="0"/>
                          <a:ea typeface="Calibri" pitchFamily="34" charset="-122"/>
                          <a:cs typeface="Calibri" pitchFamily="34" charset="-120"/>
                        </a:rPr>
                        <a:t>ENF8</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testament MQTT (Last Will), keep-alive de 10 s</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débrancher une carte → "online":false en ~15 s</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r>
              <a:tr h="731520">
                <a:tc>
                  <a:txBody>
                    <a:bodyPr/>
                    <a:lstStyle/>
                    <a:p>
                      <a:pPr indent="0" marL="0">
                        <a:buNone/>
                      </a:pPr>
                      <a:r>
                        <a:rPr lang="en-US" sz="1600" b="1" dirty="0">
                          <a:solidFill>
                            <a:srgbClr val="17293B"/>
                          </a:solidFill>
                          <a:latin typeface="Calibri" pitchFamily="34" charset="0"/>
                          <a:ea typeface="Calibri" pitchFamily="34" charset="-122"/>
                          <a:cs typeface="Calibri" pitchFamily="34" charset="-120"/>
                        </a:rPr>
                        <a:t>EF5</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compteur de pièces sauvegardé en flash</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10 passages devant l'IR → +10, conservé après reset</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r>
              <a:tr h="731520">
                <a:tc>
                  <a:txBody>
                    <a:bodyPr/>
                    <a:lstStyle/>
                    <a:p>
                      <a:pPr indent="0" marL="0">
                        <a:buNone/>
                      </a:pPr>
                      <a:r>
                        <a:rPr lang="en-US" sz="1600" b="1" dirty="0">
                          <a:solidFill>
                            <a:srgbClr val="17293B"/>
                          </a:solidFill>
                          <a:latin typeface="Calibri" pitchFamily="34" charset="0"/>
                          <a:ea typeface="Calibri" pitchFamily="34" charset="-122"/>
                          <a:cs typeface="Calibri" pitchFamily="34" charset="-120"/>
                        </a:rPr>
                        <a:t>EF6</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PIR armé hors 08h–18h (ou commande ARME)</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bouger devant le PIR → "status":"INTRUSION"</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943600"/>
            <a:ext cx="11094415" cy="365760"/>
          </a:xfrm>
          <a:prstGeom prst="rect">
            <a:avLst/>
          </a:prstGeom>
          <a:noFill/>
          <a:ln/>
        </p:spPr>
        <p:txBody>
          <a:bodyPr wrap="square" lIns="0" tIns="0" rIns="0" bIns="0" rtlCol="0" anchor="t"/>
          <a:lstStyle/>
          <a:p>
            <a:pPr indent="0" marL="0">
              <a:buNone/>
            </a:pPr>
            <a:r>
              <a:rPr lang="en-US" sz="1600" b="1" dirty="0">
                <a:solidFill>
                  <a:schemeClr val="accent6"/>
                </a:solidFill>
              </a:rPr>
              <a:t>Procédure prête (materiel/README.md) · résultats à venir après le montage</a:t>
            </a:r>
            <a:endParaRPr lang="en-US" sz="16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B6B7B"/>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p:nvPr>
            <p:ph idx="103" type="title" hasCustomPrompt="1"/>
          </p:nvPr>
        </p:nvSpPr>
        <p:spPr>
          <a:xfrm>
            <a:off x="548640" y="713232"/>
            <a:ext cx="11094415" cy="868680"/>
          </a:xfrm>
          <a:prstGeom prst="rect">
            <a:avLst/>
          </a:prstGeom>
          <a:noFill/>
          <a:ln/>
        </p:spPr>
        <p:txBody>
          <a:bodyPr wrap="square" lIns="0" tIns="0" rIns="0" bIns="0" rtlCol="0" anchor="t"/>
          <a:lstStyle/>
          <a:p>
            <a:pPr algn="l" indent="0" marL="0">
              <a:buNone/>
            </a:pPr>
            <a:r>
              <a:rPr lang="en-US" sz="3000" b="1" dirty="0">
                <a:solidFill>
                  <a:srgbClr val="17293B"/>
                </a:solidFill>
              </a:rPr>
              <a:t>Nos écarts avec la solution cible sont connus et assumés</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1783080"/>
                <a:gridCol w="2743200"/>
                <a:gridCol w="3794760"/>
                <a:gridCol w="2770632"/>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Point</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0E746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Solution cible</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0E746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Ce que nous avons fait</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0E746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Conséquence</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0E746D"/>
                    </a:solidFill>
                  </a:tcPr>
                </a:tc>
              </a:tr>
              <a:tr h="777240">
                <a:tc>
                  <a:txBody>
                    <a:bodyPr/>
                    <a:lstStyle/>
                    <a:p>
                      <a:pPr indent="0" marL="0">
                        <a:buNone/>
                      </a:pPr>
                      <a:r>
                        <a:rPr lang="en-US" sz="1600" b="1" dirty="0">
                          <a:solidFill>
                            <a:srgbClr val="17293B"/>
                          </a:solidFill>
                          <a:latin typeface="Calibri" pitchFamily="34" charset="0"/>
                          <a:ea typeface="Calibri" pitchFamily="34" charset="-122"/>
                          <a:cs typeface="Calibri" pitchFamily="34" charset="-120"/>
                        </a:rPr>
                        <a:t>Capteur de M1</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DS18B20, seuil 85 °C</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DHT11 (0 à 50 °C) : seuil de démo à 30 °C</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on teste la logique, pas la vraie plage</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r>
              <a:tr h="777240">
                <a:tc>
                  <a:txBody>
                    <a:bodyPr/>
                    <a:lstStyle/>
                    <a:p>
                      <a:pPr indent="0" marL="0">
                        <a:buNone/>
                      </a:pPr>
                      <a:r>
                        <a:rPr lang="en-US" sz="1600" b="1" dirty="0">
                          <a:solidFill>
                            <a:srgbClr val="17293B"/>
                          </a:solidFill>
                          <a:latin typeface="Calibri" pitchFamily="34" charset="0"/>
                          <a:ea typeface="Calibri" pitchFamily="34" charset="-122"/>
                          <a:cs typeface="Calibri" pitchFamily="34" charset="-120"/>
                        </a:rPr>
                        <a:t>Réseau</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multi-saut basse consommation</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prototype : étoile Wi-Fi vers le VPS</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pas de relais entre nœuds</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r>
              <a:tr h="777240">
                <a:tc>
                  <a:txBody>
                    <a:bodyPr/>
                    <a:lstStyle/>
                    <a:p>
                      <a:pPr indent="0" marL="0">
                        <a:buNone/>
                      </a:pPr>
                      <a:r>
                        <a:rPr lang="en-US" sz="1600" b="1" dirty="0">
                          <a:solidFill>
                            <a:srgbClr val="17293B"/>
                          </a:solidFill>
                          <a:latin typeface="Calibri" pitchFamily="34" charset="0"/>
                          <a:ea typeface="Calibri" pitchFamily="34" charset="-122"/>
                          <a:cs typeface="Calibri" pitchFamily="34" charset="-120"/>
                        </a:rPr>
                        <a:t>Sécurité</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MQTT sur TLS (port 8883)</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démo sans TLS ; simulation : code FNV-1a sur 16 bits</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pas de chiffrement ni d'anti-rejeu</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r>
              <a:tr h="777240">
                <a:tc>
                  <a:txBody>
                    <a:bodyPr/>
                    <a:lstStyle/>
                    <a:p>
                      <a:pPr indent="0" marL="0">
                        <a:buNone/>
                      </a:pPr>
                      <a:r>
                        <a:rPr lang="en-US" sz="1600" b="1" dirty="0">
                          <a:solidFill>
                            <a:srgbClr val="17293B"/>
                          </a:solidFill>
                          <a:latin typeface="Calibri" pitchFamily="34" charset="0"/>
                          <a:ea typeface="Calibri" pitchFamily="34" charset="-122"/>
                          <a:cs typeface="Calibri" pitchFamily="34" charset="-120"/>
                        </a:rPr>
                        <a:t>Radio simulée</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murs, évanouissements</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modèle UDGM : disque parfait de 20 m</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T6b dégrade les liens pour compenser en partie</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2F5F7"/>
                    </a:solidFill>
                  </a:tcPr>
                </a:tc>
              </a:tr>
              <a:tr h="777240">
                <a:tc>
                  <a:txBody>
                    <a:bodyPr/>
                    <a:lstStyle/>
                    <a:p>
                      <a:pPr indent="0" marL="0">
                        <a:buNone/>
                      </a:pPr>
                      <a:r>
                        <a:rPr lang="en-US" sz="1600" b="1" dirty="0">
                          <a:solidFill>
                            <a:srgbClr val="17293B"/>
                          </a:solidFill>
                          <a:latin typeface="Calibri" pitchFamily="34" charset="0"/>
                          <a:ea typeface="Calibri" pitchFamily="34" charset="-122"/>
                          <a:cs typeface="Calibri" pitchFamily="34" charset="-120"/>
                        </a:rPr>
                        <a:t>Trajet serveur</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passerelle → broker → alerte</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non simulé : seule la partie radio est mesurée</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c>
                  <a:txBody>
                    <a:bodyPr/>
                    <a:lstStyle/>
                    <a:p>
                      <a:pPr indent="0" marL="0">
                        <a:buNone/>
                      </a:pPr>
                      <a:r>
                        <a:rPr lang="en-US" sz="1600" dirty="0">
                          <a:solidFill>
                            <a:srgbClr val="17293B"/>
                          </a:solidFill>
                          <a:latin typeface="Calibri" pitchFamily="34" charset="0"/>
                          <a:ea typeface="Calibri" pitchFamily="34" charset="-122"/>
                          <a:cs typeface="Calibri" pitchFamily="34" charset="-120"/>
                        </a:rPr>
                        <a:t>8 s du budget ENF1 non mesurées</a:t>
                      </a:r>
                      <a:endParaRPr lang="en-US" sz="1600" dirty="0">
                        <a:latin typeface="Calibri" charset="0"/>
                        <a:ea typeface="Calibri" charset="0"/>
                        <a:cs typeface="Calibri" charset="0"/>
                      </a:endParaRPr>
                    </a:p>
                  </a:txBody>
                  <a:tcPr marL="101600" marR="101600" marT="50800" marB="50800" anchor="ctr">
                    <a:lnL w="9525" cap="flat" cmpd="sng" algn="ctr">
                      <a:solidFill>
                        <a:srgbClr val="CBD3DB"/>
                      </a:solidFill>
                      <a:prstDash val="solid"/>
                      <a:round/>
                      <a:headEnd type="none" w="med" len="med"/>
                      <a:tailEnd type="none" w="med" len="med"/>
                    </a:lnL>
                    <a:lnR w="9525" cap="flat" cmpd="sng" algn="ctr">
                      <a:solidFill>
                        <a:srgbClr val="CBD3DB"/>
                      </a:solidFill>
                      <a:prstDash val="solid"/>
                      <a:round/>
                      <a:headEnd type="none" w="med" len="med"/>
                      <a:tailEnd type="none" w="med" len="med"/>
                    </a:lnR>
                    <a:lnT w="9525" cap="flat" cmpd="sng" algn="ctr">
                      <a:solidFill>
                        <a:srgbClr val="CBD3DB"/>
                      </a:solidFill>
                      <a:prstDash val="solid"/>
                      <a:round/>
                      <a:headEnd type="none" w="med" len="med"/>
                      <a:tailEnd type="none" w="med" len="med"/>
                    </a:lnT>
                    <a:lnB w="9525" cap="flat" cmpd="sng" algn="ctr">
                      <a:solidFill>
                        <a:srgbClr val="CBD3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B6B7B"/>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3"/>
          <p:cNvSpPr/>
          <p:nvPr>
            <p:ph idx="103" type="title" hasCustomPrompt="1"/>
          </p:nvPr>
        </p:nvSpPr>
        <p:spPr>
          <a:xfrm>
            <a:off x="548640" y="713232"/>
            <a:ext cx="11094415" cy="868680"/>
          </a:xfrm>
          <a:prstGeom prst="rect">
            <a:avLst/>
          </a:prstGeom>
          <a:noFill/>
          <a:ln/>
        </p:spPr>
        <p:txBody>
          <a:bodyPr wrap="square" lIns="0" tIns="0" rIns="0" bIns="0" rtlCol="0" anchor="t"/>
          <a:lstStyle/>
          <a:p>
            <a:pPr algn="l" indent="0" marL="0">
              <a:buNone/>
            </a:pPr>
            <a:r>
              <a:rPr lang="en-US" sz="3000" b="1" dirty="0">
                <a:solidFill>
                  <a:srgbClr val="17293B"/>
                </a:solidFill>
              </a:rPr>
              <a:t>Nos difficultés nous ont appris à tout vérifier par la mesure</a:t>
            </a:r>
            <a:endParaRPr lang="en-US" sz="3000" dirty="0"/>
          </a:p>
        </p:txBody>
      </p:sp>
      <p:sp>
        <p:nvSpPr>
          <p:cNvPr id="3" name="Shape 1"/>
          <p:cNvSpPr/>
          <p:nvPr/>
        </p:nvSpPr>
        <p:spPr>
          <a:xfrm>
            <a:off x="548640" y="1783080"/>
            <a:ext cx="5410048" cy="2011680"/>
          </a:xfrm>
          <a:prstGeom prst="rect">
            <a:avLst/>
          </a:prstGeom>
          <a:solidFill>
            <a:schemeClr val="bg2"/>
          </a:solidFill>
          <a:ln w="12700">
            <a:solidFill>
              <a:schemeClr val="bg2"/>
            </a:solidFill>
            <a:prstDash val="solid"/>
          </a:ln>
        </p:spPr>
      </p:sp>
      <p:sp>
        <p:nvSpPr>
          <p:cNvPr id="4" name="Text 2"/>
          <p:cNvSpPr txBox="1"/>
          <p:nvPr/>
        </p:nvSpPr>
        <p:spPr>
          <a:xfrm>
            <a:off x="868680" y="2057400"/>
            <a:ext cx="4769968" cy="457200"/>
          </a:xfrm>
          <a:prstGeom prst="rect">
            <a:avLst/>
          </a:prstGeom>
          <a:noFill/>
          <a:ln/>
        </p:spPr>
        <p:txBody>
          <a:bodyPr wrap="square" lIns="0" tIns="0" rIns="0" bIns="0" rtlCol="0" anchor="t"/>
          <a:lstStyle/>
          <a:p>
            <a:pPr indent="0" marL="0">
              <a:buNone/>
            </a:pPr>
            <a:r>
              <a:rPr lang="en-US" sz="2100" b="1" dirty="0">
                <a:solidFill>
                  <a:schemeClr val="tx1"/>
                </a:solidFill>
              </a:rPr>
              <a:t>TimerMilli ne compte pas en millisecondes</a:t>
            </a:r>
            <a:endParaRPr lang="en-US" sz="2100" dirty="0"/>
          </a:p>
        </p:txBody>
      </p:sp>
      <p:sp>
        <p:nvSpPr>
          <p:cNvPr id="5" name="Text 3"/>
          <p:cNvSpPr txBox="1"/>
          <p:nvPr/>
        </p:nvSpPr>
        <p:spPr>
          <a:xfrm>
            <a:off x="868680" y="2606040"/>
            <a:ext cx="4769968" cy="1051560"/>
          </a:xfrm>
          <a:prstGeom prst="rect">
            <a:avLst/>
          </a:prstGeom>
          <a:noFill/>
          <a:ln/>
        </p:spPr>
        <p:txBody>
          <a:bodyPr wrap="square" lIns="0" tIns="0" rIns="0" bIns="0" rtlCol="0" anchor="t"/>
          <a:lstStyle/>
          <a:p>
            <a:pPr indent="0" marL="0">
              <a:buNone/>
            </a:pPr>
            <a:r>
              <a:rPr lang="en-US" sz="1800" dirty="0">
                <a:solidFill>
                  <a:schemeClr val="tx1"/>
                </a:solidFill>
              </a:rPr>
              <a:t>Sous TinyOS, TimerMilli compte en 1/1024 s : 30 000 donnait 29,3 s. Une conversion corrige l'écart.</a:t>
            </a:r>
            <a:endParaRPr lang="en-US" sz="1800" dirty="0"/>
          </a:p>
        </p:txBody>
      </p:sp>
      <p:sp>
        <p:nvSpPr>
          <p:cNvPr id="6" name="Shape 4"/>
          <p:cNvSpPr/>
          <p:nvPr/>
        </p:nvSpPr>
        <p:spPr>
          <a:xfrm>
            <a:off x="6233008" y="1783080"/>
            <a:ext cx="5410048" cy="2011680"/>
          </a:xfrm>
          <a:prstGeom prst="rect">
            <a:avLst/>
          </a:prstGeom>
          <a:solidFill>
            <a:schemeClr val="bg2"/>
          </a:solidFill>
          <a:ln w="12700">
            <a:solidFill>
              <a:schemeClr val="bg2"/>
            </a:solidFill>
            <a:prstDash val="solid"/>
          </a:ln>
        </p:spPr>
      </p:sp>
      <p:sp>
        <p:nvSpPr>
          <p:cNvPr id="7" name="Text 5"/>
          <p:cNvSpPr txBox="1"/>
          <p:nvPr/>
        </p:nvSpPr>
        <p:spPr>
          <a:xfrm>
            <a:off x="6553048" y="2057400"/>
            <a:ext cx="4769968" cy="457200"/>
          </a:xfrm>
          <a:prstGeom prst="rect">
            <a:avLst/>
          </a:prstGeom>
          <a:noFill/>
          <a:ln/>
        </p:spPr>
        <p:txBody>
          <a:bodyPr wrap="square" lIns="0" tIns="0" rIns="0" bIns="0" rtlCol="0" anchor="t"/>
          <a:lstStyle/>
          <a:p>
            <a:pPr indent="0" marL="0">
              <a:buNone/>
            </a:pPr>
            <a:r>
              <a:rPr lang="en-US" sz="2100" b="1" dirty="0">
                <a:solidFill>
                  <a:schemeClr val="tx1"/>
                </a:solidFill>
              </a:rPr>
              <a:t>Écrire en flash peut planter la carte</a:t>
            </a:r>
            <a:endParaRPr lang="en-US" sz="2100" dirty="0"/>
          </a:p>
        </p:txBody>
      </p:sp>
      <p:sp>
        <p:nvSpPr>
          <p:cNvPr id="8" name="Text 6"/>
          <p:cNvSpPr txBox="1"/>
          <p:nvPr/>
        </p:nvSpPr>
        <p:spPr>
          <a:xfrm>
            <a:off x="6553048" y="2606040"/>
            <a:ext cx="4769968" cy="1051560"/>
          </a:xfrm>
          <a:prstGeom prst="rect">
            <a:avLst/>
          </a:prstGeom>
          <a:noFill/>
          <a:ln/>
        </p:spPr>
        <p:txBody>
          <a:bodyPr wrap="square" lIns="0" tIns="0" rIns="0" bIns="0" rtlCol="0" anchor="t"/>
          <a:lstStyle/>
          <a:p>
            <a:pPr indent="0" marL="0">
              <a:buNone/>
            </a:pPr>
            <a:r>
              <a:rPr lang="en-US" sz="1800" dirty="0">
                <a:solidFill>
                  <a:schemeClr val="tx1"/>
                </a:solidFill>
              </a:rPr>
              <a:t>Une interruption pendant l'écriture fait planter le MSP430 : on les masque pendant l'écriture (atomic).</a:t>
            </a:r>
            <a:endParaRPr lang="en-US" sz="1800" dirty="0"/>
          </a:p>
        </p:txBody>
      </p:sp>
      <p:sp>
        <p:nvSpPr>
          <p:cNvPr id="9" name="Shape 7"/>
          <p:cNvSpPr/>
          <p:nvPr/>
        </p:nvSpPr>
        <p:spPr>
          <a:xfrm>
            <a:off x="548640" y="4069080"/>
            <a:ext cx="5410048" cy="2011680"/>
          </a:xfrm>
          <a:prstGeom prst="rect">
            <a:avLst/>
          </a:prstGeom>
          <a:solidFill>
            <a:schemeClr val="bg2"/>
          </a:solidFill>
          <a:ln w="12700">
            <a:solidFill>
              <a:schemeClr val="bg2"/>
            </a:solidFill>
            <a:prstDash val="solid"/>
          </a:ln>
        </p:spPr>
      </p:sp>
      <p:sp>
        <p:nvSpPr>
          <p:cNvPr id="10" name="Text 8"/>
          <p:cNvSpPr txBox="1"/>
          <p:nvPr/>
        </p:nvSpPr>
        <p:spPr>
          <a:xfrm>
            <a:off x="868680" y="4343400"/>
            <a:ext cx="4769968" cy="457200"/>
          </a:xfrm>
          <a:prstGeom prst="rect">
            <a:avLst/>
          </a:prstGeom>
          <a:noFill/>
          <a:ln/>
        </p:spPr>
        <p:txBody>
          <a:bodyPr wrap="square" lIns="0" tIns="0" rIns="0" bIns="0" rtlCol="0" anchor="t"/>
          <a:lstStyle/>
          <a:p>
            <a:pPr indent="0" marL="0">
              <a:buNone/>
            </a:pPr>
            <a:r>
              <a:rPr lang="en-US" sz="2100" b="1" dirty="0">
                <a:solidFill>
                  <a:schemeClr val="tx1"/>
                </a:solidFill>
              </a:rPr>
              <a:t>Un routage se teste en panne</a:t>
            </a:r>
            <a:endParaRPr lang="en-US" sz="2100" dirty="0"/>
          </a:p>
        </p:txBody>
      </p:sp>
      <p:sp>
        <p:nvSpPr>
          <p:cNvPr id="11" name="Text 9"/>
          <p:cNvSpPr txBox="1"/>
          <p:nvPr/>
        </p:nvSpPr>
        <p:spPr>
          <a:xfrm>
            <a:off x="868680" y="4892040"/>
            <a:ext cx="4769968" cy="1051560"/>
          </a:xfrm>
          <a:prstGeom prst="rect">
            <a:avLst/>
          </a:prstGeom>
          <a:noFill/>
          <a:ln/>
        </p:spPr>
        <p:txBody>
          <a:bodyPr wrap="square" lIns="0" tIns="0" rIns="0" bIns="0" rtlCol="0" anchor="t"/>
          <a:lstStyle/>
          <a:p>
            <a:pPr indent="0" marL="0">
              <a:buNone/>
            </a:pPr>
            <a:r>
              <a:rPr lang="en-US" sz="1800" dirty="0">
                <a:solidFill>
                  <a:schemeClr val="tx1"/>
                </a:solidFill>
              </a:rPr>
              <a:t>CTP ne voit la panne qu'en envoyant : un tampon et un réessai évitent toute perte (T9).</a:t>
            </a:r>
            <a:endParaRPr lang="en-US" sz="1800" dirty="0"/>
          </a:p>
        </p:txBody>
      </p:sp>
      <p:sp>
        <p:nvSpPr>
          <p:cNvPr id="12" name="Shape 10"/>
          <p:cNvSpPr/>
          <p:nvPr/>
        </p:nvSpPr>
        <p:spPr>
          <a:xfrm>
            <a:off x="6233008" y="4069080"/>
            <a:ext cx="5410048" cy="2011680"/>
          </a:xfrm>
          <a:prstGeom prst="rect">
            <a:avLst/>
          </a:prstGeom>
          <a:solidFill>
            <a:schemeClr val="bg2"/>
          </a:solidFill>
          <a:ln w="12700">
            <a:solidFill>
              <a:schemeClr val="bg2"/>
            </a:solidFill>
            <a:prstDash val="solid"/>
          </a:ln>
        </p:spPr>
      </p:sp>
      <p:sp>
        <p:nvSpPr>
          <p:cNvPr id="13" name="Text 11"/>
          <p:cNvSpPr txBox="1"/>
          <p:nvPr/>
        </p:nvSpPr>
        <p:spPr>
          <a:xfrm>
            <a:off x="6553048" y="4343400"/>
            <a:ext cx="4769968" cy="457200"/>
          </a:xfrm>
          <a:prstGeom prst="rect">
            <a:avLst/>
          </a:prstGeom>
          <a:noFill/>
          <a:ln/>
        </p:spPr>
        <p:txBody>
          <a:bodyPr wrap="square" lIns="0" tIns="0" rIns="0" bIns="0" rtlCol="0" anchor="t"/>
          <a:lstStyle/>
          <a:p>
            <a:pPr indent="0" marL="0">
              <a:buNone/>
            </a:pPr>
            <a:r>
              <a:rPr lang="en-US" sz="2100" b="1" dirty="0">
                <a:solidFill>
                  <a:schemeClr val="tx1"/>
                </a:solidFill>
              </a:rPr>
              <a:t>Deux OS, deux comportements</a:t>
            </a:r>
            <a:endParaRPr lang="en-US" sz="2100" dirty="0"/>
          </a:p>
        </p:txBody>
      </p:sp>
      <p:sp>
        <p:nvSpPr>
          <p:cNvPr id="14" name="Text 12"/>
          <p:cNvSpPr txBox="1"/>
          <p:nvPr/>
        </p:nvSpPr>
        <p:spPr>
          <a:xfrm>
            <a:off x="6553048" y="4892040"/>
            <a:ext cx="4769968" cy="1051560"/>
          </a:xfrm>
          <a:prstGeom prst="rect">
            <a:avLst/>
          </a:prstGeom>
          <a:noFill/>
          <a:ln/>
        </p:spPr>
        <p:txBody>
          <a:bodyPr wrap="square" lIns="0" tIns="0" rIns="0" bIns="0" rtlCol="0" anchor="t"/>
          <a:lstStyle/>
          <a:p>
            <a:pPr indent="0" marL="0">
              <a:buNone/>
            </a:pPr>
            <a:r>
              <a:rPr lang="en-US" sz="1800" dirty="0">
                <a:solidFill>
                  <a:schemeClr val="tx1"/>
                </a:solidFill>
              </a:rPr>
              <a:t>RPL s'attache plus lentement mais se rétablit plus vite : seuls des tests identiques permettent de comparer.</a:t>
            </a:r>
            <a:endParaRPr lang="en-US" sz="18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B6B7B"/>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3"/>
          <p:cNvSpPr/>
          <p:nvPr>
            <p:ph idx="103" type="title" hasCustomPrompt="1"/>
          </p:nvPr>
        </p:nvSpPr>
        <p:spPr>
          <a:xfrm>
            <a:off x="548640" y="713232"/>
            <a:ext cx="11094415" cy="868680"/>
          </a:xfrm>
          <a:prstGeom prst="rect">
            <a:avLst/>
          </a:prstGeom>
          <a:noFill/>
          <a:ln/>
        </p:spPr>
        <p:txBody>
          <a:bodyPr wrap="square" lIns="0" tIns="0" rIns="0" bIns="0" rtlCol="0" anchor="t"/>
          <a:lstStyle/>
          <a:p>
            <a:pPr algn="l" indent="0" marL="0">
              <a:buNone/>
            </a:pPr>
            <a:r>
              <a:rPr lang="en-US" sz="3000" b="1" dirty="0">
                <a:solidFill>
                  <a:srgbClr val="17293B"/>
                </a:solidFill>
              </a:rPr>
              <a:t>Validé en simulation, le système doit maintenant passer au matériel</a:t>
            </a:r>
            <a:endParaRPr lang="en-US" sz="3000" dirty="0"/>
          </a:p>
        </p:txBody>
      </p:sp>
      <p:sp>
        <p:nvSpPr>
          <p:cNvPr id="3" name="Text 1"/>
          <p:cNvSpPr txBox="1"/>
          <p:nvPr/>
        </p:nvSpPr>
        <p:spPr>
          <a:xfrm>
            <a:off x="548640" y="1783080"/>
            <a:ext cx="5364328" cy="411480"/>
          </a:xfrm>
          <a:prstGeom prst="rect">
            <a:avLst/>
          </a:prstGeom>
          <a:noFill/>
          <a:ln/>
        </p:spPr>
        <p:txBody>
          <a:bodyPr wrap="square" lIns="0" tIns="0" rIns="0" bIns="0" rtlCol="0" anchor="t"/>
          <a:lstStyle/>
          <a:p>
            <a:pPr indent="0" marL="0">
              <a:buNone/>
            </a:pPr>
            <a:r>
              <a:rPr lang="en-US" sz="2000" b="1" dirty="0">
                <a:solidFill>
                  <a:schemeClr val="accent1"/>
                </a:solidFill>
              </a:rPr>
              <a:t>Ce qui est acquis</a:t>
            </a:r>
            <a:endParaRPr lang="en-US" sz="2000" dirty="0"/>
          </a:p>
        </p:txBody>
      </p:sp>
      <p:sp>
        <p:nvSpPr>
          <p:cNvPr id="4" name="Shape 2"/>
          <p:cNvSpPr/>
          <p:nvPr/>
        </p:nvSpPr>
        <p:spPr>
          <a:xfrm>
            <a:off x="548640" y="2377440"/>
            <a:ext cx="5364328" cy="1005840"/>
          </a:xfrm>
          <a:prstGeom prst="rect">
            <a:avLst/>
          </a:prstGeom>
          <a:solidFill>
            <a:schemeClr val="bg2"/>
          </a:solidFill>
          <a:ln w="12700">
            <a:solidFill>
              <a:schemeClr val="bg2"/>
            </a:solidFill>
            <a:prstDash val="solid"/>
          </a:ln>
        </p:spPr>
      </p:sp>
      <p:sp>
        <p:nvSpPr>
          <p:cNvPr id="5" name="Text 3"/>
          <p:cNvSpPr txBox="1"/>
          <p:nvPr/>
        </p:nvSpPr>
        <p:spPr>
          <a:xfrm>
            <a:off x="822960" y="2377440"/>
            <a:ext cx="1828800" cy="1005840"/>
          </a:xfrm>
          <a:prstGeom prst="rect">
            <a:avLst/>
          </a:prstGeom>
          <a:noFill/>
          <a:ln/>
        </p:spPr>
        <p:txBody>
          <a:bodyPr wrap="square" lIns="0" tIns="0" rIns="0" bIns="0" rtlCol="0" anchor="ctr"/>
          <a:lstStyle/>
          <a:p>
            <a:pPr indent="0" marL="0">
              <a:buNone/>
            </a:pPr>
            <a:r>
              <a:rPr lang="en-US" sz="3000" b="1" dirty="0">
                <a:solidFill>
                  <a:schemeClr val="accent1"/>
                </a:solidFill>
              </a:rPr>
              <a:t>15 / 15</a:t>
            </a:r>
            <a:endParaRPr lang="en-US" sz="3000" dirty="0"/>
          </a:p>
        </p:txBody>
      </p:sp>
      <p:sp>
        <p:nvSpPr>
          <p:cNvPr id="6" name="Text 4"/>
          <p:cNvSpPr txBox="1"/>
          <p:nvPr/>
        </p:nvSpPr>
        <p:spPr>
          <a:xfrm>
            <a:off x="2697480" y="2377440"/>
            <a:ext cx="2986888" cy="1005840"/>
          </a:xfrm>
          <a:prstGeom prst="rect">
            <a:avLst/>
          </a:prstGeom>
          <a:noFill/>
          <a:ln/>
        </p:spPr>
        <p:txBody>
          <a:bodyPr wrap="square" lIns="0" tIns="0" rIns="0" bIns="0" rtlCol="0" anchor="ctr"/>
          <a:lstStyle/>
          <a:p>
            <a:pPr indent="0" marL="0">
              <a:buNone/>
            </a:pPr>
            <a:r>
              <a:rPr lang="en-US" sz="1800" dirty="0">
                <a:solidFill>
                  <a:schemeClr val="tx1"/>
                </a:solidFill>
              </a:rPr>
              <a:t>exigences vérifiées en simulation TinyOS</a:t>
            </a:r>
            <a:endParaRPr lang="en-US" sz="1800" dirty="0"/>
          </a:p>
        </p:txBody>
      </p:sp>
      <p:sp>
        <p:nvSpPr>
          <p:cNvPr id="7" name="Shape 5"/>
          <p:cNvSpPr/>
          <p:nvPr/>
        </p:nvSpPr>
        <p:spPr>
          <a:xfrm>
            <a:off x="548640" y="3566160"/>
            <a:ext cx="5364328" cy="1005840"/>
          </a:xfrm>
          <a:prstGeom prst="rect">
            <a:avLst/>
          </a:prstGeom>
          <a:solidFill>
            <a:schemeClr val="bg2"/>
          </a:solidFill>
          <a:ln w="12700">
            <a:solidFill>
              <a:schemeClr val="bg2"/>
            </a:solidFill>
            <a:prstDash val="solid"/>
          </a:ln>
        </p:spPr>
      </p:sp>
      <p:sp>
        <p:nvSpPr>
          <p:cNvPr id="8" name="Text 6"/>
          <p:cNvSpPr txBox="1"/>
          <p:nvPr/>
        </p:nvSpPr>
        <p:spPr>
          <a:xfrm>
            <a:off x="822960" y="3566160"/>
            <a:ext cx="1828800" cy="1005840"/>
          </a:xfrm>
          <a:prstGeom prst="rect">
            <a:avLst/>
          </a:prstGeom>
          <a:noFill/>
          <a:ln/>
        </p:spPr>
        <p:txBody>
          <a:bodyPr wrap="square" lIns="0" tIns="0" rIns="0" bIns="0" rtlCol="0" anchor="ctr"/>
          <a:lstStyle/>
          <a:p>
            <a:pPr indent="0" marL="0">
              <a:buNone/>
            </a:pPr>
            <a:r>
              <a:rPr lang="en-US" sz="3000" b="1" dirty="0">
                <a:solidFill>
                  <a:schemeClr val="accent1"/>
                </a:solidFill>
              </a:rPr>
              <a:t>2 OS</a:t>
            </a:r>
            <a:endParaRPr lang="en-US" sz="3000" dirty="0"/>
          </a:p>
        </p:txBody>
      </p:sp>
      <p:sp>
        <p:nvSpPr>
          <p:cNvPr id="9" name="Text 7"/>
          <p:cNvSpPr txBox="1"/>
          <p:nvPr/>
        </p:nvSpPr>
        <p:spPr>
          <a:xfrm>
            <a:off x="2697480" y="3566160"/>
            <a:ext cx="2986888" cy="1005840"/>
          </a:xfrm>
          <a:prstGeom prst="rect">
            <a:avLst/>
          </a:prstGeom>
          <a:noFill/>
          <a:ln/>
        </p:spPr>
        <p:txBody>
          <a:bodyPr wrap="square" lIns="0" tIns="0" rIns="0" bIns="0" rtlCol="0" anchor="ctr"/>
          <a:lstStyle/>
          <a:p>
            <a:pPr indent="0" marL="0">
              <a:buNone/>
            </a:pPr>
            <a:r>
              <a:rPr lang="en-US" sz="1800" dirty="0">
                <a:solidFill>
                  <a:schemeClr val="tx1"/>
                </a:solidFill>
              </a:rPr>
              <a:t>mêmes tests au vert sous Contiki-NG</a:t>
            </a:r>
            <a:endParaRPr lang="en-US" sz="1800" dirty="0"/>
          </a:p>
        </p:txBody>
      </p:sp>
      <p:sp>
        <p:nvSpPr>
          <p:cNvPr id="10" name="Shape 8"/>
          <p:cNvSpPr/>
          <p:nvPr/>
        </p:nvSpPr>
        <p:spPr>
          <a:xfrm>
            <a:off x="548640" y="4754880"/>
            <a:ext cx="5364328" cy="1005840"/>
          </a:xfrm>
          <a:prstGeom prst="rect">
            <a:avLst/>
          </a:prstGeom>
          <a:solidFill>
            <a:schemeClr val="bg2"/>
          </a:solidFill>
          <a:ln w="12700">
            <a:solidFill>
              <a:schemeClr val="bg2"/>
            </a:solidFill>
            <a:prstDash val="solid"/>
          </a:ln>
        </p:spPr>
      </p:sp>
      <p:sp>
        <p:nvSpPr>
          <p:cNvPr id="11" name="Text 9"/>
          <p:cNvSpPr txBox="1"/>
          <p:nvPr/>
        </p:nvSpPr>
        <p:spPr>
          <a:xfrm>
            <a:off x="822960" y="4754880"/>
            <a:ext cx="1828800" cy="1005840"/>
          </a:xfrm>
          <a:prstGeom prst="rect">
            <a:avLst/>
          </a:prstGeom>
          <a:noFill/>
          <a:ln/>
        </p:spPr>
        <p:txBody>
          <a:bodyPr wrap="square" lIns="0" tIns="0" rIns="0" bIns="0" rtlCol="0" anchor="ctr"/>
          <a:lstStyle/>
          <a:p>
            <a:pPr indent="0" marL="0">
              <a:buNone/>
            </a:pPr>
            <a:r>
              <a:rPr lang="en-US" sz="3000" b="1" dirty="0">
                <a:solidFill>
                  <a:schemeClr val="accent1"/>
                </a:solidFill>
              </a:rPr>
              <a:t>3 ESP32</a:t>
            </a:r>
            <a:endParaRPr lang="en-US" sz="3000" dirty="0"/>
          </a:p>
        </p:txBody>
      </p:sp>
      <p:sp>
        <p:nvSpPr>
          <p:cNvPr id="12" name="Text 10"/>
          <p:cNvSpPr txBox="1"/>
          <p:nvPr/>
        </p:nvSpPr>
        <p:spPr>
          <a:xfrm>
            <a:off x="2697480" y="4754880"/>
            <a:ext cx="2986888" cy="1005840"/>
          </a:xfrm>
          <a:prstGeom prst="rect">
            <a:avLst/>
          </a:prstGeom>
          <a:noFill/>
          <a:ln/>
        </p:spPr>
        <p:txBody>
          <a:bodyPr wrap="square" lIns="0" tIns="0" rIns="0" bIns="0" rtlCol="0" anchor="ctr"/>
          <a:lstStyle/>
          <a:p>
            <a:pPr indent="0" marL="0">
              <a:buNone/>
            </a:pPr>
            <a:r>
              <a:rPr lang="en-US" sz="1800" dirty="0">
                <a:solidFill>
                  <a:schemeClr val="tx1"/>
                </a:solidFill>
              </a:rPr>
              <a:t>programmes qui compilent, broker et ACL configurés</a:t>
            </a:r>
            <a:endParaRPr lang="en-US" sz="1800" dirty="0"/>
          </a:p>
        </p:txBody>
      </p:sp>
      <p:sp>
        <p:nvSpPr>
          <p:cNvPr id="13" name="Text 11"/>
          <p:cNvSpPr txBox="1"/>
          <p:nvPr/>
        </p:nvSpPr>
        <p:spPr>
          <a:xfrm>
            <a:off x="6278728" y="1783080"/>
            <a:ext cx="5364328" cy="411480"/>
          </a:xfrm>
          <a:prstGeom prst="rect">
            <a:avLst/>
          </a:prstGeom>
          <a:noFill/>
          <a:ln/>
        </p:spPr>
        <p:txBody>
          <a:bodyPr wrap="square" lIns="0" tIns="0" rIns="0" bIns="0" rtlCol="0" anchor="t"/>
          <a:lstStyle/>
          <a:p>
            <a:pPr indent="0" marL="0">
              <a:buNone/>
            </a:pPr>
            <a:r>
              <a:rPr lang="en-US" sz="2000" b="1" dirty="0">
                <a:solidFill>
                  <a:schemeClr val="accent1"/>
                </a:solidFill>
              </a:rPr>
              <a:t>Perspectives</a:t>
            </a:r>
            <a:endParaRPr lang="en-US" sz="2000" dirty="0"/>
          </a:p>
        </p:txBody>
      </p:sp>
      <p:sp>
        <p:nvSpPr>
          <p:cNvPr id="14" name="Text 12"/>
          <p:cNvSpPr txBox="1"/>
          <p:nvPr/>
        </p:nvSpPr>
        <p:spPr>
          <a:xfrm>
            <a:off x="6278728" y="2377440"/>
            <a:ext cx="5364328" cy="34290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Tester les 3 ESP32 et documenter les résultats</a:t>
            </a:r>
            <a:endParaRPr lang="en-US" sz="1800" dirty="0"/>
          </a:p>
          <a:p>
            <a:pPr marL="342900" indent="-342900">
              <a:spcAft>
                <a:spcPts val="1200"/>
              </a:spcAft>
              <a:buSzPct val="100000"/>
              <a:buChar char="•"/>
            </a:pPr>
            <a:r>
              <a:rPr lang="en-US" sz="1800" dirty="0">
                <a:solidFill>
                  <a:schemeClr val="tx1"/>
                </a:solidFill>
              </a:rPr>
              <a:t>Activer TLS (port 8883) sur le broker</a:t>
            </a:r>
            <a:endParaRPr lang="en-US" sz="1800" dirty="0"/>
          </a:p>
          <a:p>
            <a:pPr marL="342900" indent="-342900">
              <a:spcAft>
                <a:spcPts val="1200"/>
              </a:spcAft>
              <a:buSzPct val="100000"/>
              <a:buChar char="•"/>
            </a:pPr>
            <a:r>
              <a:rPr lang="en-US" sz="1800" dirty="0">
                <a:solidFill>
                  <a:schemeClr val="tx1"/>
                </a:solidFill>
              </a:rPr>
              <a:t>Ajouter Node-RED, InfluxDB et Grafana côté serveur</a:t>
            </a:r>
            <a:endParaRPr lang="en-US" sz="1800" dirty="0"/>
          </a:p>
          <a:p>
            <a:pPr marL="342900" indent="-342900">
              <a:spcAft>
                <a:spcPts val="1200"/>
              </a:spcAft>
              <a:buSzPct val="100000"/>
              <a:buChar char="•"/>
            </a:pPr>
            <a:r>
              <a:rPr lang="en-US" sz="1800" dirty="0">
                <a:solidFill>
                  <a:schemeClr val="tx1"/>
                </a:solidFill>
              </a:rPr>
              <a:t>Modèle radio avec les murs du plan (MRM ou DGRM)</a:t>
            </a:r>
            <a:endParaRPr lang="en-US" sz="1800" dirty="0"/>
          </a:p>
          <a:p>
            <a:pPr marL="342900" indent="-342900">
              <a:spcAft>
                <a:spcPts val="1200"/>
              </a:spcAft>
              <a:buSzPct val="100000"/>
              <a:buChar char="•"/>
            </a:pPr>
            <a:r>
              <a:rPr lang="en-US" sz="1800" dirty="0">
                <a:solidFill>
                  <a:schemeClr val="tx1"/>
                </a:solidFill>
              </a:rPr>
              <a:t>Heure par NTP et protection contre le rejeu</a:t>
            </a:r>
            <a:endParaRPr lang="en-US" sz="18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B6B7B"/>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Ligne de production équipée de boîtiers capteurs sans fil">    </p:cNvPr>
          <p:cNvPicPr>
            <a:picLocks noChangeAspect="1"/>
          </p:cNvPicPr>
          <p:nvPr/>
        </p:nvPicPr>
        <p:blipFill>
          <a:blip r:embed="rId1"/>
          <a:stretch>
            <a:fillRect/>
          </a:stretch>
        </p:blipFill>
        <p:spPr>
          <a:xfrm>
            <a:off x="0" y="0"/>
            <a:ext cx="5120850" cy="6858000"/>
          </a:xfrm>
          <a:prstGeom prst="rect">
            <a:avLst/>
          </a:prstGeom>
        </p:spPr>
      </p:pic>
      <p:sp>
        <p:nvSpPr>
          <p:cNvPr id="3" name="Text 0"/>
          <p:cNvSpPr txBox="1"/>
          <p:nvPr/>
        </p:nvSpPr>
        <p:spPr>
          <a:xfrm>
            <a:off x="5760930" y="1463040"/>
            <a:ext cx="5882125" cy="914400"/>
          </a:xfrm>
          <a:prstGeom prst="rect">
            <a:avLst/>
          </a:prstGeom>
          <a:noFill/>
          <a:ln/>
        </p:spPr>
        <p:txBody>
          <a:bodyPr wrap="square" lIns="0" tIns="0" rIns="0" bIns="0" rtlCol="0" anchor="t"/>
          <a:lstStyle/>
          <a:p>
            <a:pPr indent="0" marL="0">
              <a:buNone/>
            </a:pPr>
            <a:r>
              <a:rPr lang="en-US" sz="4000" b="1" dirty="0">
                <a:solidFill>
                  <a:schemeClr val="tx1"/>
                </a:solidFill>
              </a:rPr>
              <a:t>Merci de votre attention</a:t>
            </a:r>
            <a:endParaRPr lang="en-US" sz="4000" dirty="0"/>
          </a:p>
        </p:txBody>
      </p:sp>
      <p:sp>
        <p:nvSpPr>
          <p:cNvPr id="4" name="Text 1"/>
          <p:cNvSpPr txBox="1"/>
          <p:nvPr/>
        </p:nvSpPr>
        <p:spPr>
          <a:xfrm>
            <a:off x="5760930" y="2423160"/>
            <a:ext cx="5882125" cy="548640"/>
          </a:xfrm>
          <a:prstGeom prst="rect">
            <a:avLst/>
          </a:prstGeom>
          <a:noFill/>
          <a:ln/>
        </p:spPr>
        <p:txBody>
          <a:bodyPr wrap="square" lIns="0" tIns="0" rIns="0" bIns="0" rtlCol="0" anchor="t"/>
          <a:lstStyle/>
          <a:p>
            <a:pPr indent="0" marL="0">
              <a:buNone/>
            </a:pPr>
            <a:r>
              <a:rPr lang="en-US" sz="2400" dirty="0">
                <a:solidFill>
                  <a:schemeClr val="accent1"/>
                </a:solidFill>
              </a:rPr>
              <a:t>Vos questions</a:t>
            </a:r>
            <a:endParaRPr lang="en-US" sz="2400" dirty="0"/>
          </a:p>
        </p:txBody>
      </p:sp>
      <p:sp>
        <p:nvSpPr>
          <p:cNvPr id="5" name="Text 2"/>
          <p:cNvSpPr txBox="1"/>
          <p:nvPr/>
        </p:nvSpPr>
        <p:spPr>
          <a:xfrm>
            <a:off x="5760930" y="3291840"/>
            <a:ext cx="5882125" cy="1005840"/>
          </a:xfrm>
          <a:prstGeom prst="rect">
            <a:avLst/>
          </a:prstGeom>
          <a:noFill/>
          <a:ln/>
        </p:spPr>
        <p:txBody>
          <a:bodyPr wrap="square" lIns="0" tIns="0" rIns="0" bIns="0" rtlCol="0" anchor="t"/>
          <a:lstStyle/>
          <a:p>
            <a:pPr indent="0" marL="0">
              <a:buNone/>
            </a:pPr>
            <a:r>
              <a:rPr lang="en-US" sz="1600" dirty="0">
                <a:solidFill>
                  <a:schemeClr val="accent6"/>
                </a:solidFill>
              </a:rPr>
              <a:t>Groupe 7</a:t>
            </a:r>
            <a:endParaRPr lang="en-US" sz="1600" dirty="0"/>
          </a:p>
          <a:p>
            <a:pPr indent="0" marL="0">
              <a:buNone/>
            </a:pPr>
            <a:r>
              <a:rPr lang="en-US" sz="1600" dirty="0">
                <a:solidFill>
                  <a:schemeClr val="accent6"/>
                </a:solidFill>
              </a:rPr>
              <a:t>KIDJE Fortunatus · MOUZOUN Prudence</a:t>
            </a:r>
            <a:endParaRPr lang="en-US" sz="1600" dirty="0"/>
          </a:p>
          <a:p>
            <a:pPr indent="0" marL="0">
              <a:buNone/>
            </a:pPr>
            <a:r>
              <a:rPr lang="en-US" sz="1600" dirty="0">
                <a:solidFill>
                  <a:schemeClr val="accent6"/>
                </a:solidFill>
              </a:rPr>
              <a:t>VOGNITO Laurent · OGOUNCHI Nelson</a:t>
            </a:r>
            <a:endParaRPr lang="en-US" sz="1600" dirty="0"/>
          </a:p>
        </p:txBody>
      </p:sp>
      <p:sp>
        <p:nvSpPr>
          <p:cNvPr id="6" name="Text 3"/>
          <p:cNvSpPr txBox="1"/>
          <p:nvPr/>
        </p:nvSpPr>
        <p:spPr>
          <a:xfrm>
            <a:off x="5760930" y="5120640"/>
            <a:ext cx="5882125" cy="1097280"/>
          </a:xfrm>
          <a:prstGeom prst="rect">
            <a:avLst/>
          </a:prstGeom>
          <a:noFill/>
          <a:ln/>
        </p:spPr>
        <p:txBody>
          <a:bodyPr wrap="square" lIns="0" tIns="0" rIns="0" bIns="0" rtlCol="0" anchor="t"/>
          <a:lstStyle/>
          <a:p>
            <a:pPr indent="0" marL="0">
              <a:buNone/>
            </a:pPr>
            <a:r>
              <a:rPr lang="en-US" sz="1200" dirty="0">
                <a:solidFill>
                  <a:schemeClr val="accent6"/>
                </a:solidFill>
              </a:rPr>
              <a:t>Crédits images : illustrations générées par IA (Google Flow) ; photos Wikimedia Commons : ESP32, Ubahnverleih (CC0) · DS18B20, Leonardo Postay (CC BY-SA 4.0) · thermocouple K, Harke (domaine public) · Raspberry Pi 4, Laserlicht (CC BY-SA 4.0).</a:t>
            </a:r>
            <a:endParaRPr lang="en-US" sz="1200" dirty="0"/>
          </a:p>
        </p:txBody>
      </p:sp>
    </p:spTree>
  </p:cSld>
  <p:clrMapOvr>
    <a:masterClrMapping/>
  </p:clrMapOvr>
</p:sld>
</file>

<file path=ppt/theme/theme1.xml><?xml version="1.0" encoding="utf-8"?>
<a:theme xmlns:a="http://schemas.openxmlformats.org/drawingml/2006/main" name="Groupe 7">
  <a:themeElements>
    <a:clrScheme name="Groupe 7">
      <a:dk1>
        <a:srgbClr val="17293B"/>
      </a:dk1>
      <a:lt1>
        <a:srgbClr val="FFFFFF"/>
      </a:lt1>
      <a:dk2>
        <a:srgbClr val="17293B"/>
      </a:dk2>
      <a:lt2>
        <a:srgbClr val="F2F5F7"/>
      </a:lt2>
      <a:accent1>
        <a:srgbClr val="0E746D"/>
      </a:accent1>
      <a:accent2>
        <a:srgbClr val="C63F29"/>
      </a:accent2>
      <a:accent3>
        <a:srgbClr val="1F66AE"/>
      </a:accent3>
      <a:accent4>
        <a:srgbClr val="7B3FAF"/>
      </a:accent4>
      <a:accent5>
        <a:srgbClr val="DCEEEC"/>
      </a:accent5>
      <a:accent6>
        <a:srgbClr val="5B6B7B"/>
      </a:accent6>
      <a:hlink>
        <a:srgbClr val="0E746D"/>
      </a:hlink>
      <a:folHlink>
        <a:srgbClr val="0E746D"/>
      </a:folHlink>
    </a:clrScheme>
    <a:fontScheme name="Groupe 7">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IFRI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Surveillance d'une ligne de production — Groupe 7</dc:title>
  <dc:subject>PptxGenJS Presentation</dc:subject>
  <dc:creator>Groupe 7</dc:creator>
  <cp:lastModifiedBy>Groupe 7</cp:lastModifiedBy>
  <cp:revision>1</cp:revision>
  <dcterms:created xsi:type="dcterms:W3CDTF">2026-10-28T10:44:51Z</dcterms:created>
  <dcterms:modified xsi:type="dcterms:W3CDTF">2026-10-28T10:44:51Z</dcterms:modified>
</cp:coreProperties>
</file>